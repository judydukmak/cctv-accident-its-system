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737de44-28c7-e2b3-4913-844e7462288b}">
          <p14:sldIdLst>
            <p14:sldId id="256"/>
          </p14:sldIdLst>
        </p14:section>
        <p14:section name="Previous Work" id="{33738e0f-49ad-3894-efff-261e1bd1d127}">
          <p14:sldIdLst>
            <p14:sldId id="257"/>
          </p14:sldIdLst>
        </p14:section>
        <p14:section name="1. Framing Pack" id="{512e5ea1-f63e-ed83-d272-8b37b229fbe1}">
          <p14:sldIdLst>
            <p14:sldId id="258"/>
            <p14:sldId id="259"/>
            <p14:sldId id="260"/>
          </p14:sldIdLst>
        </p14:section>
        <p14:section name="2. Literature Pack" id="{30eef090-836d-e037-fe88-2264dc6d1bfe}">
          <p14:sldIdLst>
            <p14:sldId id="261"/>
            <p14:sldId id="262"/>
            <p14:sldId id="263"/>
          </p14:sldIdLst>
        </p14:section>
        <p14:section name="3. Dataset" id="{dbd648e9-d6ba-1558-44fa-cef366d2dee2}">
          <p14:sldIdLst>
            <p14:sldId id="264"/>
            <p14:sldId id="265"/>
          </p14:sldIdLst>
        </p14:section>
        <p14:section name="Plan" id="{a5f058c8-7ccc-f78b-b963-527a9bb91ed7}">
          <p14:sldIdLst>
            <p14:sldId id="266"/>
          </p14:sldIdLst>
        </p14:section>
        <p14:section name="Closing" id="{6d24ec96-1003-6420-7ecb-ee0f8af92fe0}">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41"/>
                </a:solidFill>
                <a:latin typeface="+mn-lt"/>
              </a:defRPr>
            </a:pPr>
            <a:r>
              <a:rPr sz="1200" b="0" i="0" u="none" strike="noStrike">
                <a:solidFill>
                  <a:srgbClr val="1B2A41"/>
                </a:solidFill>
                <a:latin typeface="+mn-lt"/>
              </a:rPr>
              <a:t>Average waiting time (s) — lower is better</a:t>
            </a:r>
          </a:p>
        </c:rich>
      </c:tx>
      <c:layout/>
      <c:overlay val="0"/>
    </c:title>
    <c:autoTitleDeleted val="0"/>
    <c:plotArea>
      <c:layout/>
      <c:barChart>
        <c:barDir val="col"/>
        <c:grouping val="clustered"/>
        <c:varyColors val="0"/>
        <c:ser>
          <c:idx val="0"/>
          <c:order val="0"/>
          <c:tx>
            <c:strRef>
              <c:f>Sheet1!$B$1</c:f>
              <c:strCache>
                <c:ptCount val="1"/>
                <c:pt idx="0">
                  <c:v>Avg waiting time (s)</c:v>
                </c:pt>
              </c:strCache>
            </c:strRef>
          </c:tx>
          <c:spPr>
            <a:solidFill>
              <a:srgbClr val="8FA3B8"/>
            </a:solidFill>
            <a:effectLst/>
          </c:spPr>
          <c:invertIfNegative val="0"/>
          <c:dLbls>
            <c:numFmt formatCode="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8FA3B8"/>
              </a:solidFill>
              <a:effectLst/>
            </c:spPr>
          </c:dPt>
          <c:dPt>
            <c:idx val="1"/>
            <c:invertIfNegative val="0"/>
            <c:bubble3D val="0"/>
            <c:spPr>
              <a:solidFill>
                <a:srgbClr val="2A9D8F"/>
              </a:solidFill>
              <a:effectLst/>
            </c:spPr>
          </c:dPt>
          <c:cat>
            <c:multiLvlStrRef>
              <c:f>Sheet1!$A$2:$A$3</c:f>
              <c:multiLvlStrCache>
                <c:ptCount val="2"/>
                <c:lvl>
                  <c:pt idx="0">
                    <c:v>Baseline</c:v>
                  </c:pt>
                  <c:pt idx="1">
                    <c:v>Enhanced</c:v>
                  </c:pt>
                </c:lvl>
              </c:multiLvlStrCache>
            </c:multiLvlStrRef>
          </c:cat>
          <c:val>
            <c:numRef>
              <c:f>Sheet1!$B$2:$B$3</c:f>
              <c:numCache>
                <c:formatCode>General</c:formatCode>
                <c:ptCount val="2"/>
                <c:pt idx="0">
                  <c:v>239.54</c:v>
                </c:pt>
                <c:pt idx="1">
                  <c:v>220.71</c:v>
                </c:pt>
              </c:numCache>
            </c:numRef>
          </c:val>
        </c:ser>
        <c:dLbls>
          <c:numFmt formatCode="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B70"/>
                </a:solidFill>
                <a:latin typeface="+mn-lt"/>
              </a:defRPr>
            </a:pPr>
            <a:endParaRPr lang="en-US"/>
          </a:p>
        </c:txPr>
        <c:crossAx val="2094734552"/>
        <c:crosses val="autoZero"/>
        <c:auto val="1"/>
        <c:lblAlgn val="ctr"/>
        <c:noMultiLvlLbl val="1"/>
      </c:catAx>
      <c:valAx>
        <c:axId val="2094734552"/>
        <c:scaling>
          <c:orientation val="minMax"/>
          <c:max val="280"/>
          <c:min val="0"/>
        </c:scaling>
        <c:delete val="0"/>
        <c:axPos val="l"/>
        <c:majorGridlines>
          <c:spPr>
            <a:ln w="6350" cap="flat">
              <a:solidFill>
                <a:srgbClr val="DDE4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B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41"/>
                </a:solidFill>
                <a:latin typeface="+mn-lt"/>
              </a:defRPr>
            </a:pPr>
            <a:r>
              <a:rPr sz="1200" b="0" i="0" u="none" strike="noStrike">
                <a:solidFill>
                  <a:srgbClr val="1B2A41"/>
                </a:solidFill>
                <a:latin typeface="+mn-lt"/>
              </a:rPr>
              <a:t>Combined score on real CCTV (ACCS)</a:t>
            </a:r>
          </a:p>
        </c:rich>
      </c:tx>
      <c:layout/>
      <c:overlay val="0"/>
    </c:title>
    <c:autoTitleDeleted val="0"/>
    <c:plotArea>
      <c:layout/>
      <c:barChart>
        <c:barDir val="bar"/>
        <c:grouping val="clustered"/>
        <c:varyColors val="0"/>
        <c:ser>
          <c:idx val="0"/>
          <c:order val="0"/>
          <c:tx>
            <c:strRef>
              <c:f>Sheet1!$B$1</c:f>
              <c:strCache>
                <c:ptCount val="1"/>
                <c:pt idx="0">
                  <c:v>ACCS</c:v>
                </c:pt>
              </c:strCache>
            </c:strRef>
          </c:tx>
          <c:spPr>
            <a:solidFill>
              <a:srgbClr val="8FA3B8"/>
            </a:solidFill>
            <a:effectLst/>
          </c:spPr>
          <c:invertIfNegative val="0"/>
          <c:dLbls>
            <c:numFmt formatCode="0.00" sourceLinked="0"/>
            <c:txPr>
              <a:bodyPr/>
              <a:lstStyle/>
              <a:p>
                <a:pPr>
                  <a:defRPr b="0" i="0" strike="noStrike" sz="11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8FA3B8"/>
              </a:solidFill>
              <a:effectLst/>
            </c:spPr>
          </c:dPt>
          <c:dPt>
            <c:idx val="1"/>
            <c:invertIfNegative val="0"/>
            <c:bubble3D val="0"/>
            <c:spPr>
              <a:solidFill>
                <a:srgbClr val="8FA3B8"/>
              </a:solidFill>
              <a:effectLst/>
            </c:spPr>
          </c:dPt>
          <c:dPt>
            <c:idx val="2"/>
            <c:invertIfNegative val="0"/>
            <c:bubble3D val="0"/>
            <c:spPr>
              <a:solidFill>
                <a:srgbClr val="F2A900"/>
              </a:solidFill>
              <a:effectLst/>
            </c:spPr>
          </c:dPt>
          <c:dPt>
            <c:idx val="3"/>
            <c:invertIfNegative val="0"/>
            <c:bubble3D val="0"/>
            <c:spPr>
              <a:solidFill>
                <a:srgbClr val="E76F51"/>
              </a:solidFill>
              <a:effectLst/>
            </c:spPr>
          </c:dPt>
          <c:cat>
            <c:multiLvlStrRef>
              <c:f>Sheet1!$A$2:$A$5</c:f>
              <c:multiLvlStrCache>
                <c:ptCount val="4"/>
                <c:lvl>
                  <c:pt idx="0">
                    <c:v>Multi-stage VLM (upper ref.)</c:v>
                  </c:pt>
                  <c:pt idx="1">
                    <c:v>Coarse-to-fine VLM</c:v>
                  </c:pt>
                  <c:pt idx="2">
                    <c:v>ACCIDENT baseline (compared)</c:v>
                  </c:pt>
                  <c:pt idx="3">
                    <c:v>Our minimum target</c:v>
                  </c:pt>
                </c:lvl>
              </c:multiLvlStrCache>
            </c:multiLvlStrRef>
          </c:cat>
          <c:val>
            <c:numRef>
              <c:f>Sheet1!$B$2:$B$5</c:f>
              <c:numCache>
                <c:formatCode>General</c:formatCode>
                <c:ptCount val="4"/>
                <c:pt idx="0">
                  <c:v>0.567</c:v>
                </c:pt>
                <c:pt idx="1">
                  <c:v>0.504</c:v>
                </c:pt>
                <c:pt idx="2">
                  <c:v>0.412</c:v>
                </c:pt>
                <c:pt idx="3">
                  <c:v>0.412</c:v>
                </c:pt>
              </c:numCache>
            </c:numRef>
          </c:val>
        </c:ser>
        <c:dLbls>
          <c:numFmt formatCode="0.00" sourceLinked="0"/>
          <c:txPr>
            <a:bodyPr/>
            <a:lstStyle/>
            <a:p>
              <a:pPr>
                <a:defRPr b="0" i="0" strike="noStrike" sz="1100" u="none">
                  <a:solidFill>
                    <a:srgbClr val="1B2A4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B70"/>
                </a:solidFill>
                <a:latin typeface="+mn-lt"/>
              </a:defRPr>
            </a:pPr>
            <a:endParaRPr lang="en-US"/>
          </a:p>
        </c:txPr>
        <c:crossAx val="2094734552"/>
        <c:crosses val="autoZero"/>
        <c:auto val="1"/>
        <c:lblAlgn val="ctr"/>
        <c:noMultiLvlLbl val="1"/>
      </c:catAx>
      <c:valAx>
        <c:axId val="2094734552"/>
        <c:scaling>
          <c:orientation val="minMax"/>
          <c:max val="0.7"/>
          <c:min val="0"/>
        </c:scaling>
        <c:delete val="0"/>
        <c:axPos val="b"/>
        <c:majorGridlines>
          <c:spPr>
            <a:ln w="6350" cap="flat">
              <a:solidFill>
                <a:srgbClr val="DDE4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A5B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41"/>
                </a:solidFill>
                <a:latin typeface="+mn-lt"/>
              </a:defRPr>
            </a:pPr>
            <a:r>
              <a:rPr sz="1200" b="0" i="0" u="none" strike="noStrike">
                <a:solidFill>
                  <a:srgbClr val="1B2A41"/>
                </a:solidFill>
                <a:latin typeface="+mn-lt"/>
              </a:rPr>
              <a:t>Real CCTV clips by collision type (n = 2,027)</a:t>
            </a:r>
          </a:p>
        </c:rich>
      </c:tx>
      <c:layout/>
      <c:overlay val="0"/>
    </c:title>
    <c:autoTitleDeleted val="0"/>
    <c:plotArea>
      <c:layout/>
      <c:barChart>
        <c:barDir val="bar"/>
        <c:grouping val="clustered"/>
        <c:varyColors val="0"/>
        <c:ser>
          <c:idx val="0"/>
          <c:order val="0"/>
          <c:tx>
            <c:strRef>
              <c:f>Sheet1!$B$1</c:f>
              <c:strCache>
                <c:ptCount val="1"/>
                <c:pt idx="0">
                  <c:v>Clips</c:v>
                </c:pt>
              </c:strCache>
            </c:strRef>
          </c:tx>
          <c:spPr>
            <a:solidFill>
              <a:srgbClr val="1B2A41"/>
            </a:solidFill>
            <a:effectLst/>
          </c:spPr>
          <c:invertIfNegative val="0"/>
          <c:dLbls>
            <c:numFmt formatCode="#,##0" sourceLinked="0"/>
            <c:txPr>
              <a:bodyPr/>
              <a:lstStyle/>
              <a:p>
                <a:pPr>
                  <a:defRPr b="0" i="0" strike="noStrike" sz="11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1B2A41"/>
              </a:solidFill>
              <a:effectLst/>
            </c:spPr>
          </c:dPt>
          <c:dPt>
            <c:idx val="1"/>
            <c:invertIfNegative val="0"/>
            <c:bubble3D val="0"/>
            <c:spPr>
              <a:solidFill>
                <a:srgbClr val="1B2A41"/>
              </a:solidFill>
              <a:effectLst/>
            </c:spPr>
          </c:dPt>
          <c:dPt>
            <c:idx val="2"/>
            <c:invertIfNegative val="0"/>
            <c:bubble3D val="0"/>
            <c:spPr>
              <a:solidFill>
                <a:srgbClr val="1B2A41"/>
              </a:solidFill>
              <a:effectLst/>
            </c:spPr>
          </c:dPt>
          <c:dPt>
            <c:idx val="3"/>
            <c:invertIfNegative val="0"/>
            <c:bubble3D val="0"/>
            <c:spPr>
              <a:solidFill>
                <a:srgbClr val="1B2A41"/>
              </a:solidFill>
              <a:effectLst/>
            </c:spPr>
          </c:dPt>
          <c:dPt>
            <c:idx val="4"/>
            <c:invertIfNegative val="0"/>
            <c:bubble3D val="0"/>
            <c:spPr>
              <a:solidFill>
                <a:srgbClr val="E76F51"/>
              </a:solidFill>
              <a:effectLst/>
            </c:spPr>
          </c:dPt>
          <c:cat>
            <c:multiLvlStrRef>
              <c:f>Sheet1!$A$2:$A$6</c:f>
              <c:multiLvlStrCache>
                <c:ptCount val="5"/>
                <c:lvl>
                  <c:pt idx="0">
                    <c:v>Single-vehicle</c:v>
                  </c:pt>
                  <c:pt idx="1">
                    <c:v>T-bone</c:v>
                  </c:pt>
                  <c:pt idx="2">
                    <c:v>Rear-end</c:v>
                  </c:pt>
                  <c:pt idx="3">
                    <c:v>Sideswipe</c:v>
                  </c:pt>
                  <c:pt idx="4">
                    <c:v>Head-on</c:v>
                  </c:pt>
                </c:lvl>
              </c:multiLvlStrCache>
            </c:multiLvlStrRef>
          </c:cat>
          <c:val>
            <c:numRef>
              <c:f>Sheet1!$B$2:$B$6</c:f>
              <c:numCache>
                <c:formatCode>General</c:formatCode>
                <c:ptCount val="5"/>
                <c:pt idx="0">
                  <c:v>680</c:v>
                </c:pt>
                <c:pt idx="1">
                  <c:v>657</c:v>
                </c:pt>
                <c:pt idx="2">
                  <c:v>328</c:v>
                </c:pt>
                <c:pt idx="3">
                  <c:v>245</c:v>
                </c:pt>
                <c:pt idx="4">
                  <c:v>117</c:v>
                </c:pt>
              </c:numCache>
            </c:numRef>
          </c:val>
        </c:ser>
        <c:dLbls>
          <c:numFmt formatCode="#,##0" sourceLinked="0"/>
          <c:txPr>
            <a:bodyPr/>
            <a:lstStyle/>
            <a:p>
              <a:pPr>
                <a:defRPr b="0" i="0" strike="noStrike" sz="1100" u="none">
                  <a:solidFill>
                    <a:srgbClr val="1B2A41"/>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4A5B70"/>
                </a:solidFill>
                <a:latin typeface="+mn-lt"/>
              </a:defRPr>
            </a:pPr>
            <a:endParaRPr lang="en-US"/>
          </a:p>
        </c:txPr>
        <c:crossAx val="2094734552"/>
        <c:crosses val="autoZero"/>
        <c:auto val="1"/>
        <c:lblAlgn val="ctr"/>
        <c:noMultiLvlLbl val="1"/>
      </c:catAx>
      <c:valAx>
        <c:axId val="2094734552"/>
        <c:scaling>
          <c:orientation val="minMax"/>
          <c:max val="800"/>
          <c:min val="0"/>
        </c:scaling>
        <c:delete val="0"/>
        <c:axPos val="b"/>
        <c:majorGridlines>
          <c:spPr>
            <a:ln w="6350" cap="flat">
              <a:solidFill>
                <a:srgbClr val="DDE4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A5B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GP1 results: waiting 239.54 -&gt; 220.71 s, throughput 2780.76 -&gt; 2790.43, unfinished 142 -&gt; 134, queue length 7.86 unchanged. This semester is a new project in the same ITS area: accident detection from CCTV, without 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comparison model: the best ACCIDENT organizer baseline (ACCS 0.412, 'best from all'). Repo heuristic baselines (naive, optical flow, bbox dynamics, ensemble) are the temporal reference for the trained classifier. The zero-shot large VLM run on our subset is the accuracy and cost reference for the cascade. Thresholds are proposed and should be confirmed with the supervisors.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Work draft. Accident understanding from CCTV is now benchmarked by ACCIDENT (Picek et al., 2026), which defines temporal, spatial and collision-type tasks on 2,027 real clips and 2,211 CARLA synthetic clips; its best modular baseline reaches ACCS 0.412, far below human agreement. Earlier surveillance benchmarks such as TAD (Xu et al., IEEE Access) and TADS support supervised classification and detection, while DoTA offers scale but from a dashcam viewpoint. The strongest ACCIDENT challenge entries are training-free: a multi-stage pipeline with Qwen3-VL 32B and 235B (Tatematsu and Takahashi, 2026) reaches ACCS 0.567, and a coarse-to-fine VLM with YOLO11x and BoT-SORT tracking (Saha et al., 2026) reaches 0.504. A modular zero-shot pipeline using frame differences, optical flow and CLIP (Thakur and Talele, 2026) is far cheaper but scores 0.252. On the decision-support side, Virtual Traffic Police (Wei et al., 2026) shows that an LLM with retrieval and a verifier can adapt traffic control during incidents, but it takes the incident as given and does not detect it from video. Gap: none of these works trains a cheap screen on synthetic data and measures its transfer to real CCTV, quantifies the VLM compute saved by a cascade, or evaluates the faithfulness of operator reports built on the detections.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457200" y="4754880"/>
            <a:ext cx="3657600" cy="274320"/>
          </a:xfrm>
          <a:prstGeom prst="rect">
            <a:avLst/>
          </a:prstGeom>
          <a:noFill/>
          <a:ln/>
        </p:spPr>
        <p:txBody>
          <a:bodyPr wrap="square" lIns="0" tIns="0" rIns="0" bIns="0" rtlCol="0" anchor="ctr"/>
          <a:lstStyle/>
          <a:p>
            <a:pPr indent="0" marL="0">
              <a:buNone/>
            </a:pPr>
            <a:r>
              <a:rPr lang="en-US" sz="900" dirty="0">
                <a:solidFill>
                  <a:srgbClr val="8FA3B8"/>
                </a:solidFill>
              </a:rPr>
              <a:t>27 October 2026</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3B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rgbClr val="4A5B70"/>
                </a:solidFill>
              </a:rPr>
              <a:t>ITS · Seminar 1 · 27 October 2026</a:t>
            </a:r>
            <a:endParaRPr lang="en-US" sz="900" dirty="0"/>
          </a:p>
        </p:txBody>
      </p:sp>
      <p:sp>
        <p:nvSpPr>
          <p:cNvPr id="3" name="Text 1"/>
          <p:cNvSpPr/>
          <p:nvPr>
            <p:ph idx="101" type="title" hasCustomPrompt="1"/>
          </p:nvPr>
        </p:nvSpPr>
        <p:spPr>
          <a:xfrm>
            <a:off x="1097280" y="292608"/>
            <a:ext cx="7589520" cy="54864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3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548640"/>
            <a:ext cx="411480" cy="411480"/>
          </a:xfrm>
          <a:prstGeom prst="rect">
            <a:avLst/>
          </a:prstGeom>
        </p:spPr>
      </p:pic>
      <p:sp>
        <p:nvSpPr>
          <p:cNvPr id="3" name="Text 0"/>
          <p:cNvSpPr txBox="1"/>
          <p:nvPr/>
        </p:nvSpPr>
        <p:spPr>
          <a:xfrm>
            <a:off x="1097280" y="566928"/>
            <a:ext cx="4572000" cy="365760"/>
          </a:xfrm>
          <a:prstGeom prst="rect">
            <a:avLst/>
          </a:prstGeom>
          <a:noFill/>
          <a:ln/>
        </p:spPr>
        <p:txBody>
          <a:bodyPr wrap="square" lIns="0" tIns="0" rIns="0" bIns="0" rtlCol="0" anchor="ctr"/>
          <a:lstStyle/>
          <a:p>
            <a:pPr indent="0" marL="0">
              <a:buNone/>
            </a:pPr>
            <a:r>
              <a:rPr lang="en-US" sz="1100" b="1" spc="200" kern="0" dirty="0">
                <a:solidFill>
                  <a:srgbClr val="8FA3B8"/>
                </a:solidFill>
              </a:rPr>
              <a:t>GRADUATION PROJECT 2  ·  SEMINAR 1</a:t>
            </a:r>
            <a:endParaRPr lang="en-US" sz="1100" dirty="0"/>
          </a:p>
        </p:txBody>
      </p:sp>
      <p:sp>
        <p:nvSpPr>
          <p:cNvPr id="4" name="Text 1"/>
          <p:cNvSpPr txBox="1"/>
          <p:nvPr/>
        </p:nvSpPr>
        <p:spPr>
          <a:xfrm>
            <a:off x="548640" y="1143000"/>
            <a:ext cx="4572000" cy="914400"/>
          </a:xfrm>
          <a:prstGeom prst="rect">
            <a:avLst/>
          </a:prstGeom>
          <a:noFill/>
          <a:ln/>
        </p:spPr>
        <p:txBody>
          <a:bodyPr wrap="square" lIns="0" tIns="0" rIns="0" bIns="0" rtlCol="0" anchor="ctr"/>
          <a:lstStyle/>
          <a:p>
            <a:pPr indent="0" marL="0">
              <a:buNone/>
            </a:pPr>
            <a:r>
              <a:rPr lang="en-US" sz="6600" b="1" dirty="0">
                <a:solidFill>
                  <a:srgbClr val="F2A900"/>
                </a:solidFill>
              </a:rPr>
              <a:t>ITS</a:t>
            </a:r>
            <a:endParaRPr lang="en-US" sz="6600" dirty="0"/>
          </a:p>
        </p:txBody>
      </p:sp>
      <p:sp>
        <p:nvSpPr>
          <p:cNvPr id="5" name="Text 2"/>
          <p:cNvSpPr txBox="1"/>
          <p:nvPr/>
        </p:nvSpPr>
        <p:spPr>
          <a:xfrm>
            <a:off x="548640" y="2057400"/>
            <a:ext cx="4937760" cy="502920"/>
          </a:xfrm>
          <a:prstGeom prst="rect">
            <a:avLst/>
          </a:prstGeom>
          <a:noFill/>
          <a:ln/>
        </p:spPr>
        <p:txBody>
          <a:bodyPr wrap="square" lIns="0" tIns="0" rIns="0" bIns="0" rtlCol="0" anchor="ctr"/>
          <a:lstStyle/>
          <a:p>
            <a:pPr indent="0" marL="0">
              <a:buNone/>
            </a:pPr>
            <a:r>
              <a:rPr lang="en-US" sz="2600" b="1" dirty="0">
                <a:solidFill>
                  <a:srgbClr val="FFFFFF"/>
                </a:solidFill>
              </a:rPr>
              <a:t>Intelligent Transportation System</a:t>
            </a:r>
            <a:endParaRPr lang="en-US" sz="2600" dirty="0"/>
          </a:p>
        </p:txBody>
      </p:sp>
      <p:sp>
        <p:nvSpPr>
          <p:cNvPr id="6" name="Text 3"/>
          <p:cNvSpPr txBox="1"/>
          <p:nvPr/>
        </p:nvSpPr>
        <p:spPr>
          <a:xfrm>
            <a:off x="548640" y="2606040"/>
            <a:ext cx="4937760" cy="411480"/>
          </a:xfrm>
          <a:prstGeom prst="rect">
            <a:avLst/>
          </a:prstGeom>
          <a:noFill/>
          <a:ln/>
        </p:spPr>
        <p:txBody>
          <a:bodyPr wrap="square" lIns="0" tIns="0" rIns="0" bIns="0" rtlCol="0" anchor="ctr"/>
          <a:lstStyle/>
          <a:p>
            <a:pPr indent="0" marL="0">
              <a:buNone/>
            </a:pPr>
            <a:r>
              <a:rPr lang="en-US" sz="1600" i="1" dirty="0">
                <a:solidFill>
                  <a:srgbClr val="DDE4EC"/>
                </a:solidFill>
              </a:rPr>
              <a:t>From CCTV to Grounded Incident Reports</a:t>
            </a:r>
            <a:endParaRPr lang="en-US" sz="1600" dirty="0"/>
          </a:p>
        </p:txBody>
      </p:sp>
      <p:sp>
        <p:nvSpPr>
          <p:cNvPr id="7" name="Text 4"/>
          <p:cNvSpPr txBox="1"/>
          <p:nvPr/>
        </p:nvSpPr>
        <p:spPr>
          <a:xfrm>
            <a:off x="548640" y="3931920"/>
            <a:ext cx="4937760" cy="320040"/>
          </a:xfrm>
          <a:prstGeom prst="rect">
            <a:avLst/>
          </a:prstGeom>
          <a:noFill/>
          <a:ln/>
        </p:spPr>
        <p:txBody>
          <a:bodyPr wrap="square" lIns="0" tIns="0" rIns="0" bIns="0" rtlCol="0" anchor="ctr"/>
          <a:lstStyle/>
          <a:p>
            <a:pPr indent="0" marL="0">
              <a:buNone/>
            </a:pPr>
            <a:r>
              <a:rPr lang="en-US" sz="1200" dirty="0">
                <a:solidFill>
                  <a:srgbClr val="8FA3B8"/>
                </a:solidFill>
              </a:rPr>
              <a:t>Syrian Private University  ·  27 October 2026</a:t>
            </a:r>
            <a:endParaRPr lang="en-US" sz="1200" dirty="0"/>
          </a:p>
        </p:txBody>
      </p:sp>
      <p:sp>
        <p:nvSpPr>
          <p:cNvPr id="8" name="Shape 5"/>
          <p:cNvSpPr/>
          <p:nvPr/>
        </p:nvSpPr>
        <p:spPr>
          <a:xfrm>
            <a:off x="5669280" y="1051560"/>
            <a:ext cx="3017520" cy="3108960"/>
          </a:xfrm>
          <a:prstGeom prst="roundRect">
            <a:avLst>
              <a:gd name="adj" fmla="val 3030"/>
            </a:avLst>
          </a:prstGeom>
          <a:solidFill>
            <a:srgbClr val="263A57"/>
          </a:solidFill>
          <a:ln w="12700">
            <a:solidFill>
              <a:srgbClr val="263A57"/>
            </a:solidFill>
            <a:prstDash val="solid"/>
          </a:ln>
        </p:spPr>
      </p:sp>
      <p:pic>
        <p:nvPicPr>
          <p:cNvPr id="9" name="Image 1" descr="preencoded.png">    </p:cNvPr>
          <p:cNvPicPr>
            <a:picLocks noChangeAspect="1"/>
          </p:cNvPicPr>
          <p:nvPr/>
        </p:nvPicPr>
        <p:blipFill>
          <a:blip r:embed="rId2"/>
          <a:stretch>
            <a:fillRect/>
          </a:stretch>
        </p:blipFill>
        <p:spPr>
          <a:xfrm>
            <a:off x="5943600" y="1325880"/>
            <a:ext cx="274320" cy="274320"/>
          </a:xfrm>
          <a:prstGeom prst="rect">
            <a:avLst/>
          </a:prstGeom>
        </p:spPr>
      </p:pic>
      <p:sp>
        <p:nvSpPr>
          <p:cNvPr id="10" name="Text 6"/>
          <p:cNvSpPr txBox="1"/>
          <p:nvPr/>
        </p:nvSpPr>
        <p:spPr>
          <a:xfrm>
            <a:off x="6355080" y="1298448"/>
            <a:ext cx="2103120" cy="329184"/>
          </a:xfrm>
          <a:prstGeom prst="rect">
            <a:avLst/>
          </a:prstGeom>
          <a:noFill/>
          <a:ln/>
        </p:spPr>
        <p:txBody>
          <a:bodyPr wrap="square" lIns="0" tIns="0" rIns="0" bIns="0" rtlCol="0" anchor="ctr"/>
          <a:lstStyle/>
          <a:p>
            <a:pPr indent="0" marL="0">
              <a:buNone/>
            </a:pPr>
            <a:r>
              <a:rPr lang="en-US" sz="1300" b="1" dirty="0">
                <a:solidFill>
                  <a:srgbClr val="F2A900"/>
                </a:solidFill>
              </a:rPr>
              <a:t>Team</a:t>
            </a:r>
            <a:endParaRPr lang="en-US" sz="1300" dirty="0"/>
          </a:p>
        </p:txBody>
      </p:sp>
      <p:sp>
        <p:nvSpPr>
          <p:cNvPr id="11" name="Text 7"/>
          <p:cNvSpPr txBox="1"/>
          <p:nvPr/>
        </p:nvSpPr>
        <p:spPr>
          <a:xfrm>
            <a:off x="5943600" y="1691640"/>
            <a:ext cx="2560320" cy="640080"/>
          </a:xfrm>
          <a:prstGeom prst="rect">
            <a:avLst/>
          </a:prstGeom>
          <a:noFill/>
          <a:ln/>
        </p:spPr>
        <p:txBody>
          <a:bodyPr wrap="square" lIns="0" tIns="0" rIns="0" bIns="0" rtlCol="0" anchor="ctr"/>
          <a:lstStyle/>
          <a:p>
            <a:pPr indent="0" marL="0">
              <a:spcAft>
                <a:spcPts val="400"/>
              </a:spcAft>
              <a:buNone/>
            </a:pPr>
            <a:r>
              <a:rPr lang="en-US" sz="1400" dirty="0">
                <a:solidFill>
                  <a:srgbClr val="FFFFFF"/>
                </a:solidFill>
              </a:rPr>
              <a:t>Khawla Al-Shaikh</a:t>
            </a:r>
            <a:endParaRPr lang="en-US" sz="1400" dirty="0"/>
          </a:p>
          <a:p>
            <a:pPr indent="0" marL="0">
              <a:spcAft>
                <a:spcPts val="400"/>
              </a:spcAft>
              <a:buNone/>
            </a:pPr>
            <a:r>
              <a:rPr lang="en-US" sz="1400" dirty="0">
                <a:solidFill>
                  <a:srgbClr val="FFFFFF"/>
                </a:solidFill>
              </a:rPr>
              <a:t>Judy Dukmak</a:t>
            </a:r>
            <a:endParaRPr lang="en-US" sz="1400" dirty="0"/>
          </a:p>
        </p:txBody>
      </p:sp>
      <p:pic>
        <p:nvPicPr>
          <p:cNvPr id="12" name="Image 2" descr="preencoded.png">    </p:cNvPr>
          <p:cNvPicPr>
            <a:picLocks noChangeAspect="1"/>
          </p:cNvPicPr>
          <p:nvPr/>
        </p:nvPicPr>
        <p:blipFill>
          <a:blip r:embed="rId3"/>
          <a:stretch>
            <a:fillRect/>
          </a:stretch>
        </p:blipFill>
        <p:spPr>
          <a:xfrm>
            <a:off x="5943600" y="2606040"/>
            <a:ext cx="274320" cy="274320"/>
          </a:xfrm>
          <a:prstGeom prst="rect">
            <a:avLst/>
          </a:prstGeom>
        </p:spPr>
      </p:pic>
      <p:sp>
        <p:nvSpPr>
          <p:cNvPr id="13" name="Text 8"/>
          <p:cNvSpPr txBox="1"/>
          <p:nvPr/>
        </p:nvSpPr>
        <p:spPr>
          <a:xfrm>
            <a:off x="6355080" y="2578608"/>
            <a:ext cx="2103120" cy="329184"/>
          </a:xfrm>
          <a:prstGeom prst="rect">
            <a:avLst/>
          </a:prstGeom>
          <a:noFill/>
          <a:ln/>
        </p:spPr>
        <p:txBody>
          <a:bodyPr wrap="square" lIns="0" tIns="0" rIns="0" bIns="0" rtlCol="0" anchor="ctr"/>
          <a:lstStyle/>
          <a:p>
            <a:pPr indent="0" marL="0">
              <a:buNone/>
            </a:pPr>
            <a:r>
              <a:rPr lang="en-US" sz="1300" b="1" dirty="0">
                <a:solidFill>
                  <a:srgbClr val="F2A900"/>
                </a:solidFill>
              </a:rPr>
              <a:t>Supervisors</a:t>
            </a:r>
            <a:endParaRPr lang="en-US" sz="1300" dirty="0"/>
          </a:p>
        </p:txBody>
      </p:sp>
      <p:sp>
        <p:nvSpPr>
          <p:cNvPr id="14" name="Text 9"/>
          <p:cNvSpPr txBox="1"/>
          <p:nvPr/>
        </p:nvSpPr>
        <p:spPr>
          <a:xfrm>
            <a:off x="5943600" y="2971800"/>
            <a:ext cx="2560320" cy="640080"/>
          </a:xfrm>
          <a:prstGeom prst="rect">
            <a:avLst/>
          </a:prstGeom>
          <a:noFill/>
          <a:ln/>
        </p:spPr>
        <p:txBody>
          <a:bodyPr wrap="square" lIns="0" tIns="0" rIns="0" bIns="0" rtlCol="0" anchor="ctr"/>
          <a:lstStyle/>
          <a:p>
            <a:pPr indent="0" marL="0">
              <a:spcAft>
                <a:spcPts val="400"/>
              </a:spcAft>
              <a:buNone/>
            </a:pPr>
            <a:r>
              <a:rPr lang="en-US" sz="1400" dirty="0">
                <a:solidFill>
                  <a:srgbClr val="FFFFFF"/>
                </a:solidFill>
              </a:rPr>
              <a:t>Dr. Assef Jafar</a:t>
            </a:r>
            <a:endParaRPr lang="en-US" sz="1400" dirty="0"/>
          </a:p>
          <a:p>
            <a:pPr indent="0" marL="0">
              <a:spcAft>
                <a:spcPts val="400"/>
              </a:spcAft>
              <a:buNone/>
            </a:pPr>
            <a:r>
              <a:rPr lang="en-US" sz="1400" dirty="0">
                <a:solidFill>
                  <a:srgbClr val="FFFFFF"/>
                </a:solidFill>
              </a:rPr>
              <a:t>Eng. Wessam Alsohle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3B8"/>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320040"/>
            <a:ext cx="457200" cy="457200"/>
          </a:xfrm>
          <a:prstGeom prst="ellipse">
            <a:avLst/>
          </a:prstGeom>
          <a:solidFill>
            <a:srgbClr val="F2A900"/>
          </a:solidFill>
          <a:ln w="12700">
            <a:solidFill>
              <a:srgbClr val="F2A900"/>
            </a:solidFill>
            <a:prstDash val="solid"/>
          </a:ln>
        </p:spPr>
      </p:sp>
      <p:pic>
        <p:nvPicPr>
          <p:cNvPr id="3" name="Image 0" descr="preencoded.png">    </p:cNvPr>
          <p:cNvPicPr>
            <a:picLocks noChangeAspect="1"/>
          </p:cNvPicPr>
          <p:nvPr/>
        </p:nvPicPr>
        <p:blipFill>
          <a:blip r:embed="rId1"/>
          <a:stretch>
            <a:fillRect/>
          </a:stretch>
        </p:blipFill>
        <p:spPr>
          <a:xfrm>
            <a:off x="566928" y="429768"/>
            <a:ext cx="237744" cy="237744"/>
          </a:xfrm>
          <a:prstGeom prst="rect">
            <a:avLst/>
          </a:prstGeom>
        </p:spPr>
      </p:pic>
      <p:sp>
        <p:nvSpPr>
          <p:cNvPr id="4" name="Text 1"/>
          <p:cNvSpPr/>
          <p:nvPr>
            <p:ph idx="101" type="title" hasCustomPrompt="1"/>
          </p:nvPr>
        </p:nvSpPr>
        <p:spPr>
          <a:xfrm>
            <a:off x="1097280" y="292608"/>
            <a:ext cx="7589520" cy="548640"/>
          </a:xfrm>
          <a:prstGeom prst="rect">
            <a:avLst/>
          </a:prstGeom>
          <a:noFill/>
          <a:ln/>
        </p:spPr>
        <p:txBody>
          <a:bodyPr wrap="square" lIns="0" tIns="0" rIns="0" bIns="0" rtlCol="0" anchor="ctr"/>
          <a:lstStyle/>
          <a:p>
            <a:pPr algn="l" indent="0" marL="0">
              <a:buNone/>
            </a:pPr>
            <a:r>
              <a:rPr lang="en-US" sz="2600" b="1" dirty="0">
                <a:solidFill>
                  <a:schemeClr val="tx1"/>
                </a:solidFill>
              </a:rPr>
              <a:t>Completed Before: Smart Traffic Signal (GP1)</a:t>
            </a:r>
            <a:endParaRPr lang="en-US" sz="2600" dirty="0"/>
          </a:p>
        </p:txBody>
      </p:sp>
      <p:sp>
        <p:nvSpPr>
          <p:cNvPr id="5" name="Shape 2"/>
          <p:cNvSpPr/>
          <p:nvPr/>
        </p:nvSpPr>
        <p:spPr>
          <a:xfrm>
            <a:off x="457200" y="1097280"/>
            <a:ext cx="548640" cy="548640"/>
          </a:xfrm>
          <a:prstGeom prst="ellipse">
            <a:avLst/>
          </a:prstGeom>
          <a:solidFill>
            <a:srgbClr val="1B2A41"/>
          </a:solidFill>
          <a:ln w="12700">
            <a:solidFill>
              <a:srgbClr val="1B2A41"/>
            </a:solidFill>
            <a:prstDash val="solid"/>
          </a:ln>
        </p:spPr>
      </p:sp>
      <p:pic>
        <p:nvPicPr>
          <p:cNvPr id="6" name="Image 1" descr="preencoded.png">    </p:cNvPr>
          <p:cNvPicPr>
            <a:picLocks noChangeAspect="1"/>
          </p:cNvPicPr>
          <p:nvPr/>
        </p:nvPicPr>
        <p:blipFill>
          <a:blip r:embed="rId2"/>
          <a:stretch>
            <a:fillRect/>
          </a:stretch>
        </p:blipFill>
        <p:spPr>
          <a:xfrm>
            <a:off x="594360" y="1234440"/>
            <a:ext cx="274320" cy="274320"/>
          </a:xfrm>
          <a:prstGeom prst="rect">
            <a:avLst/>
          </a:prstGeom>
        </p:spPr>
      </p:pic>
      <p:sp>
        <p:nvSpPr>
          <p:cNvPr id="7" name="Text 3"/>
          <p:cNvSpPr txBox="1"/>
          <p:nvPr/>
        </p:nvSpPr>
        <p:spPr>
          <a:xfrm>
            <a:off x="1143000" y="1097280"/>
            <a:ext cx="3017520" cy="548640"/>
          </a:xfrm>
          <a:prstGeom prst="rect">
            <a:avLst/>
          </a:prstGeom>
          <a:noFill/>
          <a:ln/>
        </p:spPr>
        <p:txBody>
          <a:bodyPr wrap="square" lIns="0" tIns="0" rIns="0" bIns="0" rtlCol="0" anchor="ctr"/>
          <a:lstStyle/>
          <a:p>
            <a:pPr indent="0" marL="0">
              <a:buNone/>
            </a:pPr>
            <a:r>
              <a:rPr lang="en-US" sz="1600" b="1" dirty="0">
                <a:solidFill>
                  <a:srgbClr val="1B2A41"/>
                </a:solidFill>
              </a:rPr>
              <a:t>Graduation Project 1</a:t>
            </a:r>
            <a:endParaRPr lang="en-US" sz="1600" dirty="0"/>
          </a:p>
        </p:txBody>
      </p:sp>
      <p:sp>
        <p:nvSpPr>
          <p:cNvPr id="8" name="Shape 4"/>
          <p:cNvSpPr/>
          <p:nvPr/>
        </p:nvSpPr>
        <p:spPr>
          <a:xfrm>
            <a:off x="502920" y="1911096"/>
            <a:ext cx="73152" cy="73152"/>
          </a:xfrm>
          <a:prstGeom prst="ellipse">
            <a:avLst/>
          </a:prstGeom>
          <a:solidFill>
            <a:srgbClr val="8FA3B8"/>
          </a:solidFill>
          <a:ln w="12700">
            <a:solidFill>
              <a:srgbClr val="8FA3B8"/>
            </a:solidFill>
            <a:prstDash val="solid"/>
          </a:ln>
        </p:spPr>
      </p:sp>
      <p:sp>
        <p:nvSpPr>
          <p:cNvPr id="9" name="Text 5"/>
          <p:cNvSpPr txBox="1"/>
          <p:nvPr/>
        </p:nvSpPr>
        <p:spPr>
          <a:xfrm>
            <a:off x="685800" y="1783080"/>
            <a:ext cx="3566160" cy="329184"/>
          </a:xfrm>
          <a:prstGeom prst="rect">
            <a:avLst/>
          </a:prstGeom>
          <a:noFill/>
          <a:ln/>
        </p:spPr>
        <p:txBody>
          <a:bodyPr wrap="square" lIns="0" tIns="0" rIns="0" bIns="0" rtlCol="0" anchor="ctr"/>
          <a:lstStyle/>
          <a:p>
            <a:pPr indent="0" marL="0">
              <a:buNone/>
            </a:pPr>
            <a:r>
              <a:rPr lang="en-US" sz="1300" b="1" dirty="0">
                <a:solidFill>
                  <a:srgbClr val="4A5B70"/>
                </a:solidFill>
                <a:highlight>
                  <a:srgbClr val="FFE08A"/>
                </a:highlight>
              </a:rPr>
              <a:t>CoLight</a:t>
            </a:r>
            <a:pPr indent="0" marL="0">
              <a:buNone/>
            </a:pPr>
            <a:r>
              <a:rPr lang="en-US" sz="1300" dirty="0">
                <a:solidFill>
                  <a:srgbClr val="4A5B70"/>
                </a:solidFill>
              </a:rPr>
              <a:t> — graph-attention multi-agent RL</a:t>
            </a:r>
            <a:endParaRPr lang="en-US" sz="1300" dirty="0"/>
          </a:p>
        </p:txBody>
      </p:sp>
      <p:sp>
        <p:nvSpPr>
          <p:cNvPr id="10" name="Shape 6"/>
          <p:cNvSpPr/>
          <p:nvPr/>
        </p:nvSpPr>
        <p:spPr>
          <a:xfrm>
            <a:off x="502920" y="2240280"/>
            <a:ext cx="73152" cy="73152"/>
          </a:xfrm>
          <a:prstGeom prst="ellipse">
            <a:avLst/>
          </a:prstGeom>
          <a:solidFill>
            <a:srgbClr val="8FA3B8"/>
          </a:solidFill>
          <a:ln w="12700">
            <a:solidFill>
              <a:srgbClr val="8FA3B8"/>
            </a:solidFill>
            <a:prstDash val="solid"/>
          </a:ln>
        </p:spPr>
      </p:sp>
      <p:sp>
        <p:nvSpPr>
          <p:cNvPr id="11" name="Text 7"/>
          <p:cNvSpPr txBox="1"/>
          <p:nvPr/>
        </p:nvSpPr>
        <p:spPr>
          <a:xfrm>
            <a:off x="685800" y="2112264"/>
            <a:ext cx="3566160" cy="329184"/>
          </a:xfrm>
          <a:prstGeom prst="rect">
            <a:avLst/>
          </a:prstGeom>
          <a:noFill/>
          <a:ln/>
        </p:spPr>
        <p:txBody>
          <a:bodyPr wrap="square" lIns="0" tIns="0" rIns="0" bIns="0" rtlCol="0" anchor="ctr"/>
          <a:lstStyle/>
          <a:p>
            <a:pPr indent="0" marL="0">
              <a:buNone/>
            </a:pPr>
            <a:r>
              <a:rPr lang="en-US" sz="1300" dirty="0">
                <a:solidFill>
                  <a:srgbClr val="4A5B70"/>
                </a:solidFill>
              </a:rPr>
              <a:t>Hangzhou 4×4 network · 16 intersections</a:t>
            </a:r>
            <a:endParaRPr lang="en-US" sz="1300" dirty="0"/>
          </a:p>
        </p:txBody>
      </p:sp>
      <p:sp>
        <p:nvSpPr>
          <p:cNvPr id="12" name="Shape 8"/>
          <p:cNvSpPr/>
          <p:nvPr/>
        </p:nvSpPr>
        <p:spPr>
          <a:xfrm>
            <a:off x="502920" y="2569464"/>
            <a:ext cx="73152" cy="73152"/>
          </a:xfrm>
          <a:prstGeom prst="ellipse">
            <a:avLst/>
          </a:prstGeom>
          <a:solidFill>
            <a:srgbClr val="8FA3B8"/>
          </a:solidFill>
          <a:ln w="12700">
            <a:solidFill>
              <a:srgbClr val="8FA3B8"/>
            </a:solidFill>
            <a:prstDash val="solid"/>
          </a:ln>
        </p:spPr>
      </p:sp>
      <p:sp>
        <p:nvSpPr>
          <p:cNvPr id="13" name="Text 9"/>
          <p:cNvSpPr txBox="1"/>
          <p:nvPr/>
        </p:nvSpPr>
        <p:spPr>
          <a:xfrm>
            <a:off x="685800" y="2441448"/>
            <a:ext cx="3566160" cy="329184"/>
          </a:xfrm>
          <a:prstGeom prst="rect">
            <a:avLst/>
          </a:prstGeom>
          <a:noFill/>
          <a:ln/>
        </p:spPr>
        <p:txBody>
          <a:bodyPr wrap="square" lIns="0" tIns="0" rIns="0" bIns="0" rtlCol="0" anchor="ctr"/>
          <a:lstStyle/>
          <a:p>
            <a:pPr indent="0" marL="0">
              <a:buNone/>
            </a:pPr>
            <a:r>
              <a:rPr lang="en-US" sz="1300" dirty="0">
                <a:solidFill>
                  <a:srgbClr val="4A5B70"/>
                </a:solidFill>
              </a:rPr>
              <a:t>Simulated in CityFlow</a:t>
            </a:r>
            <a:endParaRPr lang="en-US" sz="1300" dirty="0"/>
          </a:p>
        </p:txBody>
      </p:sp>
      <p:sp>
        <p:nvSpPr>
          <p:cNvPr id="14" name="Shape 10"/>
          <p:cNvSpPr/>
          <p:nvPr/>
        </p:nvSpPr>
        <p:spPr>
          <a:xfrm>
            <a:off x="457200" y="3063240"/>
            <a:ext cx="1188720" cy="1280160"/>
          </a:xfrm>
          <a:prstGeom prst="roundRect">
            <a:avLst>
              <a:gd name="adj" fmla="val 6154"/>
            </a:avLst>
          </a:prstGeom>
          <a:solidFill>
            <a:srgbClr val="F2F5F9"/>
          </a:solidFill>
          <a:ln w="12700">
            <a:solidFill>
              <a:srgbClr val="F2F5F9"/>
            </a:solidFill>
            <a:prstDash val="solid"/>
          </a:ln>
        </p:spPr>
      </p:sp>
      <p:sp>
        <p:nvSpPr>
          <p:cNvPr id="15" name="Text 11"/>
          <p:cNvSpPr txBox="1"/>
          <p:nvPr/>
        </p:nvSpPr>
        <p:spPr>
          <a:xfrm>
            <a:off x="457200" y="3200400"/>
            <a:ext cx="1188720" cy="548640"/>
          </a:xfrm>
          <a:prstGeom prst="rect">
            <a:avLst/>
          </a:prstGeom>
          <a:noFill/>
          <a:ln/>
        </p:spPr>
        <p:txBody>
          <a:bodyPr wrap="square" lIns="0" tIns="0" rIns="0" bIns="0" rtlCol="0" anchor="ctr"/>
          <a:lstStyle/>
          <a:p>
            <a:pPr algn="ctr" indent="0" marL="0">
              <a:buNone/>
            </a:pPr>
            <a:r>
              <a:rPr lang="en-US" sz="2200" b="1" dirty="0">
                <a:solidFill>
                  <a:srgbClr val="2A9D8F"/>
                </a:solidFill>
              </a:rPr>
              <a:t>−18.8 s</a:t>
            </a:r>
            <a:endParaRPr lang="en-US" sz="2200" dirty="0"/>
          </a:p>
        </p:txBody>
      </p:sp>
      <p:sp>
        <p:nvSpPr>
          <p:cNvPr id="16" name="Text 12"/>
          <p:cNvSpPr txBox="1"/>
          <p:nvPr/>
        </p:nvSpPr>
        <p:spPr>
          <a:xfrm>
            <a:off x="548640" y="3749040"/>
            <a:ext cx="1005840" cy="457200"/>
          </a:xfrm>
          <a:prstGeom prst="rect">
            <a:avLst/>
          </a:prstGeom>
          <a:noFill/>
          <a:ln/>
        </p:spPr>
        <p:txBody>
          <a:bodyPr wrap="square" lIns="0" tIns="0" rIns="0" bIns="0" rtlCol="0" anchor="ctr"/>
          <a:lstStyle/>
          <a:p>
            <a:pPr algn="ctr" indent="0" marL="0">
              <a:buNone/>
            </a:pPr>
            <a:r>
              <a:rPr lang="en-US" sz="1000" dirty="0">
                <a:solidFill>
                  <a:srgbClr val="4A5B70"/>
                </a:solidFill>
              </a:rPr>
              <a:t>Avg waiting time</a:t>
            </a:r>
            <a:endParaRPr lang="en-US" sz="1000" dirty="0"/>
          </a:p>
        </p:txBody>
      </p:sp>
      <p:sp>
        <p:nvSpPr>
          <p:cNvPr id="17" name="Shape 13"/>
          <p:cNvSpPr/>
          <p:nvPr/>
        </p:nvSpPr>
        <p:spPr>
          <a:xfrm>
            <a:off x="1737360" y="3063240"/>
            <a:ext cx="1188720" cy="1280160"/>
          </a:xfrm>
          <a:prstGeom prst="roundRect">
            <a:avLst>
              <a:gd name="adj" fmla="val 6154"/>
            </a:avLst>
          </a:prstGeom>
          <a:solidFill>
            <a:srgbClr val="F2F5F9"/>
          </a:solidFill>
          <a:ln w="12700">
            <a:solidFill>
              <a:srgbClr val="F2F5F9"/>
            </a:solidFill>
            <a:prstDash val="solid"/>
          </a:ln>
        </p:spPr>
      </p:sp>
      <p:sp>
        <p:nvSpPr>
          <p:cNvPr id="18" name="Text 14"/>
          <p:cNvSpPr txBox="1"/>
          <p:nvPr/>
        </p:nvSpPr>
        <p:spPr>
          <a:xfrm>
            <a:off x="1737360" y="3200400"/>
            <a:ext cx="1188720" cy="548640"/>
          </a:xfrm>
          <a:prstGeom prst="rect">
            <a:avLst/>
          </a:prstGeom>
          <a:noFill/>
          <a:ln/>
        </p:spPr>
        <p:txBody>
          <a:bodyPr wrap="square" lIns="0" tIns="0" rIns="0" bIns="0" rtlCol="0" anchor="ctr"/>
          <a:lstStyle/>
          <a:p>
            <a:pPr algn="ctr" indent="0" marL="0">
              <a:buNone/>
            </a:pPr>
            <a:r>
              <a:rPr lang="en-US" sz="2200" b="1" dirty="0">
                <a:solidFill>
                  <a:srgbClr val="2A9D8F"/>
                </a:solidFill>
              </a:rPr>
              <a:t>−8</a:t>
            </a:r>
            <a:endParaRPr lang="en-US" sz="2200" dirty="0"/>
          </a:p>
        </p:txBody>
      </p:sp>
      <p:sp>
        <p:nvSpPr>
          <p:cNvPr id="19" name="Text 15"/>
          <p:cNvSpPr txBox="1"/>
          <p:nvPr/>
        </p:nvSpPr>
        <p:spPr>
          <a:xfrm>
            <a:off x="1828800" y="3749040"/>
            <a:ext cx="1005840" cy="457200"/>
          </a:xfrm>
          <a:prstGeom prst="rect">
            <a:avLst/>
          </a:prstGeom>
          <a:noFill/>
          <a:ln/>
        </p:spPr>
        <p:txBody>
          <a:bodyPr wrap="square" lIns="0" tIns="0" rIns="0" bIns="0" rtlCol="0" anchor="ctr"/>
          <a:lstStyle/>
          <a:p>
            <a:pPr algn="ctr" indent="0" marL="0">
              <a:buNone/>
            </a:pPr>
            <a:r>
              <a:rPr lang="en-US" sz="1000" dirty="0">
                <a:solidFill>
                  <a:srgbClr val="4A5B70"/>
                </a:solidFill>
              </a:rPr>
              <a:t>Unfinished vehicles</a:t>
            </a:r>
            <a:endParaRPr lang="en-US" sz="1000" dirty="0"/>
          </a:p>
        </p:txBody>
      </p:sp>
      <p:sp>
        <p:nvSpPr>
          <p:cNvPr id="20" name="Shape 16"/>
          <p:cNvSpPr/>
          <p:nvPr/>
        </p:nvSpPr>
        <p:spPr>
          <a:xfrm>
            <a:off x="3017520" y="3063240"/>
            <a:ext cx="1188720" cy="1280160"/>
          </a:xfrm>
          <a:prstGeom prst="roundRect">
            <a:avLst>
              <a:gd name="adj" fmla="val 6154"/>
            </a:avLst>
          </a:prstGeom>
          <a:solidFill>
            <a:srgbClr val="F2F5F9"/>
          </a:solidFill>
          <a:ln w="12700">
            <a:solidFill>
              <a:srgbClr val="F2F5F9"/>
            </a:solidFill>
            <a:prstDash val="solid"/>
          </a:ln>
        </p:spPr>
      </p:sp>
      <p:sp>
        <p:nvSpPr>
          <p:cNvPr id="21" name="Text 17"/>
          <p:cNvSpPr txBox="1"/>
          <p:nvPr/>
        </p:nvSpPr>
        <p:spPr>
          <a:xfrm>
            <a:off x="3017520" y="3200400"/>
            <a:ext cx="1188720" cy="548640"/>
          </a:xfrm>
          <a:prstGeom prst="rect">
            <a:avLst/>
          </a:prstGeom>
          <a:noFill/>
          <a:ln/>
        </p:spPr>
        <p:txBody>
          <a:bodyPr wrap="square" lIns="0" tIns="0" rIns="0" bIns="0" rtlCol="0" anchor="ctr"/>
          <a:lstStyle/>
          <a:p>
            <a:pPr algn="ctr" indent="0" marL="0">
              <a:buNone/>
            </a:pPr>
            <a:r>
              <a:rPr lang="en-US" sz="2200" b="1" dirty="0">
                <a:solidFill>
                  <a:srgbClr val="2A9D8F"/>
                </a:solidFill>
              </a:rPr>
              <a:t>+9.7</a:t>
            </a:r>
            <a:endParaRPr lang="en-US" sz="2200" dirty="0"/>
          </a:p>
        </p:txBody>
      </p:sp>
      <p:sp>
        <p:nvSpPr>
          <p:cNvPr id="22" name="Text 18"/>
          <p:cNvSpPr txBox="1"/>
          <p:nvPr/>
        </p:nvSpPr>
        <p:spPr>
          <a:xfrm>
            <a:off x="3108960" y="3749040"/>
            <a:ext cx="1005840" cy="457200"/>
          </a:xfrm>
          <a:prstGeom prst="rect">
            <a:avLst/>
          </a:prstGeom>
          <a:noFill/>
          <a:ln/>
        </p:spPr>
        <p:txBody>
          <a:bodyPr wrap="square" lIns="0" tIns="0" rIns="0" bIns="0" rtlCol="0" anchor="ctr"/>
          <a:lstStyle/>
          <a:p>
            <a:pPr algn="ctr" indent="0" marL="0">
              <a:buNone/>
            </a:pPr>
            <a:r>
              <a:rPr lang="en-US" sz="1000" dirty="0">
                <a:solidFill>
                  <a:srgbClr val="4A5B70"/>
                </a:solidFill>
              </a:rPr>
              <a:t>Throughput (veh)</a:t>
            </a:r>
            <a:endParaRPr lang="en-US" sz="1000" dirty="0"/>
          </a:p>
        </p:txBody>
      </p:sp>
      <p:graphicFrame>
        <p:nvGraphicFramePr>
          <p:cNvPr id="23" name="Chart 0" descr=""/>
          <p:cNvGraphicFramePr/>
          <p:nvPr/>
        </p:nvGraphicFramePr>
        <p:xfrm>
          <a:off x="4480560" y="1051560"/>
          <a:ext cx="4206240" cy="3291840"/>
        </p:xfrm>
        <a:graphic xmlns:a="http://schemas.openxmlformats.org/drawingml/2006/main">
          <a:graphicData uri="http://schemas.openxmlformats.org/drawingml/2006/chart">
            <c:chart xmlns:c="http://schemas.openxmlformats.org/drawingml/2006/chart" r:id="rId3"/>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adge"/>
          <p:cNvSpPr/>
          <p:nvPr/>
        </p:nvSpPr>
        <p:spPr>
          <a:xfrm>
            <a:off x="457200" y="320040"/>
            <a:ext cx="457200" cy="457200"/>
          </a:xfrm>
          <a:prstGeom prst="ellipse">
            <a:avLst/>
          </a:prstGeom>
          <a:solidFill>
            <a:srgbClr val="F2A900"/>
          </a:solidFill>
          <a:ln w="12700">
            <a:solidFill>
              <a:srgbClr val="F2A900"/>
            </a:solidFill>
            <a:prstDash val="solid"/>
          </a:ln>
        </p:spPr>
      </p:sp>
      <p:sp>
        <p:nvSpPr>
          <p:cNvPr id="3" name="Text 1"/>
          <p:cNvSpPr txBox="1"/>
          <p:nvPr/>
        </p:nvSpPr>
        <p:spPr>
          <a:xfrm>
            <a:off x="457200" y="32004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4" name="Text 1"/>
          <p:cNvSpPr/>
          <p:nvPr>
            <p:ph idx="101" type="title" hasCustomPrompt="1"/>
          </p:nvPr>
        </p:nvSpPr>
        <p:spPr>
          <a:xfrm>
            <a:off x="1097280" y="292608"/>
            <a:ext cx="7589520" cy="548640"/>
          </a:xfrm>
          <a:prstGeom prst="rect">
            <a:avLst/>
          </a:prstGeom>
          <a:noFill/>
          <a:ln/>
        </p:spPr>
        <p:txBody>
          <a:bodyPr wrap="square" lIns="0" tIns="0" rIns="0" bIns="0" rtlCol="0" anchor="ctr"/>
          <a:lstStyle/>
          <a:p>
            <a:pPr algn="l" indent="0" marL="0">
              <a:buNone/>
            </a:pPr>
            <a:r>
              <a:rPr lang="en-US" sz="2600" b="1" dirty="0">
                <a:solidFill>
                  <a:schemeClr val="tx1"/>
                </a:solidFill>
              </a:rPr>
              <a:t>Framing Pack — Problem Definition</a:t>
            </a:r>
            <a:endParaRPr lang="en-US" sz="2600" dirty="0"/>
          </a:p>
        </p:txBody>
      </p:sp>
      <p:sp>
        <p:nvSpPr>
          <p:cNvPr id="5" name="Shape 3"/>
          <p:cNvSpPr/>
          <p:nvPr/>
        </p:nvSpPr>
        <p:spPr>
          <a:xfrm>
            <a:off x="457200" y="1005840"/>
            <a:ext cx="4023360" cy="1371600"/>
          </a:xfrm>
          <a:prstGeom prst="roundRect">
            <a:avLst>
              <a:gd name="adj" fmla="val 5333"/>
            </a:avLst>
          </a:prstGeom>
          <a:solidFill>
            <a:srgbClr val="F2F5F9"/>
          </a:solidFill>
          <a:ln w="12700">
            <a:solidFill>
              <a:srgbClr val="F2F5F9"/>
            </a:solidFill>
            <a:prstDash val="solid"/>
          </a:ln>
        </p:spPr>
      </p:sp>
      <p:sp>
        <p:nvSpPr>
          <p:cNvPr id="6" name="Text 4"/>
          <p:cNvSpPr txBox="1"/>
          <p:nvPr/>
        </p:nvSpPr>
        <p:spPr>
          <a:xfrm>
            <a:off x="640080" y="1097280"/>
            <a:ext cx="3657600" cy="274320"/>
          </a:xfrm>
          <a:prstGeom prst="rect">
            <a:avLst/>
          </a:prstGeom>
          <a:noFill/>
          <a:ln/>
        </p:spPr>
        <p:txBody>
          <a:bodyPr wrap="square" lIns="0" tIns="0" rIns="0" bIns="0" rtlCol="0" anchor="ctr"/>
          <a:lstStyle/>
          <a:p>
            <a:pPr indent="0" marL="0">
              <a:buNone/>
            </a:pPr>
            <a:r>
              <a:rPr lang="en-US" sz="1300" b="1" dirty="0">
                <a:solidFill>
                  <a:srgbClr val="1B2A41"/>
                </a:solidFill>
              </a:rPr>
              <a:t>Problem</a:t>
            </a:r>
            <a:endParaRPr lang="en-US" sz="1300" dirty="0"/>
          </a:p>
        </p:txBody>
      </p:sp>
      <p:sp>
        <p:nvSpPr>
          <p:cNvPr id="7" name="Text 5"/>
          <p:cNvSpPr txBox="1"/>
          <p:nvPr/>
        </p:nvSpPr>
        <p:spPr>
          <a:xfrm>
            <a:off x="640080" y="1389888"/>
            <a:ext cx="3657600" cy="914400"/>
          </a:xfrm>
          <a:prstGeom prst="rect">
            <a:avLst/>
          </a:prstGeom>
          <a:noFill/>
          <a:ln/>
        </p:spPr>
        <p:txBody>
          <a:bodyPr wrap="square" lIns="0" tIns="0" rIns="0" bIns="0" rtlCol="0" anchor="t"/>
          <a:lstStyle/>
          <a:p>
            <a:pPr indent="0" marL="0">
              <a:buNone/>
            </a:pPr>
            <a:r>
              <a:rPr lang="en-US" sz="1150" dirty="0">
                <a:solidFill>
                  <a:srgbClr val="4A5B70"/>
                </a:solidFill>
              </a:rPr>
              <a:t>Operators watch many CCTV feeds and can miss rare accidents. </a:t>
            </a:r>
            <a:pPr indent="0" marL="0">
              <a:buNone/>
            </a:pPr>
            <a:r>
              <a:rPr lang="en-US" sz="1150" b="1" dirty="0">
                <a:solidFill>
                  <a:srgbClr val="4A5B70"/>
                </a:solidFill>
                <a:highlight>
                  <a:srgbClr val="FFE08A"/>
                </a:highlight>
              </a:rPr>
              <a:t>Labelled real accident video is scarce</a:t>
            </a:r>
            <a:pPr indent="0" marL="0">
              <a:buNone/>
            </a:pPr>
            <a:r>
              <a:rPr lang="en-US" sz="1150" dirty="0">
                <a:solidFill>
                  <a:srgbClr val="4A5B70"/>
                </a:solidFill>
              </a:rPr>
              <a:t>, large VLMs are </a:t>
            </a:r>
            <a:pPr indent="0" marL="0">
              <a:buNone/>
            </a:pPr>
            <a:r>
              <a:rPr lang="en-US" sz="1150" b="1" dirty="0">
                <a:solidFill>
                  <a:srgbClr val="4A5B70"/>
                </a:solidFill>
                <a:highlight>
                  <a:srgbClr val="FFE08A"/>
                </a:highlight>
              </a:rPr>
              <a:t>too costly to run on every clip</a:t>
            </a:r>
            <a:pPr indent="0" marL="0">
              <a:buNone/>
            </a:pPr>
            <a:r>
              <a:rPr lang="en-US" sz="1150" dirty="0">
                <a:solidFill>
                  <a:srgbClr val="4A5B70"/>
                </a:solidFill>
              </a:rPr>
              <a:t>, and reports must be traceable to evidence.</a:t>
            </a:r>
            <a:endParaRPr lang="en-US" sz="1150" dirty="0"/>
          </a:p>
        </p:txBody>
      </p:sp>
      <p:sp>
        <p:nvSpPr>
          <p:cNvPr id="8" name="Shape 6"/>
          <p:cNvSpPr/>
          <p:nvPr/>
        </p:nvSpPr>
        <p:spPr>
          <a:xfrm>
            <a:off x="457200" y="2514600"/>
            <a:ext cx="1188720" cy="603504"/>
          </a:xfrm>
          <a:prstGeom prst="roundRect">
            <a:avLst>
              <a:gd name="adj" fmla="val 12121"/>
            </a:avLst>
          </a:prstGeom>
          <a:solidFill>
            <a:srgbClr val="FFFFFF"/>
          </a:solidFill>
          <a:ln w="12700">
            <a:solidFill>
              <a:srgbClr val="8FA3B8"/>
            </a:solidFill>
            <a:prstDash val="solid"/>
          </a:ln>
        </p:spPr>
      </p:sp>
      <p:sp>
        <p:nvSpPr>
          <p:cNvPr id="9" name="Text 7"/>
          <p:cNvSpPr txBox="1"/>
          <p:nvPr/>
        </p:nvSpPr>
        <p:spPr>
          <a:xfrm>
            <a:off x="457200" y="2514600"/>
            <a:ext cx="1188720" cy="603504"/>
          </a:xfrm>
          <a:prstGeom prst="rect">
            <a:avLst/>
          </a:prstGeom>
          <a:noFill/>
          <a:ln/>
        </p:spPr>
        <p:txBody>
          <a:bodyPr wrap="square" lIns="25400" tIns="25400" rIns="25400" bIns="25400" rtlCol="0" anchor="ctr"/>
          <a:lstStyle/>
          <a:p>
            <a:pPr algn="ctr" indent="0" marL="0">
              <a:buNone/>
            </a:pPr>
            <a:r>
              <a:rPr lang="en-US" sz="1050" b="1" dirty="0">
                <a:solidFill>
                  <a:srgbClr val="1B2A41"/>
                </a:solidFill>
              </a:rPr>
              <a:t>Input</a:t>
            </a:r>
            <a:endParaRPr lang="en-US" sz="1050" dirty="0"/>
          </a:p>
          <a:p>
            <a:pPr algn="ctr" indent="0" marL="0">
              <a:buNone/>
            </a:pPr>
            <a:r>
              <a:rPr lang="en-US" sz="900" dirty="0">
                <a:solidFill>
                  <a:srgbClr val="1B2A41"/>
                </a:solidFill>
              </a:rPr>
              <a:t>CCTV video clip</a:t>
            </a:r>
            <a:endParaRPr lang="en-US" sz="1050" dirty="0"/>
          </a:p>
        </p:txBody>
      </p:sp>
      <p:sp>
        <p:nvSpPr>
          <p:cNvPr id="10" name="Shape 8"/>
          <p:cNvSpPr/>
          <p:nvPr/>
        </p:nvSpPr>
        <p:spPr>
          <a:xfrm>
            <a:off x="1682496" y="2724912"/>
            <a:ext cx="155448" cy="182880"/>
          </a:xfrm>
          <a:prstGeom prst="rightArrow">
            <a:avLst/>
          </a:prstGeom>
          <a:solidFill>
            <a:srgbClr val="8FA3B8"/>
          </a:solidFill>
          <a:ln w="12700">
            <a:solidFill>
              <a:srgbClr val="8FA3B8"/>
            </a:solidFill>
            <a:prstDash val="solid"/>
          </a:ln>
        </p:spPr>
      </p:sp>
      <p:sp>
        <p:nvSpPr>
          <p:cNvPr id="11" name="Shape 9"/>
          <p:cNvSpPr/>
          <p:nvPr/>
        </p:nvSpPr>
        <p:spPr>
          <a:xfrm>
            <a:off x="1874520" y="2514600"/>
            <a:ext cx="1188720" cy="603504"/>
          </a:xfrm>
          <a:prstGeom prst="roundRect">
            <a:avLst>
              <a:gd name="adj" fmla="val 12121"/>
            </a:avLst>
          </a:prstGeom>
          <a:solidFill>
            <a:srgbClr val="1B2A41"/>
          </a:solidFill>
          <a:ln w="12700">
            <a:solidFill>
              <a:srgbClr val="1B2A41"/>
            </a:solidFill>
            <a:prstDash val="solid"/>
          </a:ln>
        </p:spPr>
      </p:sp>
      <p:sp>
        <p:nvSpPr>
          <p:cNvPr id="12" name="Text 10"/>
          <p:cNvSpPr txBox="1"/>
          <p:nvPr/>
        </p:nvSpPr>
        <p:spPr>
          <a:xfrm>
            <a:off x="1874520" y="2514600"/>
            <a:ext cx="1188720" cy="603504"/>
          </a:xfrm>
          <a:prstGeom prst="rect">
            <a:avLst/>
          </a:prstGeom>
          <a:noFill/>
          <a:ln/>
        </p:spPr>
        <p:txBody>
          <a:bodyPr wrap="square" lIns="25400" tIns="25400" rIns="25400" bIns="25400" rtlCol="0" anchor="ctr"/>
          <a:lstStyle/>
          <a:p>
            <a:pPr algn="ctr" indent="0" marL="0">
              <a:buNone/>
            </a:pPr>
            <a:r>
              <a:rPr lang="en-US" sz="1050" b="1" dirty="0">
                <a:solidFill>
                  <a:srgbClr val="FFFFFF"/>
                </a:solidFill>
              </a:rPr>
              <a:t>ITS system</a:t>
            </a:r>
            <a:endParaRPr lang="en-US" sz="1050" dirty="0"/>
          </a:p>
          <a:p>
            <a:pPr algn="ctr" indent="0" marL="0">
              <a:buNone/>
            </a:pPr>
            <a:r>
              <a:rPr lang="en-US" sz="900" dirty="0">
                <a:solidFill>
                  <a:srgbClr val="FFFFFF"/>
                </a:solidFill>
              </a:rPr>
              <a:t>detect · verify · report</a:t>
            </a:r>
            <a:endParaRPr lang="en-US" sz="1050" dirty="0"/>
          </a:p>
        </p:txBody>
      </p:sp>
      <p:sp>
        <p:nvSpPr>
          <p:cNvPr id="13" name="Shape 11"/>
          <p:cNvSpPr/>
          <p:nvPr/>
        </p:nvSpPr>
        <p:spPr>
          <a:xfrm>
            <a:off x="3099816" y="2724912"/>
            <a:ext cx="155448" cy="182880"/>
          </a:xfrm>
          <a:prstGeom prst="rightArrow">
            <a:avLst/>
          </a:prstGeom>
          <a:solidFill>
            <a:srgbClr val="8FA3B8"/>
          </a:solidFill>
          <a:ln w="12700">
            <a:solidFill>
              <a:srgbClr val="8FA3B8"/>
            </a:solidFill>
            <a:prstDash val="solid"/>
          </a:ln>
        </p:spPr>
      </p:sp>
      <p:sp>
        <p:nvSpPr>
          <p:cNvPr id="14" name="Shape 12"/>
          <p:cNvSpPr/>
          <p:nvPr/>
        </p:nvSpPr>
        <p:spPr>
          <a:xfrm>
            <a:off x="3291840" y="2514600"/>
            <a:ext cx="1188720" cy="603504"/>
          </a:xfrm>
          <a:prstGeom prst="roundRect">
            <a:avLst>
              <a:gd name="adj" fmla="val 12121"/>
            </a:avLst>
          </a:prstGeom>
          <a:solidFill>
            <a:srgbClr val="FFFFFF"/>
          </a:solidFill>
          <a:ln w="12700">
            <a:solidFill>
              <a:srgbClr val="8FA3B8"/>
            </a:solidFill>
            <a:prstDash val="solid"/>
          </a:ln>
        </p:spPr>
      </p:sp>
      <p:sp>
        <p:nvSpPr>
          <p:cNvPr id="15" name="Text 13"/>
          <p:cNvSpPr txBox="1"/>
          <p:nvPr/>
        </p:nvSpPr>
        <p:spPr>
          <a:xfrm>
            <a:off x="3291840" y="2514600"/>
            <a:ext cx="1188720" cy="603504"/>
          </a:xfrm>
          <a:prstGeom prst="rect">
            <a:avLst/>
          </a:prstGeom>
          <a:noFill/>
          <a:ln/>
        </p:spPr>
        <p:txBody>
          <a:bodyPr wrap="square" lIns="25400" tIns="25400" rIns="25400" bIns="25400" rtlCol="0" anchor="ctr"/>
          <a:lstStyle/>
          <a:p>
            <a:pPr algn="ctr" indent="0" marL="0">
              <a:buNone/>
            </a:pPr>
            <a:r>
              <a:rPr lang="en-US" sz="1050" b="1" dirty="0">
                <a:solidFill>
                  <a:srgbClr val="1B2A41"/>
                </a:solidFill>
              </a:rPr>
              <a:t>Output</a:t>
            </a:r>
            <a:endParaRPr lang="en-US" sz="1050" dirty="0"/>
          </a:p>
          <a:p>
            <a:pPr algn="ctr" indent="0" marL="0">
              <a:buNone/>
            </a:pPr>
            <a:r>
              <a:rPr lang="en-US" sz="900" dirty="0">
                <a:solidFill>
                  <a:srgbClr val="1B2A41"/>
                </a:solidFill>
              </a:rPr>
              <a:t>event JSON + report</a:t>
            </a:r>
            <a:endParaRPr lang="en-US" sz="1050" dirty="0"/>
          </a:p>
        </p:txBody>
      </p:sp>
      <p:pic>
        <p:nvPicPr>
          <p:cNvPr id="16" name="Image 0" descr="preencoded.png">    </p:cNvPr>
          <p:cNvPicPr>
            <a:picLocks noChangeAspect="1"/>
          </p:cNvPicPr>
          <p:nvPr/>
        </p:nvPicPr>
        <p:blipFill>
          <a:blip r:embed="rId1"/>
          <a:stretch>
            <a:fillRect/>
          </a:stretch>
        </p:blipFill>
        <p:spPr>
          <a:xfrm>
            <a:off x="457200" y="3246120"/>
            <a:ext cx="201168" cy="201168"/>
          </a:xfrm>
          <a:prstGeom prst="rect">
            <a:avLst/>
          </a:prstGeom>
        </p:spPr>
      </p:pic>
      <p:sp>
        <p:nvSpPr>
          <p:cNvPr id="17" name="Text 14"/>
          <p:cNvSpPr txBox="1"/>
          <p:nvPr/>
        </p:nvSpPr>
        <p:spPr>
          <a:xfrm>
            <a:off x="749808" y="3218688"/>
            <a:ext cx="3657600" cy="256032"/>
          </a:xfrm>
          <a:prstGeom prst="rect">
            <a:avLst/>
          </a:prstGeom>
          <a:noFill/>
          <a:ln/>
        </p:spPr>
        <p:txBody>
          <a:bodyPr wrap="square" lIns="0" tIns="0" rIns="0" bIns="0" rtlCol="0" anchor="ctr"/>
          <a:lstStyle/>
          <a:p>
            <a:pPr indent="0" marL="0">
              <a:buNone/>
            </a:pPr>
            <a:r>
              <a:rPr lang="en-US" sz="1100" b="1" dirty="0">
                <a:solidFill>
                  <a:srgbClr val="1B2A41"/>
                </a:solidFill>
              </a:rPr>
              <a:t>User: </a:t>
            </a:r>
            <a:pPr indent="0" marL="0">
              <a:buNone/>
            </a:pPr>
            <a:r>
              <a:rPr lang="en-US" sz="1100" dirty="0">
                <a:solidFill>
                  <a:srgbClr val="1B2A41"/>
                </a:solidFill>
              </a:rPr>
              <a:t>traffic-operations centre operator</a:t>
            </a:r>
            <a:endParaRPr lang="en-US" sz="1100" dirty="0"/>
          </a:p>
        </p:txBody>
      </p:sp>
      <p:sp>
        <p:nvSpPr>
          <p:cNvPr id="18" name="Shape 15"/>
          <p:cNvSpPr/>
          <p:nvPr/>
        </p:nvSpPr>
        <p:spPr>
          <a:xfrm>
            <a:off x="457200" y="3584448"/>
            <a:ext cx="1938528" cy="960120"/>
          </a:xfrm>
          <a:prstGeom prst="roundRect">
            <a:avLst>
              <a:gd name="adj" fmla="val 7619"/>
            </a:avLst>
          </a:prstGeom>
          <a:solidFill>
            <a:srgbClr val="E8F5F3"/>
          </a:solidFill>
          <a:ln w="12700">
            <a:solidFill>
              <a:srgbClr val="E8F5F3"/>
            </a:solidFill>
            <a:prstDash val="solid"/>
          </a:ln>
        </p:spPr>
      </p:sp>
      <p:sp>
        <p:nvSpPr>
          <p:cNvPr id="19" name="Text 16"/>
          <p:cNvSpPr txBox="1"/>
          <p:nvPr/>
        </p:nvSpPr>
        <p:spPr>
          <a:xfrm>
            <a:off x="594360" y="3639312"/>
            <a:ext cx="1737360" cy="237744"/>
          </a:xfrm>
          <a:prstGeom prst="rect">
            <a:avLst/>
          </a:prstGeom>
          <a:noFill/>
          <a:ln/>
        </p:spPr>
        <p:txBody>
          <a:bodyPr wrap="square" lIns="0" tIns="0" rIns="0" bIns="0" rtlCol="0" anchor="ctr"/>
          <a:lstStyle/>
          <a:p>
            <a:pPr indent="0" marL="0">
              <a:buNone/>
            </a:pPr>
            <a:r>
              <a:rPr lang="en-US" sz="1100" b="1" dirty="0">
                <a:solidFill>
                  <a:srgbClr val="2A9D8F"/>
                </a:solidFill>
              </a:rPr>
              <a:t>In scope</a:t>
            </a:r>
            <a:endParaRPr lang="en-US" sz="1100" dirty="0"/>
          </a:p>
        </p:txBody>
      </p:sp>
      <p:sp>
        <p:nvSpPr>
          <p:cNvPr id="20" name="Shape 17"/>
          <p:cNvSpPr/>
          <p:nvPr/>
        </p:nvSpPr>
        <p:spPr>
          <a:xfrm>
            <a:off x="594360" y="3945636"/>
            <a:ext cx="73152" cy="73152"/>
          </a:xfrm>
          <a:prstGeom prst="ellipse">
            <a:avLst/>
          </a:prstGeom>
          <a:solidFill>
            <a:srgbClr val="2A9D8F"/>
          </a:solidFill>
          <a:ln w="12700">
            <a:solidFill>
              <a:srgbClr val="2A9D8F"/>
            </a:solidFill>
            <a:prstDash val="solid"/>
          </a:ln>
        </p:spPr>
      </p:sp>
      <p:sp>
        <p:nvSpPr>
          <p:cNvPr id="21" name="Text 18"/>
          <p:cNvSpPr txBox="1"/>
          <p:nvPr/>
        </p:nvSpPr>
        <p:spPr>
          <a:xfrm>
            <a:off x="777240" y="3877056"/>
            <a:ext cx="1600200" cy="210312"/>
          </a:xfrm>
          <a:prstGeom prst="rect">
            <a:avLst/>
          </a:prstGeom>
          <a:noFill/>
          <a:ln/>
        </p:spPr>
        <p:txBody>
          <a:bodyPr wrap="square" lIns="0" tIns="0" rIns="0" bIns="0" rtlCol="0" anchor="ctr"/>
          <a:lstStyle/>
          <a:p>
            <a:pPr indent="0" marL="0">
              <a:buNone/>
            </a:pPr>
            <a:r>
              <a:rPr lang="en-US" sz="950" dirty="0">
                <a:solidFill>
                  <a:srgbClr val="1B2A41"/>
                </a:solidFill>
              </a:rPr>
              <a:t>Fixed roadside CCTV</a:t>
            </a:r>
            <a:endParaRPr lang="en-US" sz="950" dirty="0"/>
          </a:p>
        </p:txBody>
      </p:sp>
      <p:sp>
        <p:nvSpPr>
          <p:cNvPr id="22" name="Shape 19"/>
          <p:cNvSpPr/>
          <p:nvPr/>
        </p:nvSpPr>
        <p:spPr>
          <a:xfrm>
            <a:off x="594360" y="4155948"/>
            <a:ext cx="73152" cy="73152"/>
          </a:xfrm>
          <a:prstGeom prst="ellipse">
            <a:avLst/>
          </a:prstGeom>
          <a:solidFill>
            <a:srgbClr val="2A9D8F"/>
          </a:solidFill>
          <a:ln w="12700">
            <a:solidFill>
              <a:srgbClr val="2A9D8F"/>
            </a:solidFill>
            <a:prstDash val="solid"/>
          </a:ln>
        </p:spPr>
      </p:sp>
      <p:sp>
        <p:nvSpPr>
          <p:cNvPr id="23" name="Text 20"/>
          <p:cNvSpPr txBox="1"/>
          <p:nvPr/>
        </p:nvSpPr>
        <p:spPr>
          <a:xfrm>
            <a:off x="777240" y="4087368"/>
            <a:ext cx="1600200" cy="210312"/>
          </a:xfrm>
          <a:prstGeom prst="rect">
            <a:avLst/>
          </a:prstGeom>
          <a:noFill/>
          <a:ln/>
        </p:spPr>
        <p:txBody>
          <a:bodyPr wrap="square" lIns="0" tIns="0" rIns="0" bIns="0" rtlCol="0" anchor="ctr"/>
          <a:lstStyle/>
          <a:p>
            <a:pPr indent="0" marL="0">
              <a:buNone/>
            </a:pPr>
            <a:r>
              <a:rPr lang="en-US" sz="950" dirty="0">
                <a:solidFill>
                  <a:srgbClr val="1B2A41"/>
                </a:solidFill>
              </a:rPr>
              <a:t>5 collision types</a:t>
            </a:r>
            <a:endParaRPr lang="en-US" sz="950" dirty="0"/>
          </a:p>
        </p:txBody>
      </p:sp>
      <p:sp>
        <p:nvSpPr>
          <p:cNvPr id="24" name="Shape 21"/>
          <p:cNvSpPr/>
          <p:nvPr/>
        </p:nvSpPr>
        <p:spPr>
          <a:xfrm>
            <a:off x="594360" y="4366260"/>
            <a:ext cx="73152" cy="73152"/>
          </a:xfrm>
          <a:prstGeom prst="ellipse">
            <a:avLst/>
          </a:prstGeom>
          <a:solidFill>
            <a:srgbClr val="2A9D8F"/>
          </a:solidFill>
          <a:ln w="12700">
            <a:solidFill>
              <a:srgbClr val="2A9D8F"/>
            </a:solidFill>
            <a:prstDash val="solid"/>
          </a:ln>
        </p:spPr>
      </p:sp>
      <p:sp>
        <p:nvSpPr>
          <p:cNvPr id="25" name="Text 22"/>
          <p:cNvSpPr txBox="1"/>
          <p:nvPr/>
        </p:nvSpPr>
        <p:spPr>
          <a:xfrm>
            <a:off x="777240" y="4297680"/>
            <a:ext cx="1600200" cy="210312"/>
          </a:xfrm>
          <a:prstGeom prst="rect">
            <a:avLst/>
          </a:prstGeom>
          <a:noFill/>
          <a:ln/>
        </p:spPr>
        <p:txBody>
          <a:bodyPr wrap="square" lIns="0" tIns="0" rIns="0" bIns="0" rtlCol="0" anchor="ctr"/>
          <a:lstStyle/>
          <a:p>
            <a:pPr indent="0" marL="0">
              <a:buNone/>
            </a:pPr>
            <a:r>
              <a:rPr lang="en-US" sz="950" dirty="0">
                <a:solidFill>
                  <a:srgbClr val="1B2A41"/>
                </a:solidFill>
              </a:rPr>
              <a:t>Replayed clips + human review</a:t>
            </a:r>
            <a:endParaRPr lang="en-US" sz="950" dirty="0"/>
          </a:p>
        </p:txBody>
      </p:sp>
      <p:sp>
        <p:nvSpPr>
          <p:cNvPr id="26" name="Shape 23"/>
          <p:cNvSpPr/>
          <p:nvPr/>
        </p:nvSpPr>
        <p:spPr>
          <a:xfrm>
            <a:off x="2542032" y="3584448"/>
            <a:ext cx="1938528" cy="960120"/>
          </a:xfrm>
          <a:prstGeom prst="roundRect">
            <a:avLst>
              <a:gd name="adj" fmla="val 7619"/>
            </a:avLst>
          </a:prstGeom>
          <a:solidFill>
            <a:srgbClr val="FCEDE8"/>
          </a:solidFill>
          <a:ln w="12700">
            <a:solidFill>
              <a:srgbClr val="FCEDE8"/>
            </a:solidFill>
            <a:prstDash val="solid"/>
          </a:ln>
        </p:spPr>
      </p:sp>
      <p:sp>
        <p:nvSpPr>
          <p:cNvPr id="27" name="Text 24"/>
          <p:cNvSpPr txBox="1"/>
          <p:nvPr/>
        </p:nvSpPr>
        <p:spPr>
          <a:xfrm>
            <a:off x="2679192" y="3639312"/>
            <a:ext cx="1737360" cy="237744"/>
          </a:xfrm>
          <a:prstGeom prst="rect">
            <a:avLst/>
          </a:prstGeom>
          <a:noFill/>
          <a:ln/>
        </p:spPr>
        <p:txBody>
          <a:bodyPr wrap="square" lIns="0" tIns="0" rIns="0" bIns="0" rtlCol="0" anchor="ctr"/>
          <a:lstStyle/>
          <a:p>
            <a:pPr indent="0" marL="0">
              <a:buNone/>
            </a:pPr>
            <a:r>
              <a:rPr lang="en-US" sz="1100" b="1" dirty="0">
                <a:solidFill>
                  <a:srgbClr val="E76F51"/>
                </a:solidFill>
              </a:rPr>
              <a:t>Out of scope</a:t>
            </a:r>
            <a:endParaRPr lang="en-US" sz="1100" dirty="0"/>
          </a:p>
        </p:txBody>
      </p:sp>
      <p:sp>
        <p:nvSpPr>
          <p:cNvPr id="28" name="Shape 25"/>
          <p:cNvSpPr/>
          <p:nvPr/>
        </p:nvSpPr>
        <p:spPr>
          <a:xfrm>
            <a:off x="2679192" y="3945636"/>
            <a:ext cx="73152" cy="73152"/>
          </a:xfrm>
          <a:prstGeom prst="ellipse">
            <a:avLst/>
          </a:prstGeom>
          <a:solidFill>
            <a:srgbClr val="E76F51"/>
          </a:solidFill>
          <a:ln w="12700">
            <a:solidFill>
              <a:srgbClr val="E76F51"/>
            </a:solidFill>
            <a:prstDash val="solid"/>
          </a:ln>
        </p:spPr>
      </p:sp>
      <p:sp>
        <p:nvSpPr>
          <p:cNvPr id="29" name="Text 26"/>
          <p:cNvSpPr txBox="1"/>
          <p:nvPr/>
        </p:nvSpPr>
        <p:spPr>
          <a:xfrm>
            <a:off x="2862072" y="3877056"/>
            <a:ext cx="1600200" cy="210312"/>
          </a:xfrm>
          <a:prstGeom prst="rect">
            <a:avLst/>
          </a:prstGeom>
          <a:noFill/>
          <a:ln/>
        </p:spPr>
        <p:txBody>
          <a:bodyPr wrap="square" lIns="0" tIns="0" rIns="0" bIns="0" rtlCol="0" anchor="ctr"/>
          <a:lstStyle/>
          <a:p>
            <a:pPr indent="0" marL="0">
              <a:buNone/>
            </a:pPr>
            <a:r>
              <a:rPr lang="en-US" sz="950" dirty="0">
                <a:solidFill>
                  <a:srgbClr val="1B2A41"/>
                </a:solidFill>
              </a:rPr>
              <a:t>Live deployment</a:t>
            </a:r>
            <a:endParaRPr lang="en-US" sz="950" dirty="0"/>
          </a:p>
        </p:txBody>
      </p:sp>
      <p:sp>
        <p:nvSpPr>
          <p:cNvPr id="30" name="Shape 27"/>
          <p:cNvSpPr/>
          <p:nvPr/>
        </p:nvSpPr>
        <p:spPr>
          <a:xfrm>
            <a:off x="2679192" y="4155948"/>
            <a:ext cx="73152" cy="73152"/>
          </a:xfrm>
          <a:prstGeom prst="ellipse">
            <a:avLst/>
          </a:prstGeom>
          <a:solidFill>
            <a:srgbClr val="E76F51"/>
          </a:solidFill>
          <a:ln w="12700">
            <a:solidFill>
              <a:srgbClr val="E76F51"/>
            </a:solidFill>
            <a:prstDash val="solid"/>
          </a:ln>
        </p:spPr>
      </p:sp>
      <p:sp>
        <p:nvSpPr>
          <p:cNvPr id="31" name="Text 28"/>
          <p:cNvSpPr txBox="1"/>
          <p:nvPr/>
        </p:nvSpPr>
        <p:spPr>
          <a:xfrm>
            <a:off x="2862072" y="4087368"/>
            <a:ext cx="1600200" cy="210312"/>
          </a:xfrm>
          <a:prstGeom prst="rect">
            <a:avLst/>
          </a:prstGeom>
          <a:noFill/>
          <a:ln/>
        </p:spPr>
        <p:txBody>
          <a:bodyPr wrap="square" lIns="0" tIns="0" rIns="0" bIns="0" rtlCol="0" anchor="ctr"/>
          <a:lstStyle/>
          <a:p>
            <a:pPr indent="0" marL="0">
              <a:buNone/>
            </a:pPr>
            <a:r>
              <a:rPr lang="en-US" sz="950" dirty="0">
                <a:solidFill>
                  <a:srgbClr val="1B2A41"/>
                </a:solidFill>
              </a:rPr>
              <a:t>Dashcam / in-cabin video</a:t>
            </a:r>
            <a:endParaRPr lang="en-US" sz="950" dirty="0"/>
          </a:p>
        </p:txBody>
      </p:sp>
      <p:sp>
        <p:nvSpPr>
          <p:cNvPr id="32" name="Shape 29"/>
          <p:cNvSpPr/>
          <p:nvPr/>
        </p:nvSpPr>
        <p:spPr>
          <a:xfrm>
            <a:off x="2679192" y="4366260"/>
            <a:ext cx="73152" cy="73152"/>
          </a:xfrm>
          <a:prstGeom prst="ellipse">
            <a:avLst/>
          </a:prstGeom>
          <a:solidFill>
            <a:srgbClr val="E76F51"/>
          </a:solidFill>
          <a:ln w="12700">
            <a:solidFill>
              <a:srgbClr val="E76F51"/>
            </a:solidFill>
            <a:prstDash val="solid"/>
          </a:ln>
        </p:spPr>
      </p:sp>
      <p:sp>
        <p:nvSpPr>
          <p:cNvPr id="33" name="Text 30"/>
          <p:cNvSpPr txBox="1"/>
          <p:nvPr/>
        </p:nvSpPr>
        <p:spPr>
          <a:xfrm>
            <a:off x="2862072" y="4297680"/>
            <a:ext cx="1600200" cy="210312"/>
          </a:xfrm>
          <a:prstGeom prst="rect">
            <a:avLst/>
          </a:prstGeom>
          <a:noFill/>
          <a:ln/>
        </p:spPr>
        <p:txBody>
          <a:bodyPr wrap="square" lIns="0" tIns="0" rIns="0" bIns="0" rtlCol="0" anchor="ctr"/>
          <a:lstStyle/>
          <a:p>
            <a:pPr indent="0" marL="0">
              <a:buNone/>
            </a:pPr>
            <a:r>
              <a:rPr lang="en-US" sz="950" dirty="0">
                <a:solidFill>
                  <a:srgbClr val="1B2A41"/>
                </a:solidFill>
              </a:rPr>
              <a:t>Enforcement decisions</a:t>
            </a:r>
            <a:endParaRPr lang="en-US" sz="950" dirty="0"/>
          </a:p>
        </p:txBody>
      </p:sp>
      <p:sp>
        <p:nvSpPr>
          <p:cNvPr id="34" name="Shape 31"/>
          <p:cNvSpPr/>
          <p:nvPr/>
        </p:nvSpPr>
        <p:spPr>
          <a:xfrm>
            <a:off x="4663440" y="1005840"/>
            <a:ext cx="4023360" cy="1691640"/>
          </a:xfrm>
          <a:prstGeom prst="roundRect">
            <a:avLst>
              <a:gd name="adj" fmla="val 4324"/>
            </a:avLst>
          </a:prstGeom>
          <a:solidFill>
            <a:srgbClr val="F2F5F9"/>
          </a:solidFill>
          <a:ln w="12700">
            <a:solidFill>
              <a:srgbClr val="F2F5F9"/>
            </a:solidFill>
            <a:prstDash val="solid"/>
          </a:ln>
        </p:spPr>
      </p:sp>
      <p:sp>
        <p:nvSpPr>
          <p:cNvPr id="35" name="Shape 32"/>
          <p:cNvSpPr/>
          <p:nvPr/>
        </p:nvSpPr>
        <p:spPr>
          <a:xfrm>
            <a:off x="4846320" y="1161288"/>
            <a:ext cx="1143000" cy="274320"/>
          </a:xfrm>
          <a:prstGeom prst="roundRect">
            <a:avLst>
              <a:gd name="adj" fmla="val 50000"/>
            </a:avLst>
          </a:prstGeom>
          <a:solidFill>
            <a:srgbClr val="1B2A41"/>
          </a:solidFill>
          <a:ln w="12700">
            <a:solidFill>
              <a:srgbClr val="1B2A41"/>
            </a:solidFill>
            <a:prstDash val="solid"/>
          </a:ln>
        </p:spPr>
      </p:sp>
      <p:sp>
        <p:nvSpPr>
          <p:cNvPr id="36" name="Text 33"/>
          <p:cNvSpPr txBox="1"/>
          <p:nvPr/>
        </p:nvSpPr>
        <p:spPr>
          <a:xfrm>
            <a:off x="4846320" y="1161288"/>
            <a:ext cx="1143000" cy="274320"/>
          </a:xfrm>
          <a:prstGeom prst="rect">
            <a:avLst/>
          </a:prstGeom>
          <a:noFill/>
          <a:ln/>
        </p:spPr>
        <p:txBody>
          <a:bodyPr wrap="square" lIns="0" tIns="0" rIns="0" bIns="0" rtlCol="0" anchor="ctr"/>
          <a:lstStyle/>
          <a:p>
            <a:pPr algn="ctr" indent="0" marL="0">
              <a:buNone/>
            </a:pPr>
            <a:r>
              <a:rPr lang="en-US" sz="950" b="1" dirty="0">
                <a:solidFill>
                  <a:srgbClr val="FFFFFF"/>
                </a:solidFill>
              </a:rPr>
              <a:t>RQ1 · Core</a:t>
            </a:r>
            <a:endParaRPr lang="en-US" sz="950" dirty="0"/>
          </a:p>
        </p:txBody>
      </p:sp>
      <p:sp>
        <p:nvSpPr>
          <p:cNvPr id="37" name="Text 34"/>
          <p:cNvSpPr txBox="1"/>
          <p:nvPr/>
        </p:nvSpPr>
        <p:spPr>
          <a:xfrm>
            <a:off x="6126480" y="1143000"/>
            <a:ext cx="2468880" cy="310896"/>
          </a:xfrm>
          <a:prstGeom prst="rect">
            <a:avLst/>
          </a:prstGeom>
          <a:noFill/>
          <a:ln/>
        </p:spPr>
        <p:txBody>
          <a:bodyPr wrap="square" lIns="0" tIns="0" rIns="0" bIns="0" rtlCol="0" anchor="ctr"/>
          <a:lstStyle/>
          <a:p>
            <a:pPr indent="0" marL="0">
              <a:buNone/>
            </a:pPr>
            <a:r>
              <a:rPr lang="en-US" sz="1300" b="1" dirty="0">
                <a:solidFill>
                  <a:srgbClr val="1B2A41"/>
                </a:solidFill>
              </a:rPr>
              <a:t>Synthetic → Real transfer</a:t>
            </a:r>
            <a:endParaRPr lang="en-US" sz="1300" dirty="0"/>
          </a:p>
        </p:txBody>
      </p:sp>
      <p:sp>
        <p:nvSpPr>
          <p:cNvPr id="38" name="Text 35"/>
          <p:cNvSpPr txBox="1"/>
          <p:nvPr/>
        </p:nvSpPr>
        <p:spPr>
          <a:xfrm>
            <a:off x="4846320" y="1572768"/>
            <a:ext cx="3657600" cy="1051560"/>
          </a:xfrm>
          <a:prstGeom prst="rect">
            <a:avLst/>
          </a:prstGeom>
          <a:noFill/>
          <a:ln/>
        </p:spPr>
        <p:txBody>
          <a:bodyPr wrap="square" lIns="0" tIns="0" rIns="0" bIns="0" rtlCol="0" anchor="t"/>
          <a:lstStyle/>
          <a:p>
            <a:pPr indent="0" marL="0">
              <a:buNone/>
            </a:pPr>
            <a:r>
              <a:rPr lang="en-US" sz="1200" dirty="0">
                <a:solidFill>
                  <a:srgbClr val="4A5B70"/>
                </a:solidFill>
              </a:rPr>
              <a:t>How well does a video model trained only on synthetic clips detect accidents in real CCTV, compared with a zero-shot large VLM and a QLoRA small VLM? How much VLM compute does it save as a cascade screen?</a:t>
            </a:r>
            <a:endParaRPr lang="en-US" sz="1200" dirty="0"/>
          </a:p>
        </p:txBody>
      </p:sp>
      <p:sp>
        <p:nvSpPr>
          <p:cNvPr id="39" name="Shape 36"/>
          <p:cNvSpPr/>
          <p:nvPr/>
        </p:nvSpPr>
        <p:spPr>
          <a:xfrm>
            <a:off x="4663440" y="2834640"/>
            <a:ext cx="4023360" cy="1691640"/>
          </a:xfrm>
          <a:prstGeom prst="roundRect">
            <a:avLst>
              <a:gd name="adj" fmla="val 4324"/>
            </a:avLst>
          </a:prstGeom>
          <a:solidFill>
            <a:srgbClr val="F2F5F9"/>
          </a:solidFill>
          <a:ln w="12700">
            <a:solidFill>
              <a:srgbClr val="F2F5F9"/>
            </a:solidFill>
            <a:prstDash val="solid"/>
          </a:ln>
        </p:spPr>
      </p:sp>
      <p:sp>
        <p:nvSpPr>
          <p:cNvPr id="40" name="Shape 37"/>
          <p:cNvSpPr/>
          <p:nvPr/>
        </p:nvSpPr>
        <p:spPr>
          <a:xfrm>
            <a:off x="4846320" y="2990088"/>
            <a:ext cx="1143000" cy="274320"/>
          </a:xfrm>
          <a:prstGeom prst="roundRect">
            <a:avLst>
              <a:gd name="adj" fmla="val 50000"/>
            </a:avLst>
          </a:prstGeom>
          <a:solidFill>
            <a:srgbClr val="E76F51"/>
          </a:solidFill>
          <a:ln w="12700">
            <a:solidFill>
              <a:srgbClr val="E76F51"/>
            </a:solidFill>
            <a:prstDash val="solid"/>
          </a:ln>
        </p:spPr>
      </p:sp>
      <p:sp>
        <p:nvSpPr>
          <p:cNvPr id="41" name="Text 38"/>
          <p:cNvSpPr txBox="1"/>
          <p:nvPr/>
        </p:nvSpPr>
        <p:spPr>
          <a:xfrm>
            <a:off x="4846320" y="2990088"/>
            <a:ext cx="1143000" cy="274320"/>
          </a:xfrm>
          <a:prstGeom prst="rect">
            <a:avLst/>
          </a:prstGeom>
          <a:noFill/>
          <a:ln/>
        </p:spPr>
        <p:txBody>
          <a:bodyPr wrap="square" lIns="0" tIns="0" rIns="0" bIns="0" rtlCol="0" anchor="ctr"/>
          <a:lstStyle/>
          <a:p>
            <a:pPr algn="ctr" indent="0" marL="0">
              <a:buNone/>
            </a:pPr>
            <a:r>
              <a:rPr lang="en-US" sz="950" b="1" dirty="0">
                <a:solidFill>
                  <a:srgbClr val="FFFFFF"/>
                </a:solidFill>
              </a:rPr>
              <a:t>RQ2 · Applied</a:t>
            </a:r>
            <a:endParaRPr lang="en-US" sz="950" dirty="0"/>
          </a:p>
        </p:txBody>
      </p:sp>
      <p:sp>
        <p:nvSpPr>
          <p:cNvPr id="42" name="Text 39"/>
          <p:cNvSpPr txBox="1"/>
          <p:nvPr/>
        </p:nvSpPr>
        <p:spPr>
          <a:xfrm>
            <a:off x="6126480" y="2971800"/>
            <a:ext cx="2468880" cy="310896"/>
          </a:xfrm>
          <a:prstGeom prst="rect">
            <a:avLst/>
          </a:prstGeom>
          <a:noFill/>
          <a:ln/>
        </p:spPr>
        <p:txBody>
          <a:bodyPr wrap="square" lIns="0" tIns="0" rIns="0" bIns="0" rtlCol="0" anchor="ctr"/>
          <a:lstStyle/>
          <a:p>
            <a:pPr indent="0" marL="0">
              <a:buNone/>
            </a:pPr>
            <a:r>
              <a:rPr lang="en-US" sz="1300" b="1" dirty="0">
                <a:solidFill>
                  <a:srgbClr val="1B2A41"/>
                </a:solidFill>
              </a:rPr>
              <a:t>Faithful incident reports</a:t>
            </a:r>
            <a:endParaRPr lang="en-US" sz="1300" dirty="0"/>
          </a:p>
        </p:txBody>
      </p:sp>
      <p:sp>
        <p:nvSpPr>
          <p:cNvPr id="43" name="Text 40"/>
          <p:cNvSpPr txBox="1"/>
          <p:nvPr/>
        </p:nvSpPr>
        <p:spPr>
          <a:xfrm>
            <a:off x="4846320" y="3401568"/>
            <a:ext cx="3657600" cy="1051560"/>
          </a:xfrm>
          <a:prstGeom prst="rect">
            <a:avLst/>
          </a:prstGeom>
          <a:noFill/>
          <a:ln/>
        </p:spPr>
        <p:txBody>
          <a:bodyPr wrap="square" lIns="0" tIns="0" rIns="0" bIns="0" rtlCol="0" anchor="t"/>
          <a:lstStyle/>
          <a:p>
            <a:pPr indent="0" marL="0">
              <a:buNone/>
            </a:pPr>
            <a:r>
              <a:rPr lang="en-US" sz="1200" dirty="0">
                <a:solidFill>
                  <a:srgbClr val="4A5B70"/>
                </a:solidFill>
              </a:rPr>
              <a:t>Are the assistant's reports faithful to the stored events and the retrieved procedures? Does RAG beat no retrieval and the full corpus in the prompt?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adge"/>
          <p:cNvSpPr/>
          <p:nvPr/>
        </p:nvSpPr>
        <p:spPr>
          <a:xfrm>
            <a:off x="457200" y="320040"/>
            <a:ext cx="457200" cy="457200"/>
          </a:xfrm>
          <a:prstGeom prst="ellipse">
            <a:avLst/>
          </a:prstGeom>
          <a:solidFill>
            <a:srgbClr val="F2A900"/>
          </a:solidFill>
          <a:ln w="12700">
            <a:solidFill>
              <a:srgbClr val="F2A900"/>
            </a:solidFill>
            <a:prstDash val="solid"/>
          </a:ln>
        </p:spPr>
      </p:sp>
      <p:sp>
        <p:nvSpPr>
          <p:cNvPr id="3" name="Text 1"/>
          <p:cNvSpPr txBox="1"/>
          <p:nvPr/>
        </p:nvSpPr>
        <p:spPr>
          <a:xfrm>
            <a:off x="457200" y="32004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4" name="Text 1"/>
          <p:cNvSpPr/>
          <p:nvPr>
            <p:ph idx="101" type="title" hasCustomPrompt="1"/>
          </p:nvPr>
        </p:nvSpPr>
        <p:spPr>
          <a:xfrm>
            <a:off x="1097280" y="292608"/>
            <a:ext cx="7589520" cy="548640"/>
          </a:xfrm>
          <a:prstGeom prst="rect">
            <a:avLst/>
          </a:prstGeom>
          <a:noFill/>
          <a:ln/>
        </p:spPr>
        <p:txBody>
          <a:bodyPr wrap="square" lIns="0" tIns="0" rIns="0" bIns="0" rtlCol="0" anchor="ctr"/>
          <a:lstStyle/>
          <a:p>
            <a:pPr algn="l" indent="0" marL="0">
              <a:buNone/>
            </a:pPr>
            <a:r>
              <a:rPr lang="en-US" sz="2600" b="1" dirty="0">
                <a:solidFill>
                  <a:schemeClr val="tx1"/>
                </a:solidFill>
              </a:rPr>
              <a:t>Framing Pack — Approach</a:t>
            </a:r>
            <a:endParaRPr lang="en-US" sz="2600" dirty="0"/>
          </a:p>
        </p:txBody>
      </p:sp>
      <p:sp>
        <p:nvSpPr>
          <p:cNvPr id="5" name="Shape 3"/>
          <p:cNvSpPr/>
          <p:nvPr/>
        </p:nvSpPr>
        <p:spPr>
          <a:xfrm>
            <a:off x="457200" y="1005840"/>
            <a:ext cx="1517904" cy="1965960"/>
          </a:xfrm>
          <a:prstGeom prst="roundRect">
            <a:avLst>
              <a:gd name="adj" fmla="val 4819"/>
            </a:avLst>
          </a:prstGeom>
          <a:solidFill>
            <a:srgbClr val="F2F5F9"/>
          </a:solidFill>
          <a:ln w="12700">
            <a:solidFill>
              <a:srgbClr val="F2F5F9"/>
            </a:solidFill>
            <a:prstDash val="solid"/>
          </a:ln>
        </p:spPr>
      </p:sp>
      <p:sp>
        <p:nvSpPr>
          <p:cNvPr id="6" name="Shape 4"/>
          <p:cNvSpPr/>
          <p:nvPr/>
        </p:nvSpPr>
        <p:spPr>
          <a:xfrm>
            <a:off x="941832" y="1143000"/>
            <a:ext cx="548640" cy="548640"/>
          </a:xfrm>
          <a:prstGeom prst="ellipse">
            <a:avLst/>
          </a:prstGeom>
          <a:solidFill>
            <a:srgbClr val="1B2A41"/>
          </a:solidFill>
          <a:ln w="12700">
            <a:solidFill>
              <a:srgbClr val="1B2A41"/>
            </a:solidFill>
            <a:prstDash val="solid"/>
          </a:ln>
        </p:spPr>
      </p:sp>
      <p:pic>
        <p:nvPicPr>
          <p:cNvPr id="7" name="Image 0" descr="preencoded.png">    </p:cNvPr>
          <p:cNvPicPr>
            <a:picLocks noChangeAspect="1"/>
          </p:cNvPicPr>
          <p:nvPr/>
        </p:nvPicPr>
        <p:blipFill>
          <a:blip r:embed="rId1"/>
          <a:stretch>
            <a:fillRect/>
          </a:stretch>
        </p:blipFill>
        <p:spPr>
          <a:xfrm>
            <a:off x="1078992" y="1280160"/>
            <a:ext cx="274320" cy="274320"/>
          </a:xfrm>
          <a:prstGeom prst="rect">
            <a:avLst/>
          </a:prstGeom>
        </p:spPr>
      </p:pic>
      <p:sp>
        <p:nvSpPr>
          <p:cNvPr id="8" name="Text 5"/>
          <p:cNvSpPr txBox="1"/>
          <p:nvPr/>
        </p:nvSpPr>
        <p:spPr>
          <a:xfrm>
            <a:off x="548640" y="1783080"/>
            <a:ext cx="1335024" cy="365760"/>
          </a:xfrm>
          <a:prstGeom prst="rect">
            <a:avLst/>
          </a:prstGeom>
          <a:noFill/>
          <a:ln/>
        </p:spPr>
        <p:txBody>
          <a:bodyPr wrap="square" lIns="0" tIns="0" rIns="0" bIns="0" rtlCol="0" anchor="ctr"/>
          <a:lstStyle/>
          <a:p>
            <a:pPr algn="ctr" indent="0" marL="0">
              <a:buNone/>
            </a:pPr>
            <a:r>
              <a:rPr lang="en-US" sz="1300" b="1" dirty="0">
                <a:solidFill>
                  <a:srgbClr val="1B2A41"/>
                </a:solidFill>
              </a:rPr>
              <a:t>1. Video classifier</a:t>
            </a:r>
            <a:endParaRPr lang="en-US" sz="1300" dirty="0"/>
          </a:p>
        </p:txBody>
      </p:sp>
      <p:sp>
        <p:nvSpPr>
          <p:cNvPr id="9" name="Text 6"/>
          <p:cNvSpPr txBox="1"/>
          <p:nvPr/>
        </p:nvSpPr>
        <p:spPr>
          <a:xfrm>
            <a:off x="566928" y="2167128"/>
            <a:ext cx="1298448" cy="731520"/>
          </a:xfrm>
          <a:prstGeom prst="rect">
            <a:avLst/>
          </a:prstGeom>
          <a:noFill/>
          <a:ln/>
        </p:spPr>
        <p:txBody>
          <a:bodyPr wrap="square" lIns="0" tIns="0" rIns="0" bIns="0" rtlCol="0" anchor="t"/>
          <a:lstStyle/>
          <a:p>
            <a:pPr algn="ctr" indent="0" marL="0">
              <a:buNone/>
            </a:pPr>
            <a:r>
              <a:rPr lang="en-US" sz="1100" dirty="0">
                <a:solidFill>
                  <a:srgbClr val="4A5B70"/>
                </a:solidFill>
              </a:rPr>
              <a:t>VideoMAE / X3D fine-tuned on synthetic clips</a:t>
            </a:r>
            <a:endParaRPr lang="en-US" sz="1100" dirty="0"/>
          </a:p>
        </p:txBody>
      </p:sp>
      <p:sp>
        <p:nvSpPr>
          <p:cNvPr id="10" name="Shape 7"/>
          <p:cNvSpPr/>
          <p:nvPr/>
        </p:nvSpPr>
        <p:spPr>
          <a:xfrm>
            <a:off x="2139696" y="1005840"/>
            <a:ext cx="1517904" cy="1965960"/>
          </a:xfrm>
          <a:prstGeom prst="roundRect">
            <a:avLst>
              <a:gd name="adj" fmla="val 4819"/>
            </a:avLst>
          </a:prstGeom>
          <a:solidFill>
            <a:srgbClr val="F2F5F9"/>
          </a:solidFill>
          <a:ln w="12700">
            <a:solidFill>
              <a:srgbClr val="F2F5F9"/>
            </a:solidFill>
            <a:prstDash val="solid"/>
          </a:ln>
        </p:spPr>
      </p:sp>
      <p:sp>
        <p:nvSpPr>
          <p:cNvPr id="11" name="Shape 8"/>
          <p:cNvSpPr/>
          <p:nvPr/>
        </p:nvSpPr>
        <p:spPr>
          <a:xfrm>
            <a:off x="2624328" y="1143000"/>
            <a:ext cx="548640" cy="548640"/>
          </a:xfrm>
          <a:prstGeom prst="ellipse">
            <a:avLst/>
          </a:prstGeom>
          <a:solidFill>
            <a:srgbClr val="1B2A41"/>
          </a:solidFill>
          <a:ln w="12700">
            <a:solidFill>
              <a:srgbClr val="1B2A41"/>
            </a:solidFill>
            <a:prstDash val="solid"/>
          </a:ln>
        </p:spPr>
      </p:sp>
      <p:pic>
        <p:nvPicPr>
          <p:cNvPr id="12" name="Image 1" descr="preencoded.png">    </p:cNvPr>
          <p:cNvPicPr>
            <a:picLocks noChangeAspect="1"/>
          </p:cNvPicPr>
          <p:nvPr/>
        </p:nvPicPr>
        <p:blipFill>
          <a:blip r:embed="rId2"/>
          <a:stretch>
            <a:fillRect/>
          </a:stretch>
        </p:blipFill>
        <p:spPr>
          <a:xfrm>
            <a:off x="2761488" y="1280160"/>
            <a:ext cx="274320" cy="274320"/>
          </a:xfrm>
          <a:prstGeom prst="rect">
            <a:avLst/>
          </a:prstGeom>
        </p:spPr>
      </p:pic>
      <p:sp>
        <p:nvSpPr>
          <p:cNvPr id="13" name="Text 9"/>
          <p:cNvSpPr txBox="1"/>
          <p:nvPr/>
        </p:nvSpPr>
        <p:spPr>
          <a:xfrm>
            <a:off x="2231136" y="1783080"/>
            <a:ext cx="1335024" cy="365760"/>
          </a:xfrm>
          <a:prstGeom prst="rect">
            <a:avLst/>
          </a:prstGeom>
          <a:noFill/>
          <a:ln/>
        </p:spPr>
        <p:txBody>
          <a:bodyPr wrap="square" lIns="0" tIns="0" rIns="0" bIns="0" rtlCol="0" anchor="ctr"/>
          <a:lstStyle/>
          <a:p>
            <a:pPr algn="ctr" indent="0" marL="0">
              <a:buNone/>
            </a:pPr>
            <a:r>
              <a:rPr lang="en-US" sz="1300" b="1" dirty="0">
                <a:solidFill>
                  <a:srgbClr val="1B2A41"/>
                </a:solidFill>
              </a:rPr>
              <a:t>2. Zero-shot VLM</a:t>
            </a:r>
            <a:endParaRPr lang="en-US" sz="1300" dirty="0"/>
          </a:p>
        </p:txBody>
      </p:sp>
      <p:sp>
        <p:nvSpPr>
          <p:cNvPr id="14" name="Text 10"/>
          <p:cNvSpPr txBox="1"/>
          <p:nvPr/>
        </p:nvSpPr>
        <p:spPr>
          <a:xfrm>
            <a:off x="2249424" y="2167128"/>
            <a:ext cx="1298448" cy="731520"/>
          </a:xfrm>
          <a:prstGeom prst="rect">
            <a:avLst/>
          </a:prstGeom>
          <a:noFill/>
          <a:ln/>
        </p:spPr>
        <p:txBody>
          <a:bodyPr wrap="square" lIns="0" tIns="0" rIns="0" bIns="0" rtlCol="0" anchor="t"/>
          <a:lstStyle/>
          <a:p>
            <a:pPr algn="ctr" indent="0" marL="0">
              <a:buNone/>
            </a:pPr>
            <a:r>
              <a:rPr lang="en-US" sz="1100" dirty="0">
                <a:solidFill>
                  <a:srgbClr val="4A5B70"/>
                </a:solidFill>
              </a:rPr>
              <a:t>Two-pass, coarse-to-fine with YOLO tracking</a:t>
            </a:r>
            <a:endParaRPr lang="en-US" sz="1100" dirty="0"/>
          </a:p>
        </p:txBody>
      </p:sp>
      <p:sp>
        <p:nvSpPr>
          <p:cNvPr id="15" name="Shape 11"/>
          <p:cNvSpPr/>
          <p:nvPr/>
        </p:nvSpPr>
        <p:spPr>
          <a:xfrm>
            <a:off x="3822192" y="1005840"/>
            <a:ext cx="1517904" cy="1965960"/>
          </a:xfrm>
          <a:prstGeom prst="roundRect">
            <a:avLst>
              <a:gd name="adj" fmla="val 4819"/>
            </a:avLst>
          </a:prstGeom>
          <a:solidFill>
            <a:srgbClr val="F2F5F9"/>
          </a:solidFill>
          <a:ln w="12700">
            <a:solidFill>
              <a:srgbClr val="F2F5F9"/>
            </a:solidFill>
            <a:prstDash val="solid"/>
          </a:ln>
        </p:spPr>
      </p:sp>
      <p:sp>
        <p:nvSpPr>
          <p:cNvPr id="16" name="Shape 12"/>
          <p:cNvSpPr/>
          <p:nvPr/>
        </p:nvSpPr>
        <p:spPr>
          <a:xfrm>
            <a:off x="4306824" y="1143000"/>
            <a:ext cx="548640" cy="548640"/>
          </a:xfrm>
          <a:prstGeom prst="ellipse">
            <a:avLst/>
          </a:prstGeom>
          <a:solidFill>
            <a:srgbClr val="1B2A41"/>
          </a:solidFill>
          <a:ln w="12700">
            <a:solidFill>
              <a:srgbClr val="1B2A41"/>
            </a:solidFill>
            <a:prstDash val="solid"/>
          </a:ln>
        </p:spPr>
      </p:sp>
      <p:pic>
        <p:nvPicPr>
          <p:cNvPr id="17" name="Image 2" descr="preencoded.png">    </p:cNvPr>
          <p:cNvPicPr>
            <a:picLocks noChangeAspect="1"/>
          </p:cNvPicPr>
          <p:nvPr/>
        </p:nvPicPr>
        <p:blipFill>
          <a:blip r:embed="rId3"/>
          <a:stretch>
            <a:fillRect/>
          </a:stretch>
        </p:blipFill>
        <p:spPr>
          <a:xfrm>
            <a:off x="4443984" y="1280160"/>
            <a:ext cx="274320" cy="274320"/>
          </a:xfrm>
          <a:prstGeom prst="rect">
            <a:avLst/>
          </a:prstGeom>
        </p:spPr>
      </p:pic>
      <p:sp>
        <p:nvSpPr>
          <p:cNvPr id="18" name="Text 13"/>
          <p:cNvSpPr txBox="1"/>
          <p:nvPr/>
        </p:nvSpPr>
        <p:spPr>
          <a:xfrm>
            <a:off x="3913632" y="1783080"/>
            <a:ext cx="1335024" cy="365760"/>
          </a:xfrm>
          <a:prstGeom prst="rect">
            <a:avLst/>
          </a:prstGeom>
          <a:noFill/>
          <a:ln/>
        </p:spPr>
        <p:txBody>
          <a:bodyPr wrap="square" lIns="0" tIns="0" rIns="0" bIns="0" rtlCol="0" anchor="ctr"/>
          <a:lstStyle/>
          <a:p>
            <a:pPr algn="ctr" indent="0" marL="0">
              <a:buNone/>
            </a:pPr>
            <a:r>
              <a:rPr lang="en-US" sz="1300" b="1" dirty="0">
                <a:solidFill>
                  <a:srgbClr val="1B2A41"/>
                </a:solidFill>
              </a:rPr>
              <a:t>3. Small VLM</a:t>
            </a:r>
            <a:endParaRPr lang="en-US" sz="1300" dirty="0"/>
          </a:p>
        </p:txBody>
      </p:sp>
      <p:sp>
        <p:nvSpPr>
          <p:cNvPr id="19" name="Text 14"/>
          <p:cNvSpPr txBox="1"/>
          <p:nvPr/>
        </p:nvSpPr>
        <p:spPr>
          <a:xfrm>
            <a:off x="3931920" y="2167128"/>
            <a:ext cx="1298448" cy="731520"/>
          </a:xfrm>
          <a:prstGeom prst="rect">
            <a:avLst/>
          </a:prstGeom>
          <a:noFill/>
          <a:ln/>
        </p:spPr>
        <p:txBody>
          <a:bodyPr wrap="square" lIns="0" tIns="0" rIns="0" bIns="0" rtlCol="0" anchor="t"/>
          <a:lstStyle/>
          <a:p>
            <a:pPr algn="ctr" indent="0" marL="0">
              <a:buNone/>
            </a:pPr>
            <a:r>
              <a:rPr lang="en-US" sz="1100" dirty="0">
                <a:solidFill>
                  <a:srgbClr val="4A5B70"/>
                </a:solidFill>
              </a:rPr>
              <a:t>3–7B model fine-tuned with QLoRA</a:t>
            </a:r>
            <a:endParaRPr lang="en-US" sz="1100" dirty="0"/>
          </a:p>
        </p:txBody>
      </p:sp>
      <p:sp>
        <p:nvSpPr>
          <p:cNvPr id="20" name="Shape 15"/>
          <p:cNvSpPr/>
          <p:nvPr/>
        </p:nvSpPr>
        <p:spPr>
          <a:xfrm>
            <a:off x="5504688" y="1005840"/>
            <a:ext cx="1517904" cy="1965960"/>
          </a:xfrm>
          <a:prstGeom prst="roundRect">
            <a:avLst>
              <a:gd name="adj" fmla="val 4819"/>
            </a:avLst>
          </a:prstGeom>
          <a:solidFill>
            <a:srgbClr val="F2F5F9"/>
          </a:solidFill>
          <a:ln w="12700">
            <a:solidFill>
              <a:srgbClr val="F2F5F9"/>
            </a:solidFill>
            <a:prstDash val="solid"/>
          </a:ln>
        </p:spPr>
      </p:sp>
      <p:sp>
        <p:nvSpPr>
          <p:cNvPr id="21" name="Shape 16"/>
          <p:cNvSpPr/>
          <p:nvPr/>
        </p:nvSpPr>
        <p:spPr>
          <a:xfrm>
            <a:off x="5989320" y="1143000"/>
            <a:ext cx="548640" cy="548640"/>
          </a:xfrm>
          <a:prstGeom prst="ellipse">
            <a:avLst/>
          </a:prstGeom>
          <a:solidFill>
            <a:srgbClr val="F2A900"/>
          </a:solidFill>
          <a:ln w="12700">
            <a:solidFill>
              <a:srgbClr val="F2A900"/>
            </a:solidFill>
            <a:prstDash val="solid"/>
          </a:ln>
        </p:spPr>
      </p:sp>
      <p:pic>
        <p:nvPicPr>
          <p:cNvPr id="22" name="Image 3" descr="preencoded.png">    </p:cNvPr>
          <p:cNvPicPr>
            <a:picLocks noChangeAspect="1"/>
          </p:cNvPicPr>
          <p:nvPr/>
        </p:nvPicPr>
        <p:blipFill>
          <a:blip r:embed="rId4"/>
          <a:stretch>
            <a:fillRect/>
          </a:stretch>
        </p:blipFill>
        <p:spPr>
          <a:xfrm>
            <a:off x="6126480" y="1280160"/>
            <a:ext cx="274320" cy="274320"/>
          </a:xfrm>
          <a:prstGeom prst="rect">
            <a:avLst/>
          </a:prstGeom>
        </p:spPr>
      </p:pic>
      <p:sp>
        <p:nvSpPr>
          <p:cNvPr id="23" name="Text 17"/>
          <p:cNvSpPr txBox="1"/>
          <p:nvPr/>
        </p:nvSpPr>
        <p:spPr>
          <a:xfrm>
            <a:off x="5596128" y="1783080"/>
            <a:ext cx="1335024" cy="365760"/>
          </a:xfrm>
          <a:prstGeom prst="rect">
            <a:avLst/>
          </a:prstGeom>
          <a:noFill/>
          <a:ln/>
        </p:spPr>
        <p:txBody>
          <a:bodyPr wrap="square" lIns="0" tIns="0" rIns="0" bIns="0" rtlCol="0" anchor="ctr"/>
          <a:lstStyle/>
          <a:p>
            <a:pPr algn="ctr" indent="0" marL="0">
              <a:buNone/>
            </a:pPr>
            <a:r>
              <a:rPr lang="en-US" sz="1300" b="1" dirty="0">
                <a:solidFill>
                  <a:srgbClr val="1B2A41"/>
                </a:solidFill>
              </a:rPr>
              <a:t>4. Cascade</a:t>
            </a:r>
            <a:endParaRPr lang="en-US" sz="1300" dirty="0"/>
          </a:p>
        </p:txBody>
      </p:sp>
      <p:sp>
        <p:nvSpPr>
          <p:cNvPr id="24" name="Text 18"/>
          <p:cNvSpPr txBox="1"/>
          <p:nvPr/>
        </p:nvSpPr>
        <p:spPr>
          <a:xfrm>
            <a:off x="5614416" y="2167128"/>
            <a:ext cx="1298448" cy="731520"/>
          </a:xfrm>
          <a:prstGeom prst="rect">
            <a:avLst/>
          </a:prstGeom>
          <a:noFill/>
          <a:ln/>
        </p:spPr>
        <p:txBody>
          <a:bodyPr wrap="square" lIns="0" tIns="0" rIns="0" bIns="0" rtlCol="0" anchor="t"/>
          <a:lstStyle/>
          <a:p>
            <a:pPr algn="ctr" indent="0" marL="0">
              <a:buNone/>
            </a:pPr>
            <a:r>
              <a:rPr lang="en-US" sz="1100" dirty="0">
                <a:solidFill>
                  <a:srgbClr val="4A5B70"/>
                </a:solidFill>
              </a:rPr>
              <a:t>Only uncertain clips go to the VLM</a:t>
            </a:r>
            <a:endParaRPr lang="en-US" sz="1100" dirty="0"/>
          </a:p>
        </p:txBody>
      </p:sp>
      <p:sp>
        <p:nvSpPr>
          <p:cNvPr id="25" name="Shape 19"/>
          <p:cNvSpPr/>
          <p:nvPr/>
        </p:nvSpPr>
        <p:spPr>
          <a:xfrm>
            <a:off x="7187184" y="1005840"/>
            <a:ext cx="1517904" cy="1965960"/>
          </a:xfrm>
          <a:prstGeom prst="roundRect">
            <a:avLst>
              <a:gd name="adj" fmla="val 4819"/>
            </a:avLst>
          </a:prstGeom>
          <a:solidFill>
            <a:srgbClr val="F2F5F9"/>
          </a:solidFill>
          <a:ln w="12700">
            <a:solidFill>
              <a:srgbClr val="F2F5F9"/>
            </a:solidFill>
            <a:prstDash val="solid"/>
          </a:ln>
        </p:spPr>
      </p:sp>
      <p:sp>
        <p:nvSpPr>
          <p:cNvPr id="26" name="Shape 20"/>
          <p:cNvSpPr/>
          <p:nvPr/>
        </p:nvSpPr>
        <p:spPr>
          <a:xfrm>
            <a:off x="7671816" y="1143000"/>
            <a:ext cx="548640" cy="548640"/>
          </a:xfrm>
          <a:prstGeom prst="ellipse">
            <a:avLst/>
          </a:prstGeom>
          <a:solidFill>
            <a:srgbClr val="1B2A41"/>
          </a:solidFill>
          <a:ln w="12700">
            <a:solidFill>
              <a:srgbClr val="1B2A41"/>
            </a:solidFill>
            <a:prstDash val="solid"/>
          </a:ln>
        </p:spPr>
      </p:sp>
      <p:pic>
        <p:nvPicPr>
          <p:cNvPr id="27" name="Image 4" descr="preencoded.png">    </p:cNvPr>
          <p:cNvPicPr>
            <a:picLocks noChangeAspect="1"/>
          </p:cNvPicPr>
          <p:nvPr/>
        </p:nvPicPr>
        <p:blipFill>
          <a:blip r:embed="rId5"/>
          <a:stretch>
            <a:fillRect/>
          </a:stretch>
        </p:blipFill>
        <p:spPr>
          <a:xfrm>
            <a:off x="7808976" y="1280160"/>
            <a:ext cx="274320" cy="274320"/>
          </a:xfrm>
          <a:prstGeom prst="rect">
            <a:avLst/>
          </a:prstGeom>
        </p:spPr>
      </p:pic>
      <p:sp>
        <p:nvSpPr>
          <p:cNvPr id="28" name="Text 21"/>
          <p:cNvSpPr txBox="1"/>
          <p:nvPr/>
        </p:nvSpPr>
        <p:spPr>
          <a:xfrm>
            <a:off x="7278624" y="1783080"/>
            <a:ext cx="1335024" cy="365760"/>
          </a:xfrm>
          <a:prstGeom prst="rect">
            <a:avLst/>
          </a:prstGeom>
          <a:noFill/>
          <a:ln/>
        </p:spPr>
        <p:txBody>
          <a:bodyPr wrap="square" lIns="0" tIns="0" rIns="0" bIns="0" rtlCol="0" anchor="ctr"/>
          <a:lstStyle/>
          <a:p>
            <a:pPr algn="ctr" indent="0" marL="0">
              <a:buNone/>
            </a:pPr>
            <a:r>
              <a:rPr lang="en-US" sz="1300" b="1" dirty="0">
                <a:solidFill>
                  <a:srgbClr val="1B2A41"/>
                </a:solidFill>
              </a:rPr>
              <a:t>5. Assistant</a:t>
            </a:r>
            <a:endParaRPr lang="en-US" sz="1300" dirty="0"/>
          </a:p>
        </p:txBody>
      </p:sp>
      <p:sp>
        <p:nvSpPr>
          <p:cNvPr id="29" name="Text 22"/>
          <p:cNvSpPr txBox="1"/>
          <p:nvPr/>
        </p:nvSpPr>
        <p:spPr>
          <a:xfrm>
            <a:off x="7296912" y="2167128"/>
            <a:ext cx="1298448" cy="731520"/>
          </a:xfrm>
          <a:prstGeom prst="rect">
            <a:avLst/>
          </a:prstGeom>
          <a:noFill/>
          <a:ln/>
        </p:spPr>
        <p:txBody>
          <a:bodyPr wrap="square" lIns="0" tIns="0" rIns="0" bIns="0" rtlCol="0" anchor="t"/>
          <a:lstStyle/>
          <a:p>
            <a:pPr algn="ctr" indent="0" marL="0">
              <a:buNone/>
            </a:pPr>
            <a:r>
              <a:rPr lang="en-US" sz="1100" dirty="0">
                <a:solidFill>
                  <a:srgbClr val="4A5B70"/>
                </a:solidFill>
              </a:rPr>
              <a:t>LangGraph + RAG grounded reports</a:t>
            </a:r>
            <a:endParaRPr lang="en-US" sz="1100" dirty="0"/>
          </a:p>
        </p:txBody>
      </p:sp>
      <p:sp>
        <p:nvSpPr>
          <p:cNvPr id="30" name="Text 23"/>
          <p:cNvSpPr txBox="1"/>
          <p:nvPr/>
        </p:nvSpPr>
        <p:spPr>
          <a:xfrm>
            <a:off x="457200" y="3127248"/>
            <a:ext cx="2743200" cy="274320"/>
          </a:xfrm>
          <a:prstGeom prst="rect">
            <a:avLst/>
          </a:prstGeom>
          <a:noFill/>
          <a:ln/>
        </p:spPr>
        <p:txBody>
          <a:bodyPr wrap="square" lIns="0" tIns="0" rIns="0" bIns="0" rtlCol="0" anchor="ctr"/>
          <a:lstStyle/>
          <a:p>
            <a:pPr indent="0" marL="0">
              <a:buNone/>
            </a:pPr>
            <a:r>
              <a:rPr lang="en-US" sz="1200" b="1" dirty="0">
                <a:solidFill>
                  <a:srgbClr val="4A5B70"/>
                </a:solidFill>
              </a:rPr>
              <a:t>System flow</a:t>
            </a:r>
            <a:endParaRPr lang="en-US" sz="1200" dirty="0"/>
          </a:p>
        </p:txBody>
      </p:sp>
      <p:sp>
        <p:nvSpPr>
          <p:cNvPr id="31" name="Shape 24"/>
          <p:cNvSpPr/>
          <p:nvPr/>
        </p:nvSpPr>
        <p:spPr>
          <a:xfrm>
            <a:off x="457200" y="3456432"/>
            <a:ext cx="1143000" cy="548640"/>
          </a:xfrm>
          <a:prstGeom prst="roundRect">
            <a:avLst>
              <a:gd name="adj" fmla="val 13333"/>
            </a:avLst>
          </a:prstGeom>
          <a:solidFill>
            <a:srgbClr val="FFFFFF"/>
          </a:solidFill>
          <a:ln w="12700">
            <a:solidFill>
              <a:srgbClr val="8FA3B8"/>
            </a:solidFill>
            <a:prstDash val="solid"/>
          </a:ln>
        </p:spPr>
      </p:sp>
      <p:sp>
        <p:nvSpPr>
          <p:cNvPr id="32" name="Text 25"/>
          <p:cNvSpPr txBox="1"/>
          <p:nvPr/>
        </p:nvSpPr>
        <p:spPr>
          <a:xfrm>
            <a:off x="457200" y="3456432"/>
            <a:ext cx="1143000" cy="548640"/>
          </a:xfrm>
          <a:prstGeom prst="rect">
            <a:avLst/>
          </a:prstGeom>
          <a:noFill/>
          <a:ln/>
        </p:spPr>
        <p:txBody>
          <a:bodyPr wrap="square" lIns="25400" tIns="25400" rIns="25400" bIns="25400" rtlCol="0" anchor="ctr"/>
          <a:lstStyle/>
          <a:p>
            <a:pPr algn="ctr" indent="0" marL="0">
              <a:buNone/>
            </a:pPr>
            <a:r>
              <a:rPr lang="en-US" sz="1000" b="1" dirty="0">
                <a:solidFill>
                  <a:srgbClr val="1B2A41"/>
                </a:solidFill>
              </a:rPr>
              <a:t>CCTV clips</a:t>
            </a:r>
            <a:endParaRPr lang="en-US" sz="1000" dirty="0"/>
          </a:p>
        </p:txBody>
      </p:sp>
      <p:sp>
        <p:nvSpPr>
          <p:cNvPr id="33" name="Shape 26"/>
          <p:cNvSpPr/>
          <p:nvPr/>
        </p:nvSpPr>
        <p:spPr>
          <a:xfrm>
            <a:off x="1655064" y="3639312"/>
            <a:ext cx="146304" cy="182880"/>
          </a:xfrm>
          <a:prstGeom prst="rightArrow">
            <a:avLst/>
          </a:prstGeom>
          <a:solidFill>
            <a:srgbClr val="8FA3B8"/>
          </a:solidFill>
          <a:ln w="12700">
            <a:solidFill>
              <a:srgbClr val="8FA3B8"/>
            </a:solidFill>
            <a:prstDash val="solid"/>
          </a:ln>
        </p:spPr>
      </p:sp>
      <p:sp>
        <p:nvSpPr>
          <p:cNvPr id="34" name="Shape 27"/>
          <p:cNvSpPr/>
          <p:nvPr/>
        </p:nvSpPr>
        <p:spPr>
          <a:xfrm>
            <a:off x="1856232" y="3456432"/>
            <a:ext cx="1143000" cy="548640"/>
          </a:xfrm>
          <a:prstGeom prst="roundRect">
            <a:avLst>
              <a:gd name="adj" fmla="val 13333"/>
            </a:avLst>
          </a:prstGeom>
          <a:solidFill>
            <a:srgbClr val="FFF4D6"/>
          </a:solidFill>
          <a:ln w="12700">
            <a:solidFill>
              <a:srgbClr val="F2A900"/>
            </a:solidFill>
            <a:prstDash val="solid"/>
          </a:ln>
        </p:spPr>
      </p:sp>
      <p:sp>
        <p:nvSpPr>
          <p:cNvPr id="35" name="Text 28"/>
          <p:cNvSpPr txBox="1"/>
          <p:nvPr/>
        </p:nvSpPr>
        <p:spPr>
          <a:xfrm>
            <a:off x="1856232" y="3456432"/>
            <a:ext cx="1143000" cy="548640"/>
          </a:xfrm>
          <a:prstGeom prst="rect">
            <a:avLst/>
          </a:prstGeom>
          <a:noFill/>
          <a:ln/>
        </p:spPr>
        <p:txBody>
          <a:bodyPr wrap="square" lIns="25400" tIns="25400" rIns="25400" bIns="25400" rtlCol="0" anchor="ctr"/>
          <a:lstStyle/>
          <a:p>
            <a:pPr algn="ctr" indent="0" marL="0">
              <a:buNone/>
            </a:pPr>
            <a:r>
              <a:rPr lang="en-US" sz="1000" b="1" dirty="0">
                <a:solidFill>
                  <a:srgbClr val="1B2A41"/>
                </a:solidFill>
              </a:rPr>
              <a:t>Trained screen</a:t>
            </a:r>
            <a:endParaRPr lang="en-US" sz="1000" dirty="0"/>
          </a:p>
        </p:txBody>
      </p:sp>
      <p:sp>
        <p:nvSpPr>
          <p:cNvPr id="36" name="Shape 29"/>
          <p:cNvSpPr/>
          <p:nvPr/>
        </p:nvSpPr>
        <p:spPr>
          <a:xfrm>
            <a:off x="3054096" y="3639312"/>
            <a:ext cx="146304" cy="182880"/>
          </a:xfrm>
          <a:prstGeom prst="rightArrow">
            <a:avLst/>
          </a:prstGeom>
          <a:solidFill>
            <a:srgbClr val="8FA3B8"/>
          </a:solidFill>
          <a:ln w="12700">
            <a:solidFill>
              <a:srgbClr val="8FA3B8"/>
            </a:solidFill>
            <a:prstDash val="solid"/>
          </a:ln>
        </p:spPr>
      </p:sp>
      <p:sp>
        <p:nvSpPr>
          <p:cNvPr id="37" name="Shape 30"/>
          <p:cNvSpPr/>
          <p:nvPr/>
        </p:nvSpPr>
        <p:spPr>
          <a:xfrm>
            <a:off x="3255264" y="3456432"/>
            <a:ext cx="1143000" cy="548640"/>
          </a:xfrm>
          <a:prstGeom prst="roundRect">
            <a:avLst>
              <a:gd name="adj" fmla="val 13333"/>
            </a:avLst>
          </a:prstGeom>
          <a:solidFill>
            <a:srgbClr val="FFF4D6"/>
          </a:solidFill>
          <a:ln w="12700">
            <a:solidFill>
              <a:srgbClr val="F2A900"/>
            </a:solidFill>
            <a:prstDash val="solid"/>
          </a:ln>
        </p:spPr>
      </p:sp>
      <p:sp>
        <p:nvSpPr>
          <p:cNvPr id="38" name="Text 31"/>
          <p:cNvSpPr txBox="1"/>
          <p:nvPr/>
        </p:nvSpPr>
        <p:spPr>
          <a:xfrm>
            <a:off x="3255264" y="3456432"/>
            <a:ext cx="1143000" cy="548640"/>
          </a:xfrm>
          <a:prstGeom prst="rect">
            <a:avLst/>
          </a:prstGeom>
          <a:noFill/>
          <a:ln/>
        </p:spPr>
        <p:txBody>
          <a:bodyPr wrap="square" lIns="25400" tIns="25400" rIns="25400" bIns="25400" rtlCol="0" anchor="ctr"/>
          <a:lstStyle/>
          <a:p>
            <a:pPr algn="ctr" indent="0" marL="0">
              <a:buNone/>
            </a:pPr>
            <a:r>
              <a:rPr lang="en-US" sz="1000" b="1" dirty="0">
                <a:solidFill>
                  <a:srgbClr val="1B2A41"/>
                </a:solidFill>
              </a:rPr>
              <a:t>VLM (uncertain)</a:t>
            </a:r>
            <a:endParaRPr lang="en-US" sz="1000" dirty="0"/>
          </a:p>
        </p:txBody>
      </p:sp>
      <p:sp>
        <p:nvSpPr>
          <p:cNvPr id="39" name="Shape 32"/>
          <p:cNvSpPr/>
          <p:nvPr/>
        </p:nvSpPr>
        <p:spPr>
          <a:xfrm>
            <a:off x="4453128" y="3639312"/>
            <a:ext cx="146304" cy="182880"/>
          </a:xfrm>
          <a:prstGeom prst="rightArrow">
            <a:avLst/>
          </a:prstGeom>
          <a:solidFill>
            <a:srgbClr val="8FA3B8"/>
          </a:solidFill>
          <a:ln w="12700">
            <a:solidFill>
              <a:srgbClr val="8FA3B8"/>
            </a:solidFill>
            <a:prstDash val="solid"/>
          </a:ln>
        </p:spPr>
      </p:sp>
      <p:sp>
        <p:nvSpPr>
          <p:cNvPr id="40" name="Shape 33"/>
          <p:cNvSpPr/>
          <p:nvPr/>
        </p:nvSpPr>
        <p:spPr>
          <a:xfrm>
            <a:off x="4654296" y="3456432"/>
            <a:ext cx="1143000" cy="548640"/>
          </a:xfrm>
          <a:prstGeom prst="roundRect">
            <a:avLst>
              <a:gd name="adj" fmla="val 13333"/>
            </a:avLst>
          </a:prstGeom>
          <a:solidFill>
            <a:srgbClr val="FFFFFF"/>
          </a:solidFill>
          <a:ln w="12700">
            <a:solidFill>
              <a:srgbClr val="8FA3B8"/>
            </a:solidFill>
            <a:prstDash val="solid"/>
          </a:ln>
        </p:spPr>
      </p:sp>
      <p:sp>
        <p:nvSpPr>
          <p:cNvPr id="41" name="Text 34"/>
          <p:cNvSpPr txBox="1"/>
          <p:nvPr/>
        </p:nvSpPr>
        <p:spPr>
          <a:xfrm>
            <a:off x="4654296" y="3456432"/>
            <a:ext cx="1143000" cy="548640"/>
          </a:xfrm>
          <a:prstGeom prst="rect">
            <a:avLst/>
          </a:prstGeom>
          <a:noFill/>
          <a:ln/>
        </p:spPr>
        <p:txBody>
          <a:bodyPr wrap="square" lIns="25400" tIns="25400" rIns="25400" bIns="25400" rtlCol="0" anchor="ctr"/>
          <a:lstStyle/>
          <a:p>
            <a:pPr algn="ctr" indent="0" marL="0">
              <a:buNone/>
            </a:pPr>
            <a:r>
              <a:rPr lang="en-US" sz="1000" b="1" dirty="0">
                <a:solidFill>
                  <a:srgbClr val="1B2A41"/>
                </a:solidFill>
              </a:rPr>
              <a:t>PostgreSQL + pgvector</a:t>
            </a:r>
            <a:endParaRPr lang="en-US" sz="1000" dirty="0"/>
          </a:p>
        </p:txBody>
      </p:sp>
      <p:sp>
        <p:nvSpPr>
          <p:cNvPr id="42" name="Shape 35"/>
          <p:cNvSpPr/>
          <p:nvPr/>
        </p:nvSpPr>
        <p:spPr>
          <a:xfrm>
            <a:off x="5852160" y="3639312"/>
            <a:ext cx="146304" cy="182880"/>
          </a:xfrm>
          <a:prstGeom prst="rightArrow">
            <a:avLst/>
          </a:prstGeom>
          <a:solidFill>
            <a:srgbClr val="8FA3B8"/>
          </a:solidFill>
          <a:ln w="12700">
            <a:solidFill>
              <a:srgbClr val="8FA3B8"/>
            </a:solidFill>
            <a:prstDash val="solid"/>
          </a:ln>
        </p:spPr>
      </p:sp>
      <p:sp>
        <p:nvSpPr>
          <p:cNvPr id="43" name="Shape 36"/>
          <p:cNvSpPr/>
          <p:nvPr/>
        </p:nvSpPr>
        <p:spPr>
          <a:xfrm>
            <a:off x="6053328" y="3456432"/>
            <a:ext cx="1143000" cy="548640"/>
          </a:xfrm>
          <a:prstGeom prst="roundRect">
            <a:avLst>
              <a:gd name="adj" fmla="val 13333"/>
            </a:avLst>
          </a:prstGeom>
          <a:solidFill>
            <a:srgbClr val="FFFFFF"/>
          </a:solidFill>
          <a:ln w="12700">
            <a:solidFill>
              <a:srgbClr val="8FA3B8"/>
            </a:solidFill>
            <a:prstDash val="solid"/>
          </a:ln>
        </p:spPr>
      </p:sp>
      <p:sp>
        <p:nvSpPr>
          <p:cNvPr id="44" name="Text 37"/>
          <p:cNvSpPr txBox="1"/>
          <p:nvPr/>
        </p:nvSpPr>
        <p:spPr>
          <a:xfrm>
            <a:off x="6053328" y="3456432"/>
            <a:ext cx="1143000" cy="548640"/>
          </a:xfrm>
          <a:prstGeom prst="rect">
            <a:avLst/>
          </a:prstGeom>
          <a:noFill/>
          <a:ln/>
        </p:spPr>
        <p:txBody>
          <a:bodyPr wrap="square" lIns="25400" tIns="25400" rIns="25400" bIns="25400" rtlCol="0" anchor="ctr"/>
          <a:lstStyle/>
          <a:p>
            <a:pPr algn="ctr" indent="0" marL="0">
              <a:buNone/>
            </a:pPr>
            <a:r>
              <a:rPr lang="en-US" sz="1000" b="1" dirty="0">
                <a:solidFill>
                  <a:srgbClr val="1B2A41"/>
                </a:solidFill>
              </a:rPr>
              <a:t>Assistant</a:t>
            </a:r>
            <a:endParaRPr lang="en-US" sz="1000" dirty="0"/>
          </a:p>
        </p:txBody>
      </p:sp>
      <p:sp>
        <p:nvSpPr>
          <p:cNvPr id="45" name="Shape 38"/>
          <p:cNvSpPr/>
          <p:nvPr/>
        </p:nvSpPr>
        <p:spPr>
          <a:xfrm>
            <a:off x="7251192" y="3639312"/>
            <a:ext cx="146304" cy="182880"/>
          </a:xfrm>
          <a:prstGeom prst="rightArrow">
            <a:avLst/>
          </a:prstGeom>
          <a:solidFill>
            <a:srgbClr val="8FA3B8"/>
          </a:solidFill>
          <a:ln w="12700">
            <a:solidFill>
              <a:srgbClr val="8FA3B8"/>
            </a:solidFill>
            <a:prstDash val="solid"/>
          </a:ln>
        </p:spPr>
      </p:sp>
      <p:sp>
        <p:nvSpPr>
          <p:cNvPr id="46" name="Shape 39"/>
          <p:cNvSpPr/>
          <p:nvPr/>
        </p:nvSpPr>
        <p:spPr>
          <a:xfrm>
            <a:off x="7452360" y="3456432"/>
            <a:ext cx="1143000" cy="548640"/>
          </a:xfrm>
          <a:prstGeom prst="roundRect">
            <a:avLst>
              <a:gd name="adj" fmla="val 13333"/>
            </a:avLst>
          </a:prstGeom>
          <a:solidFill>
            <a:srgbClr val="FFFFFF"/>
          </a:solidFill>
          <a:ln w="12700">
            <a:solidFill>
              <a:srgbClr val="8FA3B8"/>
            </a:solidFill>
            <a:prstDash val="solid"/>
          </a:ln>
        </p:spPr>
      </p:sp>
      <p:sp>
        <p:nvSpPr>
          <p:cNvPr id="47" name="Text 40"/>
          <p:cNvSpPr txBox="1"/>
          <p:nvPr/>
        </p:nvSpPr>
        <p:spPr>
          <a:xfrm>
            <a:off x="7452360" y="3456432"/>
            <a:ext cx="1143000" cy="548640"/>
          </a:xfrm>
          <a:prstGeom prst="rect">
            <a:avLst/>
          </a:prstGeom>
          <a:noFill/>
          <a:ln/>
        </p:spPr>
        <p:txBody>
          <a:bodyPr wrap="square" lIns="25400" tIns="25400" rIns="25400" bIns="25400" rtlCol="0" anchor="ctr"/>
          <a:lstStyle/>
          <a:p>
            <a:pPr algn="ctr" indent="0" marL="0">
              <a:buNone/>
            </a:pPr>
            <a:r>
              <a:rPr lang="en-US" sz="1000" b="1" dirty="0">
                <a:solidFill>
                  <a:srgbClr val="1B2A41"/>
                </a:solidFill>
              </a:rPr>
              <a:t>Dashboard</a:t>
            </a:r>
            <a:endParaRPr lang="en-US" sz="1000" dirty="0"/>
          </a:p>
        </p:txBody>
      </p:sp>
      <p:sp>
        <p:nvSpPr>
          <p:cNvPr id="48" name="Text 41"/>
          <p:cNvSpPr txBox="1"/>
          <p:nvPr/>
        </p:nvSpPr>
        <p:spPr>
          <a:xfrm>
            <a:off x="457200" y="4187952"/>
            <a:ext cx="8229600" cy="365760"/>
          </a:xfrm>
          <a:prstGeom prst="rect">
            <a:avLst/>
          </a:prstGeom>
          <a:noFill/>
          <a:ln/>
        </p:spPr>
        <p:txBody>
          <a:bodyPr wrap="square" lIns="0" tIns="0" rIns="0" bIns="0" rtlCol="0" anchor="ctr"/>
          <a:lstStyle/>
          <a:p>
            <a:pPr indent="0" marL="0">
              <a:buNone/>
            </a:pPr>
            <a:r>
              <a:rPr lang="en-US" sz="1050" b="1" dirty="0">
                <a:solidFill>
                  <a:srgbClr val="1B2A41"/>
                </a:solidFill>
              </a:rPr>
              <a:t>Tools: </a:t>
            </a:r>
            <a:pPr indent="0" marL="0">
              <a:buNone/>
            </a:pPr>
            <a:r>
              <a:rPr lang="en-US" sz="1050" dirty="0">
                <a:solidFill>
                  <a:srgbClr val="4A5B70"/>
                </a:solidFill>
              </a:rPr>
              <a:t>PyTorch · VideoMAE / X3D · open VLM + QLoRA · YOLO + tracking · PostgreSQL + pgvector · LangGraph · FastAPI · Streamlit · Docker Compose</a:t>
            </a:r>
            <a:endParaRPr lang="en-US" sz="10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adge"/>
          <p:cNvSpPr/>
          <p:nvPr/>
        </p:nvSpPr>
        <p:spPr>
          <a:xfrm>
            <a:off x="457200" y="320040"/>
            <a:ext cx="457200" cy="457200"/>
          </a:xfrm>
          <a:prstGeom prst="ellipse">
            <a:avLst/>
          </a:prstGeom>
          <a:solidFill>
            <a:srgbClr val="F2A900"/>
          </a:solidFill>
          <a:ln w="12700">
            <a:solidFill>
              <a:srgbClr val="F2A900"/>
            </a:solidFill>
            <a:prstDash val="solid"/>
          </a:ln>
        </p:spPr>
      </p:sp>
      <p:sp>
        <p:nvSpPr>
          <p:cNvPr id="3" name="Text 1"/>
          <p:cNvSpPr txBox="1"/>
          <p:nvPr/>
        </p:nvSpPr>
        <p:spPr>
          <a:xfrm>
            <a:off x="457200" y="32004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4" name="Text 1"/>
          <p:cNvSpPr/>
          <p:nvPr>
            <p:ph idx="101" type="title" hasCustomPrompt="1"/>
          </p:nvPr>
        </p:nvSpPr>
        <p:spPr>
          <a:xfrm>
            <a:off x="1097280" y="292608"/>
            <a:ext cx="7589520" cy="548640"/>
          </a:xfrm>
          <a:prstGeom prst="rect">
            <a:avLst/>
          </a:prstGeom>
          <a:noFill/>
          <a:ln/>
        </p:spPr>
        <p:txBody>
          <a:bodyPr wrap="square" lIns="0" tIns="0" rIns="0" bIns="0" rtlCol="0" anchor="ctr"/>
          <a:lstStyle/>
          <a:p>
            <a:pPr algn="l" indent="0" marL="0">
              <a:buNone/>
            </a:pPr>
            <a:r>
              <a:rPr lang="en-US" sz="2600" b="1" dirty="0">
                <a:solidFill>
                  <a:schemeClr val="tx1"/>
                </a:solidFill>
              </a:rPr>
              <a:t>Framing Pack — Baseline &amp; Success Threshold</a:t>
            </a:r>
            <a:endParaRPr lang="en-US" sz="2600" dirty="0"/>
          </a:p>
        </p:txBody>
      </p:sp>
      <p:graphicFrame>
        <p:nvGraphicFramePr>
          <p:cNvPr id="5" name="Chart 0" descr=""/>
          <p:cNvGraphicFramePr/>
          <p:nvPr/>
        </p:nvGraphicFramePr>
        <p:xfrm>
          <a:off x="365760" y="960120"/>
          <a:ext cx="4206240" cy="21945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457200" y="3246120"/>
            <a:ext cx="4023360" cy="1298448"/>
          </a:xfrm>
          <a:prstGeom prst="roundRect">
            <a:avLst>
              <a:gd name="adj" fmla="val 5634"/>
            </a:avLst>
          </a:prstGeom>
          <a:solidFill>
            <a:srgbClr val="F2F5F9"/>
          </a:solidFill>
          <a:ln w="12700">
            <a:solidFill>
              <a:srgbClr val="F2F5F9"/>
            </a:solidFill>
            <a:prstDash val="solid"/>
          </a:ln>
        </p:spPr>
      </p:sp>
      <p:sp>
        <p:nvSpPr>
          <p:cNvPr id="7" name="Text 4"/>
          <p:cNvSpPr txBox="1"/>
          <p:nvPr/>
        </p:nvSpPr>
        <p:spPr>
          <a:xfrm>
            <a:off x="640080" y="3310128"/>
            <a:ext cx="3657600" cy="274320"/>
          </a:xfrm>
          <a:prstGeom prst="rect">
            <a:avLst/>
          </a:prstGeom>
          <a:noFill/>
          <a:ln/>
        </p:spPr>
        <p:txBody>
          <a:bodyPr wrap="square" lIns="0" tIns="0" rIns="0" bIns="0" rtlCol="0" anchor="ctr"/>
          <a:lstStyle/>
          <a:p>
            <a:pPr indent="0" marL="0">
              <a:buNone/>
            </a:pPr>
            <a:r>
              <a:rPr lang="en-US" sz="1300" b="1" dirty="0">
                <a:solidFill>
                  <a:srgbClr val="1B2A41"/>
                </a:solidFill>
              </a:rPr>
              <a:t>We compare against</a:t>
            </a:r>
            <a:endParaRPr lang="en-US" sz="1300" dirty="0"/>
          </a:p>
        </p:txBody>
      </p:sp>
      <p:sp>
        <p:nvSpPr>
          <p:cNvPr id="8" name="Shape 5"/>
          <p:cNvSpPr/>
          <p:nvPr/>
        </p:nvSpPr>
        <p:spPr>
          <a:xfrm>
            <a:off x="685800" y="3721608"/>
            <a:ext cx="73152" cy="73152"/>
          </a:xfrm>
          <a:prstGeom prst="ellipse">
            <a:avLst/>
          </a:prstGeom>
          <a:solidFill>
            <a:srgbClr val="F2A900"/>
          </a:solidFill>
          <a:ln w="12700">
            <a:solidFill>
              <a:srgbClr val="F2A900"/>
            </a:solidFill>
            <a:prstDash val="solid"/>
          </a:ln>
        </p:spPr>
      </p:sp>
      <p:sp>
        <p:nvSpPr>
          <p:cNvPr id="9" name="Text 6"/>
          <p:cNvSpPr txBox="1"/>
          <p:nvPr/>
        </p:nvSpPr>
        <p:spPr>
          <a:xfrm>
            <a:off x="868680" y="3611880"/>
            <a:ext cx="3520440" cy="292608"/>
          </a:xfrm>
          <a:prstGeom prst="rect">
            <a:avLst/>
          </a:prstGeom>
          <a:noFill/>
          <a:ln/>
        </p:spPr>
        <p:txBody>
          <a:bodyPr wrap="square" lIns="0" tIns="0" rIns="0" bIns="0" rtlCol="0" anchor="ctr"/>
          <a:lstStyle/>
          <a:p>
            <a:pPr indent="0" marL="0">
              <a:buNone/>
            </a:pPr>
            <a:r>
              <a:rPr lang="en-US" sz="1100" b="1" dirty="0">
                <a:solidFill>
                  <a:srgbClr val="1B2A41"/>
                </a:solidFill>
                <a:highlight>
                  <a:srgbClr val="FFE08A"/>
                </a:highlight>
              </a:rPr>
              <a:t>ACCIDENT best baseline</a:t>
            </a:r>
            <a:pPr indent="0" marL="0">
              <a:buNone/>
            </a:pPr>
            <a:r>
              <a:rPr lang="en-US" sz="1100" dirty="0">
                <a:solidFill>
                  <a:srgbClr val="1B2A41"/>
                </a:solidFill>
              </a:rPr>
              <a:t> (ACCS 0.41) — main</a:t>
            </a:r>
            <a:endParaRPr lang="en-US" sz="1100" dirty="0"/>
          </a:p>
        </p:txBody>
      </p:sp>
      <p:sp>
        <p:nvSpPr>
          <p:cNvPr id="10" name="Shape 7"/>
          <p:cNvSpPr/>
          <p:nvPr/>
        </p:nvSpPr>
        <p:spPr>
          <a:xfrm>
            <a:off x="685800" y="4014216"/>
            <a:ext cx="73152" cy="73152"/>
          </a:xfrm>
          <a:prstGeom prst="ellipse">
            <a:avLst/>
          </a:prstGeom>
          <a:solidFill>
            <a:srgbClr val="F2A900"/>
          </a:solidFill>
          <a:ln w="12700">
            <a:solidFill>
              <a:srgbClr val="F2A900"/>
            </a:solidFill>
            <a:prstDash val="solid"/>
          </a:ln>
        </p:spPr>
      </p:sp>
      <p:sp>
        <p:nvSpPr>
          <p:cNvPr id="11" name="Text 8"/>
          <p:cNvSpPr txBox="1"/>
          <p:nvPr/>
        </p:nvSpPr>
        <p:spPr>
          <a:xfrm>
            <a:off x="868680" y="3904488"/>
            <a:ext cx="3520440" cy="292608"/>
          </a:xfrm>
          <a:prstGeom prst="rect">
            <a:avLst/>
          </a:prstGeom>
          <a:noFill/>
          <a:ln/>
        </p:spPr>
        <p:txBody>
          <a:bodyPr wrap="square" lIns="0" tIns="0" rIns="0" bIns="0" rtlCol="0" anchor="ctr"/>
          <a:lstStyle/>
          <a:p>
            <a:pPr indent="0" marL="0">
              <a:buNone/>
            </a:pPr>
            <a:r>
              <a:rPr lang="en-US" sz="1100" b="1" dirty="0">
                <a:solidFill>
                  <a:srgbClr val="1B2A41"/>
                </a:solidFill>
              </a:rPr>
              <a:t>Repo heuristics</a:t>
            </a:r>
            <a:pPr indent="0" marL="0">
              <a:buNone/>
            </a:pPr>
            <a:r>
              <a:rPr lang="en-US" sz="1100" dirty="0">
                <a:solidFill>
                  <a:srgbClr val="1B2A41"/>
                </a:solidFill>
              </a:rPr>
              <a:t> — naive, optical flow, bbox</a:t>
            </a:r>
            <a:endParaRPr lang="en-US" sz="1100" dirty="0"/>
          </a:p>
        </p:txBody>
      </p:sp>
      <p:sp>
        <p:nvSpPr>
          <p:cNvPr id="12" name="Shape 9"/>
          <p:cNvSpPr/>
          <p:nvPr/>
        </p:nvSpPr>
        <p:spPr>
          <a:xfrm>
            <a:off x="685800" y="4306824"/>
            <a:ext cx="73152" cy="73152"/>
          </a:xfrm>
          <a:prstGeom prst="ellipse">
            <a:avLst/>
          </a:prstGeom>
          <a:solidFill>
            <a:srgbClr val="F2A900"/>
          </a:solidFill>
          <a:ln w="12700">
            <a:solidFill>
              <a:srgbClr val="F2A900"/>
            </a:solidFill>
            <a:prstDash val="solid"/>
          </a:ln>
        </p:spPr>
      </p:sp>
      <p:sp>
        <p:nvSpPr>
          <p:cNvPr id="13" name="Text 10"/>
          <p:cNvSpPr txBox="1"/>
          <p:nvPr/>
        </p:nvSpPr>
        <p:spPr>
          <a:xfrm>
            <a:off x="868680" y="4197096"/>
            <a:ext cx="3520440" cy="292608"/>
          </a:xfrm>
          <a:prstGeom prst="rect">
            <a:avLst/>
          </a:prstGeom>
          <a:noFill/>
          <a:ln/>
        </p:spPr>
        <p:txBody>
          <a:bodyPr wrap="square" lIns="0" tIns="0" rIns="0" bIns="0" rtlCol="0" anchor="ctr"/>
          <a:lstStyle/>
          <a:p>
            <a:pPr indent="0" marL="0">
              <a:buNone/>
            </a:pPr>
            <a:r>
              <a:rPr lang="en-US" sz="1100" b="1" dirty="0">
                <a:solidFill>
                  <a:srgbClr val="1B2A41"/>
                </a:solidFill>
              </a:rPr>
              <a:t>Zero-shot large VLM</a:t>
            </a:r>
            <a:pPr indent="0" marL="0">
              <a:buNone/>
            </a:pPr>
            <a:r>
              <a:rPr lang="en-US" sz="1100" dirty="0">
                <a:solidFill>
                  <a:srgbClr val="1B2A41"/>
                </a:solidFill>
              </a:rPr>
              <a:t> — accuracy &amp; cost reference</a:t>
            </a:r>
            <a:endParaRPr lang="en-US" sz="1100" dirty="0"/>
          </a:p>
        </p:txBody>
      </p:sp>
      <p:sp>
        <p:nvSpPr>
          <p:cNvPr id="14" name="Text 11"/>
          <p:cNvSpPr txBox="1"/>
          <p:nvPr/>
        </p:nvSpPr>
        <p:spPr>
          <a:xfrm>
            <a:off x="4663440" y="1005840"/>
            <a:ext cx="4023360" cy="292608"/>
          </a:xfrm>
          <a:prstGeom prst="rect">
            <a:avLst/>
          </a:prstGeom>
          <a:noFill/>
          <a:ln/>
        </p:spPr>
        <p:txBody>
          <a:bodyPr wrap="square" lIns="0" tIns="0" rIns="0" bIns="0" rtlCol="0" anchor="ctr"/>
          <a:lstStyle/>
          <a:p>
            <a:pPr indent="0" marL="0">
              <a:buNone/>
            </a:pPr>
            <a:r>
              <a:rPr lang="en-US" sz="1400" b="1" dirty="0">
                <a:solidFill>
                  <a:srgbClr val="1B2A41"/>
                </a:solidFill>
              </a:rPr>
              <a:t>Success thresholds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663440" y="1371600"/>
          <a:ext cx="4023360" cy="914400"/>
        </p:xfrm>
        <a:graphic>
          <a:graphicData uri="http://schemas.openxmlformats.org/drawingml/2006/table">
            <a:tbl>
              <a:tblPr/>
              <a:tblGrid>
                <a:gridCol w="1325880"/>
                <a:gridCol w="2697480"/>
              </a:tblGrid>
              <a:tr h="329184">
                <a:tc>
                  <a:txBody>
                    <a:bodyPr/>
                    <a:lstStyle/>
                    <a:p>
                      <a:pPr indent="0" marL="0">
                        <a:buNone/>
                      </a:pPr>
                      <a:r>
                        <a:rPr lang="en-US" sz="1050" b="1" dirty="0">
                          <a:solidFill>
                            <a:srgbClr val="FFFFFF"/>
                          </a:solidFill>
                        </a:rPr>
                        <a:t>Component</a:t>
                      </a:r>
                      <a:endParaRPr lang="en-US" sz="105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B2A41"/>
                    </a:solidFill>
                  </a:tcPr>
                </a:tc>
                <a:tc>
                  <a:txBody>
                    <a:bodyPr/>
                    <a:lstStyle/>
                    <a:p>
                      <a:pPr indent="0" marL="0">
                        <a:buNone/>
                      </a:pPr>
                      <a:r>
                        <a:rPr lang="en-US" sz="1050" b="1" dirty="0">
                          <a:solidFill>
                            <a:srgbClr val="FFFFFF"/>
                          </a:solidFill>
                        </a:rPr>
                        <a:t>Project succeeds if…</a:t>
                      </a:r>
                      <a:endParaRPr lang="en-US" sz="105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B2A41"/>
                    </a:solidFill>
                  </a:tcPr>
                </a:tc>
              </a:tr>
              <a:tr h="502920">
                <a:tc>
                  <a:txBody>
                    <a:bodyPr/>
                    <a:lstStyle/>
                    <a:p>
                      <a:pPr indent="0" marL="0">
                        <a:buNone/>
                      </a:pPr>
                      <a:r>
                        <a:rPr lang="en-US" sz="1050" b="1" dirty="0">
                          <a:solidFill>
                            <a:srgbClr val="1B2A41"/>
                          </a:solidFill>
                        </a:rPr>
                        <a:t>Video classifier</a:t>
                      </a:r>
                      <a:endParaRPr lang="en-US" sz="105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50" b="1" dirty="0">
                          <a:solidFill>
                            <a:srgbClr val="1F7A6F"/>
                          </a:solidFill>
                        </a:rPr>
                        <a:t>Temporal score above the best heuristic baseline</a:t>
                      </a:r>
                      <a:endParaRPr lang="en-US" sz="105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r>
              <a:tr h="502920">
                <a:tc>
                  <a:txBody>
                    <a:bodyPr/>
                    <a:lstStyle/>
                    <a:p>
                      <a:pPr indent="0" marL="0">
                        <a:buNone/>
                      </a:pPr>
                      <a:r>
                        <a:rPr lang="en-US" sz="1050" b="1" dirty="0">
                          <a:solidFill>
                            <a:srgbClr val="1B2A41"/>
                          </a:solidFill>
                        </a:rPr>
                        <a:t>Small VLM (QLoRA)</a:t>
                      </a:r>
                      <a:endParaRPr lang="en-US" sz="105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7A6F"/>
                          </a:solidFill>
                        </a:rPr>
                        <a:t>ACCS ≥ 0.41  ·  stretch ≥ 0.50</a:t>
                      </a:r>
                      <a:endParaRPr lang="en-US" sz="105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r>
              <a:tr h="502920">
                <a:tc>
                  <a:txBody>
                    <a:bodyPr/>
                    <a:lstStyle/>
                    <a:p>
                      <a:pPr indent="0" marL="0">
                        <a:buNone/>
                      </a:pPr>
                      <a:r>
                        <a:rPr lang="en-US" sz="1050" b="1" dirty="0">
                          <a:solidFill>
                            <a:srgbClr val="1B2A41"/>
                          </a:solidFill>
                        </a:rPr>
                        <a:t>Cascade</a:t>
                      </a:r>
                      <a:endParaRPr lang="en-US" sz="105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50" b="1" dirty="0">
                          <a:solidFill>
                            <a:srgbClr val="1F7A6F"/>
                          </a:solidFill>
                        </a:rPr>
                        <a:t>≥ 95% of full-VLM ACCS with ≤ 50% of clips sent to the VLM</a:t>
                      </a:r>
                      <a:endParaRPr lang="en-US" sz="105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r>
              <a:tr h="502920">
                <a:tc>
                  <a:txBody>
                    <a:bodyPr/>
                    <a:lstStyle/>
                    <a:p>
                      <a:pPr indent="0" marL="0">
                        <a:buNone/>
                      </a:pPr>
                      <a:r>
                        <a:rPr lang="en-US" sz="1050" b="1" dirty="0">
                          <a:solidFill>
                            <a:srgbClr val="1B2A41"/>
                          </a:solidFill>
                        </a:rPr>
                        <a:t>Event layer</a:t>
                      </a:r>
                      <a:endParaRPr lang="en-US" sz="105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7A6F"/>
                          </a:solidFill>
                        </a:rPr>
                        <a:t>≥ 98% of outputs pass schema validation</a:t>
                      </a:r>
                      <a:endParaRPr lang="en-US" sz="105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r>
              <a:tr h="502920">
                <a:tc>
                  <a:txBody>
                    <a:bodyPr/>
                    <a:lstStyle/>
                    <a:p>
                      <a:pPr indent="0" marL="0">
                        <a:buNone/>
                      </a:pPr>
                      <a:r>
                        <a:rPr lang="en-US" sz="1050" b="1" dirty="0">
                          <a:solidFill>
                            <a:srgbClr val="1B2A41"/>
                          </a:solidFill>
                        </a:rPr>
                        <a:t>Reports</a:t>
                      </a:r>
                      <a:endParaRPr lang="en-US" sz="105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50" b="1" dirty="0">
                          <a:solidFill>
                            <a:srgbClr val="1F7A6F"/>
                          </a:solidFill>
                        </a:rPr>
                        <a:t>≥ 95% numeric claims correct · 100% status preserved</a:t>
                      </a:r>
                      <a:endParaRPr lang="en-US" sz="105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r>
            </a:tbl>
          </a:graphicData>
        </a:graphic>
      </p:graphicFrame>
      <p:sp>
        <p:nvSpPr>
          <p:cNvPr id="16" name="Text 12"/>
          <p:cNvSpPr txBox="1"/>
          <p:nvPr/>
        </p:nvSpPr>
        <p:spPr>
          <a:xfrm>
            <a:off x="4663440" y="4279392"/>
            <a:ext cx="4023360" cy="274320"/>
          </a:xfrm>
          <a:prstGeom prst="rect">
            <a:avLst/>
          </a:prstGeom>
          <a:noFill/>
          <a:ln/>
        </p:spPr>
        <p:txBody>
          <a:bodyPr wrap="square" lIns="0" tIns="0" rIns="0" bIns="0" rtlCol="0" anchor="ctr"/>
          <a:lstStyle/>
          <a:p>
            <a:pPr indent="0" marL="0">
              <a:buNone/>
            </a:pPr>
            <a:r>
              <a:rPr lang="en-US" sz="900" i="1" dirty="0">
                <a:solidFill>
                  <a:srgbClr val="4A5B70"/>
                </a:solidFill>
              </a:rPr>
              <a:t>Thresholds are measured on our frozen real test subset; paper scores use all 2,027 clips.</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adge"/>
          <p:cNvSpPr/>
          <p:nvPr/>
        </p:nvSpPr>
        <p:spPr>
          <a:xfrm>
            <a:off x="457200" y="320040"/>
            <a:ext cx="457200" cy="457200"/>
          </a:xfrm>
          <a:prstGeom prst="ellipse">
            <a:avLst/>
          </a:prstGeom>
          <a:solidFill>
            <a:srgbClr val="F2A900"/>
          </a:solidFill>
          <a:ln w="12700">
            <a:solidFill>
              <a:srgbClr val="F2A900"/>
            </a:solidFill>
            <a:prstDash val="solid"/>
          </a:ln>
        </p:spPr>
      </p:sp>
      <p:sp>
        <p:nvSpPr>
          <p:cNvPr id="3" name="Text 1"/>
          <p:cNvSpPr txBox="1"/>
          <p:nvPr/>
        </p:nvSpPr>
        <p:spPr>
          <a:xfrm>
            <a:off x="457200" y="32004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4" name="Text 1"/>
          <p:cNvSpPr/>
          <p:nvPr>
            <p:ph idx="101" type="title" hasCustomPrompt="1"/>
          </p:nvPr>
        </p:nvSpPr>
        <p:spPr>
          <a:xfrm>
            <a:off x="1097280" y="292608"/>
            <a:ext cx="7589520" cy="548640"/>
          </a:xfrm>
          <a:prstGeom prst="rect">
            <a:avLst/>
          </a:prstGeom>
          <a:noFill/>
          <a:ln/>
        </p:spPr>
        <p:txBody>
          <a:bodyPr wrap="square" lIns="0" tIns="0" rIns="0" bIns="0" rtlCol="0" anchor="ctr"/>
          <a:lstStyle/>
          <a:p>
            <a:pPr algn="l" indent="0" marL="0">
              <a:buNone/>
            </a:pPr>
            <a:r>
              <a:rPr lang="en-US" sz="2600" b="1" dirty="0">
                <a:solidFill>
                  <a:schemeClr val="tx1"/>
                </a:solidFill>
              </a:rPr>
              <a:t>Literature Pack — Coverage Matrix</a:t>
            </a:r>
            <a:endParaRPr lang="en-US" sz="2600" dirty="0"/>
          </a:p>
        </p:txBody>
      </p:sp>
      <p:sp>
        <p:nvSpPr>
          <p:cNvPr id="5" name="Text 3"/>
          <p:cNvSpPr txBox="1"/>
          <p:nvPr/>
        </p:nvSpPr>
        <p:spPr>
          <a:xfrm>
            <a:off x="2468880" y="960120"/>
            <a:ext cx="690880" cy="502920"/>
          </a:xfrm>
          <a:prstGeom prst="rect">
            <a:avLst/>
          </a:prstGeom>
          <a:noFill/>
          <a:ln/>
        </p:spPr>
        <p:txBody>
          <a:bodyPr wrap="square" lIns="12700" tIns="12700" rIns="12700" bIns="12700" rtlCol="0" anchor="b"/>
          <a:lstStyle/>
          <a:p>
            <a:pPr algn="ctr" indent="0" marL="0">
              <a:buNone/>
            </a:pPr>
            <a:r>
              <a:rPr lang="en-US" sz="900" b="1" dirty="0">
                <a:solidFill>
                  <a:srgbClr val="1B2A41"/>
                </a:solidFill>
              </a:rPr>
              <a:t>Real CCTV test</a:t>
            </a:r>
            <a:endParaRPr lang="en-US" sz="900" dirty="0"/>
          </a:p>
        </p:txBody>
      </p:sp>
      <p:sp>
        <p:nvSpPr>
          <p:cNvPr id="6" name="Text 4"/>
          <p:cNvSpPr txBox="1"/>
          <p:nvPr/>
        </p:nvSpPr>
        <p:spPr>
          <a:xfrm>
            <a:off x="3159760" y="960120"/>
            <a:ext cx="690880" cy="502920"/>
          </a:xfrm>
          <a:prstGeom prst="rect">
            <a:avLst/>
          </a:prstGeom>
          <a:noFill/>
          <a:ln/>
        </p:spPr>
        <p:txBody>
          <a:bodyPr wrap="square" lIns="12700" tIns="12700" rIns="12700" bIns="12700" rtlCol="0" anchor="b"/>
          <a:lstStyle/>
          <a:p>
            <a:pPr algn="ctr" indent="0" marL="0">
              <a:buNone/>
            </a:pPr>
            <a:r>
              <a:rPr lang="en-US" sz="900" b="1" dirty="0">
                <a:solidFill>
                  <a:srgbClr val="1B2A41"/>
                </a:solidFill>
              </a:rPr>
              <a:t>Synthetic training</a:t>
            </a:r>
            <a:endParaRPr lang="en-US" sz="900" dirty="0"/>
          </a:p>
        </p:txBody>
      </p:sp>
      <p:sp>
        <p:nvSpPr>
          <p:cNvPr id="7" name="Text 5"/>
          <p:cNvSpPr txBox="1"/>
          <p:nvPr/>
        </p:nvSpPr>
        <p:spPr>
          <a:xfrm>
            <a:off x="3850640" y="960120"/>
            <a:ext cx="690880" cy="502920"/>
          </a:xfrm>
          <a:prstGeom prst="rect">
            <a:avLst/>
          </a:prstGeom>
          <a:noFill/>
          <a:ln/>
        </p:spPr>
        <p:txBody>
          <a:bodyPr wrap="square" lIns="12700" tIns="12700" rIns="12700" bIns="12700" rtlCol="0" anchor="b"/>
          <a:lstStyle/>
          <a:p>
            <a:pPr algn="ctr" indent="0" marL="0">
              <a:buNone/>
            </a:pPr>
            <a:r>
              <a:rPr lang="en-US" sz="900" b="1" dirty="0">
                <a:solidFill>
                  <a:srgbClr val="1B2A41"/>
                </a:solidFill>
              </a:rPr>
              <a:t>When (time)</a:t>
            </a:r>
            <a:endParaRPr lang="en-US" sz="900" dirty="0"/>
          </a:p>
        </p:txBody>
      </p:sp>
      <p:sp>
        <p:nvSpPr>
          <p:cNvPr id="8" name="Text 6"/>
          <p:cNvSpPr txBox="1"/>
          <p:nvPr/>
        </p:nvSpPr>
        <p:spPr>
          <a:xfrm>
            <a:off x="4541520" y="960120"/>
            <a:ext cx="690880" cy="502920"/>
          </a:xfrm>
          <a:prstGeom prst="rect">
            <a:avLst/>
          </a:prstGeom>
          <a:noFill/>
          <a:ln/>
        </p:spPr>
        <p:txBody>
          <a:bodyPr wrap="square" lIns="12700" tIns="12700" rIns="12700" bIns="12700" rtlCol="0" anchor="b"/>
          <a:lstStyle/>
          <a:p>
            <a:pPr algn="ctr" indent="0" marL="0">
              <a:buNone/>
            </a:pPr>
            <a:r>
              <a:rPr lang="en-US" sz="900" b="1" dirty="0">
                <a:solidFill>
                  <a:srgbClr val="1B2A41"/>
                </a:solidFill>
              </a:rPr>
              <a:t>Where (location)</a:t>
            </a:r>
            <a:endParaRPr lang="en-US" sz="900" dirty="0"/>
          </a:p>
        </p:txBody>
      </p:sp>
      <p:sp>
        <p:nvSpPr>
          <p:cNvPr id="9" name="Text 7"/>
          <p:cNvSpPr txBox="1"/>
          <p:nvPr/>
        </p:nvSpPr>
        <p:spPr>
          <a:xfrm>
            <a:off x="5232400" y="960120"/>
            <a:ext cx="690880" cy="502920"/>
          </a:xfrm>
          <a:prstGeom prst="rect">
            <a:avLst/>
          </a:prstGeom>
          <a:noFill/>
          <a:ln/>
        </p:spPr>
        <p:txBody>
          <a:bodyPr wrap="square" lIns="12700" tIns="12700" rIns="12700" bIns="12700" rtlCol="0" anchor="b"/>
          <a:lstStyle/>
          <a:p>
            <a:pPr algn="ctr" indent="0" marL="0">
              <a:buNone/>
            </a:pPr>
            <a:r>
              <a:rPr lang="en-US" sz="900" b="1" dirty="0">
                <a:solidFill>
                  <a:srgbClr val="1B2A41"/>
                </a:solidFill>
              </a:rPr>
              <a:t>What (type)</a:t>
            </a:r>
            <a:endParaRPr lang="en-US" sz="900" dirty="0"/>
          </a:p>
        </p:txBody>
      </p:sp>
      <p:sp>
        <p:nvSpPr>
          <p:cNvPr id="10" name="Text 8"/>
          <p:cNvSpPr txBox="1"/>
          <p:nvPr/>
        </p:nvSpPr>
        <p:spPr>
          <a:xfrm>
            <a:off x="5923280" y="960120"/>
            <a:ext cx="690880" cy="502920"/>
          </a:xfrm>
          <a:prstGeom prst="rect">
            <a:avLst/>
          </a:prstGeom>
          <a:noFill/>
          <a:ln/>
        </p:spPr>
        <p:txBody>
          <a:bodyPr wrap="square" lIns="12700" tIns="12700" rIns="12700" bIns="12700" rtlCol="0" anchor="b"/>
          <a:lstStyle/>
          <a:p>
            <a:pPr algn="ctr" indent="0" marL="0">
              <a:buNone/>
            </a:pPr>
            <a:r>
              <a:rPr lang="en-US" sz="900" b="1" dirty="0">
                <a:solidFill>
                  <a:srgbClr val="1B2A41"/>
                </a:solidFill>
              </a:rPr>
              <a:t>Trained model</a:t>
            </a:r>
            <a:endParaRPr lang="en-US" sz="900" dirty="0"/>
          </a:p>
        </p:txBody>
      </p:sp>
      <p:sp>
        <p:nvSpPr>
          <p:cNvPr id="11" name="Text 9"/>
          <p:cNvSpPr txBox="1"/>
          <p:nvPr/>
        </p:nvSpPr>
        <p:spPr>
          <a:xfrm>
            <a:off x="6614160" y="960120"/>
            <a:ext cx="690880" cy="502920"/>
          </a:xfrm>
          <a:prstGeom prst="rect">
            <a:avLst/>
          </a:prstGeom>
          <a:noFill/>
          <a:ln/>
        </p:spPr>
        <p:txBody>
          <a:bodyPr wrap="square" lIns="12700" tIns="12700" rIns="12700" bIns="12700" rtlCol="0" anchor="b"/>
          <a:lstStyle/>
          <a:p>
            <a:pPr algn="ctr" indent="0" marL="0">
              <a:buNone/>
            </a:pPr>
            <a:r>
              <a:rPr lang="en-US" sz="900" b="1" dirty="0">
                <a:solidFill>
                  <a:srgbClr val="1B2A41"/>
                </a:solidFill>
              </a:rPr>
              <a:t>Cost measured</a:t>
            </a:r>
            <a:endParaRPr lang="en-US" sz="900" dirty="0"/>
          </a:p>
        </p:txBody>
      </p:sp>
      <p:sp>
        <p:nvSpPr>
          <p:cNvPr id="12" name="Text 10"/>
          <p:cNvSpPr txBox="1"/>
          <p:nvPr/>
        </p:nvSpPr>
        <p:spPr>
          <a:xfrm>
            <a:off x="7305040" y="960120"/>
            <a:ext cx="690880" cy="502920"/>
          </a:xfrm>
          <a:prstGeom prst="rect">
            <a:avLst/>
          </a:prstGeom>
          <a:noFill/>
          <a:ln/>
        </p:spPr>
        <p:txBody>
          <a:bodyPr wrap="square" lIns="12700" tIns="12700" rIns="12700" bIns="12700" rtlCol="0" anchor="b"/>
          <a:lstStyle/>
          <a:p>
            <a:pPr algn="ctr" indent="0" marL="0">
              <a:buNone/>
            </a:pPr>
            <a:r>
              <a:rPr lang="en-US" sz="900" b="1" dirty="0">
                <a:solidFill>
                  <a:srgbClr val="1B2A41"/>
                </a:solidFill>
              </a:rPr>
              <a:t>LLM reports</a:t>
            </a:r>
            <a:endParaRPr lang="en-US" sz="900" dirty="0"/>
          </a:p>
        </p:txBody>
      </p:sp>
      <p:sp>
        <p:nvSpPr>
          <p:cNvPr id="13" name="Text 11"/>
          <p:cNvSpPr txBox="1"/>
          <p:nvPr/>
        </p:nvSpPr>
        <p:spPr>
          <a:xfrm>
            <a:off x="7995920" y="960120"/>
            <a:ext cx="690880" cy="502920"/>
          </a:xfrm>
          <a:prstGeom prst="rect">
            <a:avLst/>
          </a:prstGeom>
          <a:noFill/>
          <a:ln/>
        </p:spPr>
        <p:txBody>
          <a:bodyPr wrap="square" lIns="12700" tIns="12700" rIns="12700" bIns="12700" rtlCol="0" anchor="b"/>
          <a:lstStyle/>
          <a:p>
            <a:pPr algn="ctr" indent="0" marL="0">
              <a:buNone/>
            </a:pPr>
            <a:r>
              <a:rPr lang="en-US" sz="900" b="1" dirty="0">
                <a:solidFill>
                  <a:srgbClr val="1B2A41"/>
                </a:solidFill>
              </a:rPr>
              <a:t>Report faithful</a:t>
            </a:r>
            <a:endParaRPr lang="en-US" sz="900" dirty="0"/>
          </a:p>
        </p:txBody>
      </p:sp>
      <p:sp>
        <p:nvSpPr>
          <p:cNvPr id="14" name="Shape 12"/>
          <p:cNvSpPr/>
          <p:nvPr/>
        </p:nvSpPr>
        <p:spPr>
          <a:xfrm>
            <a:off x="457200" y="1508760"/>
            <a:ext cx="8229600" cy="365760"/>
          </a:xfrm>
          <a:prstGeom prst="rect">
            <a:avLst/>
          </a:prstGeom>
          <a:solidFill>
            <a:srgbClr val="F2F5F9"/>
          </a:solidFill>
          <a:ln w="12700">
            <a:solidFill>
              <a:srgbClr val="F2F5F9"/>
            </a:solidFill>
            <a:prstDash val="solid"/>
          </a:ln>
        </p:spPr>
      </p:sp>
      <p:sp>
        <p:nvSpPr>
          <p:cNvPr id="15" name="Text 13"/>
          <p:cNvSpPr txBox="1"/>
          <p:nvPr/>
        </p:nvSpPr>
        <p:spPr>
          <a:xfrm>
            <a:off x="548640" y="1508760"/>
            <a:ext cx="1920240" cy="365760"/>
          </a:xfrm>
          <a:prstGeom prst="rect">
            <a:avLst/>
          </a:prstGeom>
          <a:noFill/>
          <a:ln/>
        </p:spPr>
        <p:txBody>
          <a:bodyPr wrap="square" lIns="0" tIns="0" rIns="0" bIns="0" rtlCol="0" anchor="ctr"/>
          <a:lstStyle/>
          <a:p>
            <a:pPr indent="0" marL="0">
              <a:buNone/>
            </a:pPr>
            <a:r>
              <a:rPr lang="en-US" sz="1100" dirty="0">
                <a:solidFill>
                  <a:srgbClr val="1B2A41"/>
                </a:solidFill>
              </a:rPr>
              <a:t>ACCIDENT benchmark</a:t>
            </a:r>
            <a:endParaRPr lang="en-US" sz="1100" dirty="0"/>
          </a:p>
        </p:txBody>
      </p:sp>
      <p:sp>
        <p:nvSpPr>
          <p:cNvPr id="16" name="Shape 14"/>
          <p:cNvSpPr/>
          <p:nvPr/>
        </p:nvSpPr>
        <p:spPr>
          <a:xfrm>
            <a:off x="2736596" y="1613916"/>
            <a:ext cx="155448" cy="155448"/>
          </a:xfrm>
          <a:prstGeom prst="ellipse">
            <a:avLst/>
          </a:prstGeom>
          <a:solidFill>
            <a:srgbClr val="2A9D8F"/>
          </a:solidFill>
          <a:ln w="12700">
            <a:solidFill>
              <a:srgbClr val="2A9D8F"/>
            </a:solidFill>
            <a:prstDash val="solid"/>
          </a:ln>
        </p:spPr>
      </p:sp>
      <p:sp>
        <p:nvSpPr>
          <p:cNvPr id="17" name="Shape 15"/>
          <p:cNvSpPr/>
          <p:nvPr/>
        </p:nvSpPr>
        <p:spPr>
          <a:xfrm>
            <a:off x="3427476" y="1613916"/>
            <a:ext cx="155448" cy="155448"/>
          </a:xfrm>
          <a:prstGeom prst="ellipse">
            <a:avLst/>
          </a:prstGeom>
          <a:solidFill>
            <a:srgbClr val="F2A900"/>
          </a:solidFill>
          <a:ln w="12700">
            <a:solidFill>
              <a:srgbClr val="F2A900"/>
            </a:solidFill>
            <a:prstDash val="solid"/>
          </a:ln>
        </p:spPr>
      </p:sp>
      <p:sp>
        <p:nvSpPr>
          <p:cNvPr id="18" name="Shape 16"/>
          <p:cNvSpPr/>
          <p:nvPr/>
        </p:nvSpPr>
        <p:spPr>
          <a:xfrm>
            <a:off x="4118356" y="1613916"/>
            <a:ext cx="155448" cy="155448"/>
          </a:xfrm>
          <a:prstGeom prst="ellipse">
            <a:avLst/>
          </a:prstGeom>
          <a:solidFill>
            <a:srgbClr val="2A9D8F"/>
          </a:solidFill>
          <a:ln w="12700">
            <a:solidFill>
              <a:srgbClr val="2A9D8F"/>
            </a:solidFill>
            <a:prstDash val="solid"/>
          </a:ln>
        </p:spPr>
      </p:sp>
      <p:sp>
        <p:nvSpPr>
          <p:cNvPr id="19" name="Shape 17"/>
          <p:cNvSpPr/>
          <p:nvPr/>
        </p:nvSpPr>
        <p:spPr>
          <a:xfrm>
            <a:off x="4809236" y="1613916"/>
            <a:ext cx="155448" cy="155448"/>
          </a:xfrm>
          <a:prstGeom prst="ellipse">
            <a:avLst/>
          </a:prstGeom>
          <a:solidFill>
            <a:srgbClr val="2A9D8F"/>
          </a:solidFill>
          <a:ln w="12700">
            <a:solidFill>
              <a:srgbClr val="2A9D8F"/>
            </a:solidFill>
            <a:prstDash val="solid"/>
          </a:ln>
        </p:spPr>
      </p:sp>
      <p:sp>
        <p:nvSpPr>
          <p:cNvPr id="20" name="Shape 18"/>
          <p:cNvSpPr/>
          <p:nvPr/>
        </p:nvSpPr>
        <p:spPr>
          <a:xfrm>
            <a:off x="5500116" y="1613916"/>
            <a:ext cx="155448" cy="155448"/>
          </a:xfrm>
          <a:prstGeom prst="ellipse">
            <a:avLst/>
          </a:prstGeom>
          <a:solidFill>
            <a:srgbClr val="2A9D8F"/>
          </a:solidFill>
          <a:ln w="12700">
            <a:solidFill>
              <a:srgbClr val="2A9D8F"/>
            </a:solidFill>
            <a:prstDash val="solid"/>
          </a:ln>
        </p:spPr>
      </p:sp>
      <p:sp>
        <p:nvSpPr>
          <p:cNvPr id="21" name="Shape 19"/>
          <p:cNvSpPr/>
          <p:nvPr/>
        </p:nvSpPr>
        <p:spPr>
          <a:xfrm>
            <a:off x="6190996" y="1613916"/>
            <a:ext cx="155448" cy="155448"/>
          </a:xfrm>
          <a:prstGeom prst="ellipse">
            <a:avLst/>
          </a:prstGeom>
          <a:solidFill>
            <a:srgbClr val="F2A900"/>
          </a:solidFill>
          <a:ln w="12700">
            <a:solidFill>
              <a:srgbClr val="F2A900"/>
            </a:solidFill>
            <a:prstDash val="solid"/>
          </a:ln>
        </p:spPr>
      </p:sp>
      <p:sp>
        <p:nvSpPr>
          <p:cNvPr id="22" name="Shape 20"/>
          <p:cNvSpPr/>
          <p:nvPr/>
        </p:nvSpPr>
        <p:spPr>
          <a:xfrm>
            <a:off x="6881876" y="1613916"/>
            <a:ext cx="155448" cy="155448"/>
          </a:xfrm>
          <a:prstGeom prst="ellipse">
            <a:avLst/>
          </a:prstGeom>
          <a:solidFill>
            <a:srgbClr val="FFFFFF"/>
          </a:solidFill>
          <a:ln w="12700">
            <a:solidFill>
              <a:srgbClr val="8FA3B8"/>
            </a:solidFill>
            <a:prstDash val="solid"/>
          </a:ln>
        </p:spPr>
      </p:sp>
      <p:sp>
        <p:nvSpPr>
          <p:cNvPr id="23" name="Shape 21"/>
          <p:cNvSpPr/>
          <p:nvPr/>
        </p:nvSpPr>
        <p:spPr>
          <a:xfrm>
            <a:off x="7572756" y="1613916"/>
            <a:ext cx="155448" cy="155448"/>
          </a:xfrm>
          <a:prstGeom prst="ellipse">
            <a:avLst/>
          </a:prstGeom>
          <a:solidFill>
            <a:srgbClr val="FFFFFF"/>
          </a:solidFill>
          <a:ln w="12700">
            <a:solidFill>
              <a:srgbClr val="8FA3B8"/>
            </a:solidFill>
            <a:prstDash val="solid"/>
          </a:ln>
        </p:spPr>
      </p:sp>
      <p:sp>
        <p:nvSpPr>
          <p:cNvPr id="24" name="Shape 22"/>
          <p:cNvSpPr/>
          <p:nvPr/>
        </p:nvSpPr>
        <p:spPr>
          <a:xfrm>
            <a:off x="8263636" y="1613916"/>
            <a:ext cx="155448" cy="155448"/>
          </a:xfrm>
          <a:prstGeom prst="ellipse">
            <a:avLst/>
          </a:prstGeom>
          <a:solidFill>
            <a:srgbClr val="FFFFFF"/>
          </a:solidFill>
          <a:ln w="12700">
            <a:solidFill>
              <a:srgbClr val="8FA3B8"/>
            </a:solidFill>
            <a:prstDash val="solid"/>
          </a:ln>
        </p:spPr>
      </p:sp>
      <p:sp>
        <p:nvSpPr>
          <p:cNvPr id="25" name="Shape 23"/>
          <p:cNvSpPr/>
          <p:nvPr/>
        </p:nvSpPr>
        <p:spPr>
          <a:xfrm>
            <a:off x="457200" y="1874520"/>
            <a:ext cx="8229600" cy="365760"/>
          </a:xfrm>
          <a:prstGeom prst="rect">
            <a:avLst/>
          </a:prstGeom>
          <a:solidFill>
            <a:srgbClr val="FFFFFF"/>
          </a:solidFill>
          <a:ln w="12700">
            <a:solidFill>
              <a:srgbClr val="FFFFFF"/>
            </a:solidFill>
            <a:prstDash val="solid"/>
          </a:ln>
        </p:spPr>
      </p:sp>
      <p:sp>
        <p:nvSpPr>
          <p:cNvPr id="26" name="Text 24"/>
          <p:cNvSpPr txBox="1"/>
          <p:nvPr/>
        </p:nvSpPr>
        <p:spPr>
          <a:xfrm>
            <a:off x="548640" y="1874520"/>
            <a:ext cx="1920240" cy="365760"/>
          </a:xfrm>
          <a:prstGeom prst="rect">
            <a:avLst/>
          </a:prstGeom>
          <a:noFill/>
          <a:ln/>
        </p:spPr>
        <p:txBody>
          <a:bodyPr wrap="square" lIns="0" tIns="0" rIns="0" bIns="0" rtlCol="0" anchor="ctr"/>
          <a:lstStyle/>
          <a:p>
            <a:pPr indent="0" marL="0">
              <a:buNone/>
            </a:pPr>
            <a:r>
              <a:rPr lang="en-US" sz="1100" dirty="0">
                <a:solidFill>
                  <a:srgbClr val="1B2A41"/>
                </a:solidFill>
              </a:rPr>
              <a:t>Multi-stage VLM (1st place)</a:t>
            </a:r>
            <a:endParaRPr lang="en-US" sz="1100" dirty="0"/>
          </a:p>
        </p:txBody>
      </p:sp>
      <p:sp>
        <p:nvSpPr>
          <p:cNvPr id="27" name="Shape 25"/>
          <p:cNvSpPr/>
          <p:nvPr/>
        </p:nvSpPr>
        <p:spPr>
          <a:xfrm>
            <a:off x="2736596" y="1979676"/>
            <a:ext cx="155448" cy="155448"/>
          </a:xfrm>
          <a:prstGeom prst="ellipse">
            <a:avLst/>
          </a:prstGeom>
          <a:solidFill>
            <a:srgbClr val="2A9D8F"/>
          </a:solidFill>
          <a:ln w="12700">
            <a:solidFill>
              <a:srgbClr val="2A9D8F"/>
            </a:solidFill>
            <a:prstDash val="solid"/>
          </a:ln>
        </p:spPr>
      </p:sp>
      <p:sp>
        <p:nvSpPr>
          <p:cNvPr id="28" name="Shape 26"/>
          <p:cNvSpPr/>
          <p:nvPr/>
        </p:nvSpPr>
        <p:spPr>
          <a:xfrm>
            <a:off x="3427476" y="1979676"/>
            <a:ext cx="155448" cy="155448"/>
          </a:xfrm>
          <a:prstGeom prst="ellipse">
            <a:avLst/>
          </a:prstGeom>
          <a:solidFill>
            <a:srgbClr val="FFFFFF"/>
          </a:solidFill>
          <a:ln w="12700">
            <a:solidFill>
              <a:srgbClr val="8FA3B8"/>
            </a:solidFill>
            <a:prstDash val="solid"/>
          </a:ln>
        </p:spPr>
      </p:sp>
      <p:sp>
        <p:nvSpPr>
          <p:cNvPr id="29" name="Shape 27"/>
          <p:cNvSpPr/>
          <p:nvPr/>
        </p:nvSpPr>
        <p:spPr>
          <a:xfrm>
            <a:off x="4118356" y="1979676"/>
            <a:ext cx="155448" cy="155448"/>
          </a:xfrm>
          <a:prstGeom prst="ellipse">
            <a:avLst/>
          </a:prstGeom>
          <a:solidFill>
            <a:srgbClr val="2A9D8F"/>
          </a:solidFill>
          <a:ln w="12700">
            <a:solidFill>
              <a:srgbClr val="2A9D8F"/>
            </a:solidFill>
            <a:prstDash val="solid"/>
          </a:ln>
        </p:spPr>
      </p:sp>
      <p:sp>
        <p:nvSpPr>
          <p:cNvPr id="30" name="Shape 28"/>
          <p:cNvSpPr/>
          <p:nvPr/>
        </p:nvSpPr>
        <p:spPr>
          <a:xfrm>
            <a:off x="4809236" y="1979676"/>
            <a:ext cx="155448" cy="155448"/>
          </a:xfrm>
          <a:prstGeom prst="ellipse">
            <a:avLst/>
          </a:prstGeom>
          <a:solidFill>
            <a:srgbClr val="2A9D8F"/>
          </a:solidFill>
          <a:ln w="12700">
            <a:solidFill>
              <a:srgbClr val="2A9D8F"/>
            </a:solidFill>
            <a:prstDash val="solid"/>
          </a:ln>
        </p:spPr>
      </p:sp>
      <p:sp>
        <p:nvSpPr>
          <p:cNvPr id="31" name="Shape 29"/>
          <p:cNvSpPr/>
          <p:nvPr/>
        </p:nvSpPr>
        <p:spPr>
          <a:xfrm>
            <a:off x="5500116" y="1979676"/>
            <a:ext cx="155448" cy="155448"/>
          </a:xfrm>
          <a:prstGeom prst="ellipse">
            <a:avLst/>
          </a:prstGeom>
          <a:solidFill>
            <a:srgbClr val="2A9D8F"/>
          </a:solidFill>
          <a:ln w="12700">
            <a:solidFill>
              <a:srgbClr val="2A9D8F"/>
            </a:solidFill>
            <a:prstDash val="solid"/>
          </a:ln>
        </p:spPr>
      </p:sp>
      <p:sp>
        <p:nvSpPr>
          <p:cNvPr id="32" name="Shape 30"/>
          <p:cNvSpPr/>
          <p:nvPr/>
        </p:nvSpPr>
        <p:spPr>
          <a:xfrm>
            <a:off x="6190996" y="1979676"/>
            <a:ext cx="155448" cy="155448"/>
          </a:xfrm>
          <a:prstGeom prst="ellipse">
            <a:avLst/>
          </a:prstGeom>
          <a:solidFill>
            <a:srgbClr val="FFFFFF"/>
          </a:solidFill>
          <a:ln w="12700">
            <a:solidFill>
              <a:srgbClr val="8FA3B8"/>
            </a:solidFill>
            <a:prstDash val="solid"/>
          </a:ln>
        </p:spPr>
      </p:sp>
      <p:sp>
        <p:nvSpPr>
          <p:cNvPr id="33" name="Shape 31"/>
          <p:cNvSpPr/>
          <p:nvPr/>
        </p:nvSpPr>
        <p:spPr>
          <a:xfrm>
            <a:off x="6881876" y="1979676"/>
            <a:ext cx="155448" cy="155448"/>
          </a:xfrm>
          <a:prstGeom prst="ellipse">
            <a:avLst/>
          </a:prstGeom>
          <a:solidFill>
            <a:srgbClr val="F2A900"/>
          </a:solidFill>
          <a:ln w="12700">
            <a:solidFill>
              <a:srgbClr val="F2A900"/>
            </a:solidFill>
            <a:prstDash val="solid"/>
          </a:ln>
        </p:spPr>
      </p:sp>
      <p:sp>
        <p:nvSpPr>
          <p:cNvPr id="34" name="Shape 32"/>
          <p:cNvSpPr/>
          <p:nvPr/>
        </p:nvSpPr>
        <p:spPr>
          <a:xfrm>
            <a:off x="7572756" y="1979676"/>
            <a:ext cx="155448" cy="155448"/>
          </a:xfrm>
          <a:prstGeom prst="ellipse">
            <a:avLst/>
          </a:prstGeom>
          <a:solidFill>
            <a:srgbClr val="FFFFFF"/>
          </a:solidFill>
          <a:ln w="12700">
            <a:solidFill>
              <a:srgbClr val="8FA3B8"/>
            </a:solidFill>
            <a:prstDash val="solid"/>
          </a:ln>
        </p:spPr>
      </p:sp>
      <p:sp>
        <p:nvSpPr>
          <p:cNvPr id="35" name="Shape 33"/>
          <p:cNvSpPr/>
          <p:nvPr/>
        </p:nvSpPr>
        <p:spPr>
          <a:xfrm>
            <a:off x="8263636" y="1979676"/>
            <a:ext cx="155448" cy="155448"/>
          </a:xfrm>
          <a:prstGeom prst="ellipse">
            <a:avLst/>
          </a:prstGeom>
          <a:solidFill>
            <a:srgbClr val="FFFFFF"/>
          </a:solidFill>
          <a:ln w="12700">
            <a:solidFill>
              <a:srgbClr val="8FA3B8"/>
            </a:solidFill>
            <a:prstDash val="solid"/>
          </a:ln>
        </p:spPr>
      </p:sp>
      <p:sp>
        <p:nvSpPr>
          <p:cNvPr id="36" name="Shape 34"/>
          <p:cNvSpPr/>
          <p:nvPr/>
        </p:nvSpPr>
        <p:spPr>
          <a:xfrm>
            <a:off x="457200" y="2240280"/>
            <a:ext cx="8229600" cy="365760"/>
          </a:xfrm>
          <a:prstGeom prst="rect">
            <a:avLst/>
          </a:prstGeom>
          <a:solidFill>
            <a:srgbClr val="F2F5F9"/>
          </a:solidFill>
          <a:ln w="12700">
            <a:solidFill>
              <a:srgbClr val="F2F5F9"/>
            </a:solidFill>
            <a:prstDash val="solid"/>
          </a:ln>
        </p:spPr>
      </p:sp>
      <p:sp>
        <p:nvSpPr>
          <p:cNvPr id="37" name="Text 35"/>
          <p:cNvSpPr txBox="1"/>
          <p:nvPr/>
        </p:nvSpPr>
        <p:spPr>
          <a:xfrm>
            <a:off x="548640" y="2240280"/>
            <a:ext cx="1920240" cy="365760"/>
          </a:xfrm>
          <a:prstGeom prst="rect">
            <a:avLst/>
          </a:prstGeom>
          <a:noFill/>
          <a:ln/>
        </p:spPr>
        <p:txBody>
          <a:bodyPr wrap="square" lIns="0" tIns="0" rIns="0" bIns="0" rtlCol="0" anchor="ctr"/>
          <a:lstStyle/>
          <a:p>
            <a:pPr indent="0" marL="0">
              <a:buNone/>
            </a:pPr>
            <a:r>
              <a:rPr lang="en-US" sz="1100" dirty="0">
                <a:solidFill>
                  <a:srgbClr val="1B2A41"/>
                </a:solidFill>
              </a:rPr>
              <a:t>Coarse-to-fine VLM</a:t>
            </a:r>
            <a:endParaRPr lang="en-US" sz="1100" dirty="0"/>
          </a:p>
        </p:txBody>
      </p:sp>
      <p:sp>
        <p:nvSpPr>
          <p:cNvPr id="38" name="Shape 36"/>
          <p:cNvSpPr/>
          <p:nvPr/>
        </p:nvSpPr>
        <p:spPr>
          <a:xfrm>
            <a:off x="2736596" y="2345436"/>
            <a:ext cx="155448" cy="155448"/>
          </a:xfrm>
          <a:prstGeom prst="ellipse">
            <a:avLst/>
          </a:prstGeom>
          <a:solidFill>
            <a:srgbClr val="2A9D8F"/>
          </a:solidFill>
          <a:ln w="12700">
            <a:solidFill>
              <a:srgbClr val="2A9D8F"/>
            </a:solidFill>
            <a:prstDash val="solid"/>
          </a:ln>
        </p:spPr>
      </p:sp>
      <p:sp>
        <p:nvSpPr>
          <p:cNvPr id="39" name="Shape 37"/>
          <p:cNvSpPr/>
          <p:nvPr/>
        </p:nvSpPr>
        <p:spPr>
          <a:xfrm>
            <a:off x="3427476" y="2345436"/>
            <a:ext cx="155448" cy="155448"/>
          </a:xfrm>
          <a:prstGeom prst="ellipse">
            <a:avLst/>
          </a:prstGeom>
          <a:solidFill>
            <a:srgbClr val="FFFFFF"/>
          </a:solidFill>
          <a:ln w="12700">
            <a:solidFill>
              <a:srgbClr val="8FA3B8"/>
            </a:solidFill>
            <a:prstDash val="solid"/>
          </a:ln>
        </p:spPr>
      </p:sp>
      <p:sp>
        <p:nvSpPr>
          <p:cNvPr id="40" name="Shape 38"/>
          <p:cNvSpPr/>
          <p:nvPr/>
        </p:nvSpPr>
        <p:spPr>
          <a:xfrm>
            <a:off x="4118356" y="2345436"/>
            <a:ext cx="155448" cy="155448"/>
          </a:xfrm>
          <a:prstGeom prst="ellipse">
            <a:avLst/>
          </a:prstGeom>
          <a:solidFill>
            <a:srgbClr val="2A9D8F"/>
          </a:solidFill>
          <a:ln w="12700">
            <a:solidFill>
              <a:srgbClr val="2A9D8F"/>
            </a:solidFill>
            <a:prstDash val="solid"/>
          </a:ln>
        </p:spPr>
      </p:sp>
      <p:sp>
        <p:nvSpPr>
          <p:cNvPr id="41" name="Shape 39"/>
          <p:cNvSpPr/>
          <p:nvPr/>
        </p:nvSpPr>
        <p:spPr>
          <a:xfrm>
            <a:off x="4809236" y="2345436"/>
            <a:ext cx="155448" cy="155448"/>
          </a:xfrm>
          <a:prstGeom prst="ellipse">
            <a:avLst/>
          </a:prstGeom>
          <a:solidFill>
            <a:srgbClr val="2A9D8F"/>
          </a:solidFill>
          <a:ln w="12700">
            <a:solidFill>
              <a:srgbClr val="2A9D8F"/>
            </a:solidFill>
            <a:prstDash val="solid"/>
          </a:ln>
        </p:spPr>
      </p:sp>
      <p:sp>
        <p:nvSpPr>
          <p:cNvPr id="42" name="Shape 40"/>
          <p:cNvSpPr/>
          <p:nvPr/>
        </p:nvSpPr>
        <p:spPr>
          <a:xfrm>
            <a:off x="5500116" y="2345436"/>
            <a:ext cx="155448" cy="155448"/>
          </a:xfrm>
          <a:prstGeom prst="ellipse">
            <a:avLst/>
          </a:prstGeom>
          <a:solidFill>
            <a:srgbClr val="2A9D8F"/>
          </a:solidFill>
          <a:ln w="12700">
            <a:solidFill>
              <a:srgbClr val="2A9D8F"/>
            </a:solidFill>
            <a:prstDash val="solid"/>
          </a:ln>
        </p:spPr>
      </p:sp>
      <p:sp>
        <p:nvSpPr>
          <p:cNvPr id="43" name="Shape 41"/>
          <p:cNvSpPr/>
          <p:nvPr/>
        </p:nvSpPr>
        <p:spPr>
          <a:xfrm>
            <a:off x="6190996" y="2345436"/>
            <a:ext cx="155448" cy="155448"/>
          </a:xfrm>
          <a:prstGeom prst="ellipse">
            <a:avLst/>
          </a:prstGeom>
          <a:solidFill>
            <a:srgbClr val="FFFFFF"/>
          </a:solidFill>
          <a:ln w="12700">
            <a:solidFill>
              <a:srgbClr val="8FA3B8"/>
            </a:solidFill>
            <a:prstDash val="solid"/>
          </a:ln>
        </p:spPr>
      </p:sp>
      <p:sp>
        <p:nvSpPr>
          <p:cNvPr id="44" name="Shape 42"/>
          <p:cNvSpPr/>
          <p:nvPr/>
        </p:nvSpPr>
        <p:spPr>
          <a:xfrm>
            <a:off x="6881876" y="2345436"/>
            <a:ext cx="155448" cy="155448"/>
          </a:xfrm>
          <a:prstGeom prst="ellipse">
            <a:avLst/>
          </a:prstGeom>
          <a:solidFill>
            <a:srgbClr val="FFFFFF"/>
          </a:solidFill>
          <a:ln w="12700">
            <a:solidFill>
              <a:srgbClr val="8FA3B8"/>
            </a:solidFill>
            <a:prstDash val="solid"/>
          </a:ln>
        </p:spPr>
      </p:sp>
      <p:sp>
        <p:nvSpPr>
          <p:cNvPr id="45" name="Shape 43"/>
          <p:cNvSpPr/>
          <p:nvPr/>
        </p:nvSpPr>
        <p:spPr>
          <a:xfrm>
            <a:off x="7572756" y="2345436"/>
            <a:ext cx="155448" cy="155448"/>
          </a:xfrm>
          <a:prstGeom prst="ellipse">
            <a:avLst/>
          </a:prstGeom>
          <a:solidFill>
            <a:srgbClr val="FFFFFF"/>
          </a:solidFill>
          <a:ln w="12700">
            <a:solidFill>
              <a:srgbClr val="8FA3B8"/>
            </a:solidFill>
            <a:prstDash val="solid"/>
          </a:ln>
        </p:spPr>
      </p:sp>
      <p:sp>
        <p:nvSpPr>
          <p:cNvPr id="46" name="Shape 44"/>
          <p:cNvSpPr/>
          <p:nvPr/>
        </p:nvSpPr>
        <p:spPr>
          <a:xfrm>
            <a:off x="8263636" y="2345436"/>
            <a:ext cx="155448" cy="155448"/>
          </a:xfrm>
          <a:prstGeom prst="ellipse">
            <a:avLst/>
          </a:prstGeom>
          <a:solidFill>
            <a:srgbClr val="FFFFFF"/>
          </a:solidFill>
          <a:ln w="12700">
            <a:solidFill>
              <a:srgbClr val="8FA3B8"/>
            </a:solidFill>
            <a:prstDash val="solid"/>
          </a:ln>
        </p:spPr>
      </p:sp>
      <p:sp>
        <p:nvSpPr>
          <p:cNvPr id="47" name="Shape 45"/>
          <p:cNvSpPr/>
          <p:nvPr/>
        </p:nvSpPr>
        <p:spPr>
          <a:xfrm>
            <a:off x="457200" y="2606040"/>
            <a:ext cx="8229600" cy="365760"/>
          </a:xfrm>
          <a:prstGeom prst="rect">
            <a:avLst/>
          </a:prstGeom>
          <a:solidFill>
            <a:srgbClr val="FFFFFF"/>
          </a:solidFill>
          <a:ln w="12700">
            <a:solidFill>
              <a:srgbClr val="FFFFFF"/>
            </a:solidFill>
            <a:prstDash val="solid"/>
          </a:ln>
        </p:spPr>
      </p:sp>
      <p:sp>
        <p:nvSpPr>
          <p:cNvPr id="48" name="Text 46"/>
          <p:cNvSpPr txBox="1"/>
          <p:nvPr/>
        </p:nvSpPr>
        <p:spPr>
          <a:xfrm>
            <a:off x="548640" y="2606040"/>
            <a:ext cx="1920240" cy="365760"/>
          </a:xfrm>
          <a:prstGeom prst="rect">
            <a:avLst/>
          </a:prstGeom>
          <a:noFill/>
          <a:ln/>
        </p:spPr>
        <p:txBody>
          <a:bodyPr wrap="square" lIns="0" tIns="0" rIns="0" bIns="0" rtlCol="0" anchor="ctr"/>
          <a:lstStyle/>
          <a:p>
            <a:pPr indent="0" marL="0">
              <a:buNone/>
            </a:pPr>
            <a:r>
              <a:rPr lang="en-US" sz="1100" dirty="0">
                <a:solidFill>
                  <a:srgbClr val="1B2A41"/>
                </a:solidFill>
              </a:rPr>
              <a:t>Modular zero-shot</a:t>
            </a:r>
            <a:endParaRPr lang="en-US" sz="1100" dirty="0"/>
          </a:p>
        </p:txBody>
      </p:sp>
      <p:sp>
        <p:nvSpPr>
          <p:cNvPr id="49" name="Shape 47"/>
          <p:cNvSpPr/>
          <p:nvPr/>
        </p:nvSpPr>
        <p:spPr>
          <a:xfrm>
            <a:off x="2736596" y="2711196"/>
            <a:ext cx="155448" cy="155448"/>
          </a:xfrm>
          <a:prstGeom prst="ellipse">
            <a:avLst/>
          </a:prstGeom>
          <a:solidFill>
            <a:srgbClr val="2A9D8F"/>
          </a:solidFill>
          <a:ln w="12700">
            <a:solidFill>
              <a:srgbClr val="2A9D8F"/>
            </a:solidFill>
            <a:prstDash val="solid"/>
          </a:ln>
        </p:spPr>
      </p:sp>
      <p:sp>
        <p:nvSpPr>
          <p:cNvPr id="50" name="Shape 48"/>
          <p:cNvSpPr/>
          <p:nvPr/>
        </p:nvSpPr>
        <p:spPr>
          <a:xfrm>
            <a:off x="3427476" y="2711196"/>
            <a:ext cx="155448" cy="155448"/>
          </a:xfrm>
          <a:prstGeom prst="ellipse">
            <a:avLst/>
          </a:prstGeom>
          <a:solidFill>
            <a:srgbClr val="FFFFFF"/>
          </a:solidFill>
          <a:ln w="12700">
            <a:solidFill>
              <a:srgbClr val="8FA3B8"/>
            </a:solidFill>
            <a:prstDash val="solid"/>
          </a:ln>
        </p:spPr>
      </p:sp>
      <p:sp>
        <p:nvSpPr>
          <p:cNvPr id="51" name="Shape 49"/>
          <p:cNvSpPr/>
          <p:nvPr/>
        </p:nvSpPr>
        <p:spPr>
          <a:xfrm>
            <a:off x="4118356" y="2711196"/>
            <a:ext cx="155448" cy="155448"/>
          </a:xfrm>
          <a:prstGeom prst="ellipse">
            <a:avLst/>
          </a:prstGeom>
          <a:solidFill>
            <a:srgbClr val="2A9D8F"/>
          </a:solidFill>
          <a:ln w="12700">
            <a:solidFill>
              <a:srgbClr val="2A9D8F"/>
            </a:solidFill>
            <a:prstDash val="solid"/>
          </a:ln>
        </p:spPr>
      </p:sp>
      <p:sp>
        <p:nvSpPr>
          <p:cNvPr id="52" name="Shape 50"/>
          <p:cNvSpPr/>
          <p:nvPr/>
        </p:nvSpPr>
        <p:spPr>
          <a:xfrm>
            <a:off x="4809236" y="2711196"/>
            <a:ext cx="155448" cy="155448"/>
          </a:xfrm>
          <a:prstGeom prst="ellipse">
            <a:avLst/>
          </a:prstGeom>
          <a:solidFill>
            <a:srgbClr val="2A9D8F"/>
          </a:solidFill>
          <a:ln w="12700">
            <a:solidFill>
              <a:srgbClr val="2A9D8F"/>
            </a:solidFill>
            <a:prstDash val="solid"/>
          </a:ln>
        </p:spPr>
      </p:sp>
      <p:sp>
        <p:nvSpPr>
          <p:cNvPr id="53" name="Shape 51"/>
          <p:cNvSpPr/>
          <p:nvPr/>
        </p:nvSpPr>
        <p:spPr>
          <a:xfrm>
            <a:off x="5500116" y="2711196"/>
            <a:ext cx="155448" cy="155448"/>
          </a:xfrm>
          <a:prstGeom prst="ellipse">
            <a:avLst/>
          </a:prstGeom>
          <a:solidFill>
            <a:srgbClr val="2A9D8F"/>
          </a:solidFill>
          <a:ln w="12700">
            <a:solidFill>
              <a:srgbClr val="2A9D8F"/>
            </a:solidFill>
            <a:prstDash val="solid"/>
          </a:ln>
        </p:spPr>
      </p:sp>
      <p:sp>
        <p:nvSpPr>
          <p:cNvPr id="54" name="Shape 52"/>
          <p:cNvSpPr/>
          <p:nvPr/>
        </p:nvSpPr>
        <p:spPr>
          <a:xfrm>
            <a:off x="6190996" y="2711196"/>
            <a:ext cx="155448" cy="155448"/>
          </a:xfrm>
          <a:prstGeom prst="ellipse">
            <a:avLst/>
          </a:prstGeom>
          <a:solidFill>
            <a:srgbClr val="FFFFFF"/>
          </a:solidFill>
          <a:ln w="12700">
            <a:solidFill>
              <a:srgbClr val="8FA3B8"/>
            </a:solidFill>
            <a:prstDash val="solid"/>
          </a:ln>
        </p:spPr>
      </p:sp>
      <p:sp>
        <p:nvSpPr>
          <p:cNvPr id="55" name="Shape 53"/>
          <p:cNvSpPr/>
          <p:nvPr/>
        </p:nvSpPr>
        <p:spPr>
          <a:xfrm>
            <a:off x="6881876" y="2711196"/>
            <a:ext cx="155448" cy="155448"/>
          </a:xfrm>
          <a:prstGeom prst="ellipse">
            <a:avLst/>
          </a:prstGeom>
          <a:solidFill>
            <a:srgbClr val="FFFFFF"/>
          </a:solidFill>
          <a:ln w="12700">
            <a:solidFill>
              <a:srgbClr val="8FA3B8"/>
            </a:solidFill>
            <a:prstDash val="solid"/>
          </a:ln>
        </p:spPr>
      </p:sp>
      <p:sp>
        <p:nvSpPr>
          <p:cNvPr id="56" name="Shape 54"/>
          <p:cNvSpPr/>
          <p:nvPr/>
        </p:nvSpPr>
        <p:spPr>
          <a:xfrm>
            <a:off x="7572756" y="2711196"/>
            <a:ext cx="155448" cy="155448"/>
          </a:xfrm>
          <a:prstGeom prst="ellipse">
            <a:avLst/>
          </a:prstGeom>
          <a:solidFill>
            <a:srgbClr val="FFFFFF"/>
          </a:solidFill>
          <a:ln w="12700">
            <a:solidFill>
              <a:srgbClr val="8FA3B8"/>
            </a:solidFill>
            <a:prstDash val="solid"/>
          </a:ln>
        </p:spPr>
      </p:sp>
      <p:sp>
        <p:nvSpPr>
          <p:cNvPr id="57" name="Shape 55"/>
          <p:cNvSpPr/>
          <p:nvPr/>
        </p:nvSpPr>
        <p:spPr>
          <a:xfrm>
            <a:off x="8263636" y="2711196"/>
            <a:ext cx="155448" cy="155448"/>
          </a:xfrm>
          <a:prstGeom prst="ellipse">
            <a:avLst/>
          </a:prstGeom>
          <a:solidFill>
            <a:srgbClr val="FFFFFF"/>
          </a:solidFill>
          <a:ln w="12700">
            <a:solidFill>
              <a:srgbClr val="8FA3B8"/>
            </a:solidFill>
            <a:prstDash val="solid"/>
          </a:ln>
        </p:spPr>
      </p:sp>
      <p:sp>
        <p:nvSpPr>
          <p:cNvPr id="58" name="Shape 56"/>
          <p:cNvSpPr/>
          <p:nvPr/>
        </p:nvSpPr>
        <p:spPr>
          <a:xfrm>
            <a:off x="457200" y="2971800"/>
            <a:ext cx="8229600" cy="365760"/>
          </a:xfrm>
          <a:prstGeom prst="rect">
            <a:avLst/>
          </a:prstGeom>
          <a:solidFill>
            <a:srgbClr val="F2F5F9"/>
          </a:solidFill>
          <a:ln w="12700">
            <a:solidFill>
              <a:srgbClr val="F2F5F9"/>
            </a:solidFill>
            <a:prstDash val="solid"/>
          </a:ln>
        </p:spPr>
      </p:sp>
      <p:sp>
        <p:nvSpPr>
          <p:cNvPr id="59" name="Text 57"/>
          <p:cNvSpPr txBox="1"/>
          <p:nvPr/>
        </p:nvSpPr>
        <p:spPr>
          <a:xfrm>
            <a:off x="548640" y="2971800"/>
            <a:ext cx="1920240" cy="365760"/>
          </a:xfrm>
          <a:prstGeom prst="rect">
            <a:avLst/>
          </a:prstGeom>
          <a:noFill/>
          <a:ln/>
        </p:spPr>
        <p:txBody>
          <a:bodyPr wrap="square" lIns="0" tIns="0" rIns="0" bIns="0" rtlCol="0" anchor="ctr"/>
          <a:lstStyle/>
          <a:p>
            <a:pPr indent="0" marL="0">
              <a:buNone/>
            </a:pPr>
            <a:r>
              <a:rPr lang="en-US" sz="1100" dirty="0">
                <a:solidFill>
                  <a:srgbClr val="1B2A41"/>
                </a:solidFill>
              </a:rPr>
              <a:t>TAD benchmark</a:t>
            </a:r>
            <a:endParaRPr lang="en-US" sz="1100" dirty="0"/>
          </a:p>
        </p:txBody>
      </p:sp>
      <p:sp>
        <p:nvSpPr>
          <p:cNvPr id="60" name="Shape 58"/>
          <p:cNvSpPr/>
          <p:nvPr/>
        </p:nvSpPr>
        <p:spPr>
          <a:xfrm>
            <a:off x="2736596" y="3076956"/>
            <a:ext cx="155448" cy="155448"/>
          </a:xfrm>
          <a:prstGeom prst="ellipse">
            <a:avLst/>
          </a:prstGeom>
          <a:solidFill>
            <a:srgbClr val="2A9D8F"/>
          </a:solidFill>
          <a:ln w="12700">
            <a:solidFill>
              <a:srgbClr val="2A9D8F"/>
            </a:solidFill>
            <a:prstDash val="solid"/>
          </a:ln>
        </p:spPr>
      </p:sp>
      <p:sp>
        <p:nvSpPr>
          <p:cNvPr id="61" name="Shape 59"/>
          <p:cNvSpPr/>
          <p:nvPr/>
        </p:nvSpPr>
        <p:spPr>
          <a:xfrm>
            <a:off x="3427476" y="3076956"/>
            <a:ext cx="155448" cy="155448"/>
          </a:xfrm>
          <a:prstGeom prst="ellipse">
            <a:avLst/>
          </a:prstGeom>
          <a:solidFill>
            <a:srgbClr val="FFFFFF"/>
          </a:solidFill>
          <a:ln w="12700">
            <a:solidFill>
              <a:srgbClr val="8FA3B8"/>
            </a:solidFill>
            <a:prstDash val="solid"/>
          </a:ln>
        </p:spPr>
      </p:sp>
      <p:sp>
        <p:nvSpPr>
          <p:cNvPr id="62" name="Shape 60"/>
          <p:cNvSpPr/>
          <p:nvPr/>
        </p:nvSpPr>
        <p:spPr>
          <a:xfrm>
            <a:off x="4118356" y="3076956"/>
            <a:ext cx="155448" cy="155448"/>
          </a:xfrm>
          <a:prstGeom prst="ellipse">
            <a:avLst/>
          </a:prstGeom>
          <a:solidFill>
            <a:srgbClr val="F2A900"/>
          </a:solidFill>
          <a:ln w="12700">
            <a:solidFill>
              <a:srgbClr val="F2A900"/>
            </a:solidFill>
            <a:prstDash val="solid"/>
          </a:ln>
        </p:spPr>
      </p:sp>
      <p:sp>
        <p:nvSpPr>
          <p:cNvPr id="63" name="Shape 61"/>
          <p:cNvSpPr/>
          <p:nvPr/>
        </p:nvSpPr>
        <p:spPr>
          <a:xfrm>
            <a:off x="4809236" y="3076956"/>
            <a:ext cx="155448" cy="155448"/>
          </a:xfrm>
          <a:prstGeom prst="ellipse">
            <a:avLst/>
          </a:prstGeom>
          <a:solidFill>
            <a:srgbClr val="F2A900"/>
          </a:solidFill>
          <a:ln w="12700">
            <a:solidFill>
              <a:srgbClr val="F2A900"/>
            </a:solidFill>
            <a:prstDash val="solid"/>
          </a:ln>
        </p:spPr>
      </p:sp>
      <p:sp>
        <p:nvSpPr>
          <p:cNvPr id="64" name="Shape 62"/>
          <p:cNvSpPr/>
          <p:nvPr/>
        </p:nvSpPr>
        <p:spPr>
          <a:xfrm>
            <a:off x="5500116" y="3076956"/>
            <a:ext cx="155448" cy="155448"/>
          </a:xfrm>
          <a:prstGeom prst="ellipse">
            <a:avLst/>
          </a:prstGeom>
          <a:solidFill>
            <a:srgbClr val="FFFFFF"/>
          </a:solidFill>
          <a:ln w="12700">
            <a:solidFill>
              <a:srgbClr val="8FA3B8"/>
            </a:solidFill>
            <a:prstDash val="solid"/>
          </a:ln>
        </p:spPr>
      </p:sp>
      <p:sp>
        <p:nvSpPr>
          <p:cNvPr id="65" name="Shape 63"/>
          <p:cNvSpPr/>
          <p:nvPr/>
        </p:nvSpPr>
        <p:spPr>
          <a:xfrm>
            <a:off x="6190996" y="3076956"/>
            <a:ext cx="155448" cy="155448"/>
          </a:xfrm>
          <a:prstGeom prst="ellipse">
            <a:avLst/>
          </a:prstGeom>
          <a:solidFill>
            <a:srgbClr val="2A9D8F"/>
          </a:solidFill>
          <a:ln w="12700">
            <a:solidFill>
              <a:srgbClr val="2A9D8F"/>
            </a:solidFill>
            <a:prstDash val="solid"/>
          </a:ln>
        </p:spPr>
      </p:sp>
      <p:sp>
        <p:nvSpPr>
          <p:cNvPr id="66" name="Shape 64"/>
          <p:cNvSpPr/>
          <p:nvPr/>
        </p:nvSpPr>
        <p:spPr>
          <a:xfrm>
            <a:off x="6881876" y="3076956"/>
            <a:ext cx="155448" cy="155448"/>
          </a:xfrm>
          <a:prstGeom prst="ellipse">
            <a:avLst/>
          </a:prstGeom>
          <a:solidFill>
            <a:srgbClr val="F2A900"/>
          </a:solidFill>
          <a:ln w="12700">
            <a:solidFill>
              <a:srgbClr val="F2A900"/>
            </a:solidFill>
            <a:prstDash val="solid"/>
          </a:ln>
        </p:spPr>
      </p:sp>
      <p:sp>
        <p:nvSpPr>
          <p:cNvPr id="67" name="Shape 65"/>
          <p:cNvSpPr/>
          <p:nvPr/>
        </p:nvSpPr>
        <p:spPr>
          <a:xfrm>
            <a:off x="7572756" y="3076956"/>
            <a:ext cx="155448" cy="155448"/>
          </a:xfrm>
          <a:prstGeom prst="ellipse">
            <a:avLst/>
          </a:prstGeom>
          <a:solidFill>
            <a:srgbClr val="FFFFFF"/>
          </a:solidFill>
          <a:ln w="12700">
            <a:solidFill>
              <a:srgbClr val="8FA3B8"/>
            </a:solidFill>
            <a:prstDash val="solid"/>
          </a:ln>
        </p:spPr>
      </p:sp>
      <p:sp>
        <p:nvSpPr>
          <p:cNvPr id="68" name="Shape 66"/>
          <p:cNvSpPr/>
          <p:nvPr/>
        </p:nvSpPr>
        <p:spPr>
          <a:xfrm>
            <a:off x="8263636" y="3076956"/>
            <a:ext cx="155448" cy="155448"/>
          </a:xfrm>
          <a:prstGeom prst="ellipse">
            <a:avLst/>
          </a:prstGeom>
          <a:solidFill>
            <a:srgbClr val="FFFFFF"/>
          </a:solidFill>
          <a:ln w="12700">
            <a:solidFill>
              <a:srgbClr val="8FA3B8"/>
            </a:solidFill>
            <a:prstDash val="solid"/>
          </a:ln>
        </p:spPr>
      </p:sp>
      <p:sp>
        <p:nvSpPr>
          <p:cNvPr id="69" name="Shape 67"/>
          <p:cNvSpPr/>
          <p:nvPr/>
        </p:nvSpPr>
        <p:spPr>
          <a:xfrm>
            <a:off x="457200" y="3337560"/>
            <a:ext cx="8229600" cy="365760"/>
          </a:xfrm>
          <a:prstGeom prst="rect">
            <a:avLst/>
          </a:prstGeom>
          <a:solidFill>
            <a:srgbClr val="FFFFFF"/>
          </a:solidFill>
          <a:ln w="12700">
            <a:solidFill>
              <a:srgbClr val="FFFFFF"/>
            </a:solidFill>
            <a:prstDash val="solid"/>
          </a:ln>
        </p:spPr>
      </p:sp>
      <p:sp>
        <p:nvSpPr>
          <p:cNvPr id="70" name="Text 68"/>
          <p:cNvSpPr txBox="1"/>
          <p:nvPr/>
        </p:nvSpPr>
        <p:spPr>
          <a:xfrm>
            <a:off x="548640" y="3337560"/>
            <a:ext cx="1920240" cy="365760"/>
          </a:xfrm>
          <a:prstGeom prst="rect">
            <a:avLst/>
          </a:prstGeom>
          <a:noFill/>
          <a:ln/>
        </p:spPr>
        <p:txBody>
          <a:bodyPr wrap="square" lIns="0" tIns="0" rIns="0" bIns="0" rtlCol="0" anchor="ctr"/>
          <a:lstStyle/>
          <a:p>
            <a:pPr indent="0" marL="0">
              <a:buNone/>
            </a:pPr>
            <a:r>
              <a:rPr lang="en-US" sz="1100" dirty="0">
                <a:solidFill>
                  <a:srgbClr val="1B2A41"/>
                </a:solidFill>
              </a:rPr>
              <a:t>Virtual Traffic Police</a:t>
            </a:r>
            <a:endParaRPr lang="en-US" sz="1100" dirty="0"/>
          </a:p>
        </p:txBody>
      </p:sp>
      <p:sp>
        <p:nvSpPr>
          <p:cNvPr id="71" name="Shape 69"/>
          <p:cNvSpPr/>
          <p:nvPr/>
        </p:nvSpPr>
        <p:spPr>
          <a:xfrm>
            <a:off x="2736596" y="3442716"/>
            <a:ext cx="155448" cy="155448"/>
          </a:xfrm>
          <a:prstGeom prst="ellipse">
            <a:avLst/>
          </a:prstGeom>
          <a:solidFill>
            <a:srgbClr val="FFFFFF"/>
          </a:solidFill>
          <a:ln w="12700">
            <a:solidFill>
              <a:srgbClr val="8FA3B8"/>
            </a:solidFill>
            <a:prstDash val="solid"/>
          </a:ln>
        </p:spPr>
      </p:sp>
      <p:sp>
        <p:nvSpPr>
          <p:cNvPr id="72" name="Shape 70"/>
          <p:cNvSpPr/>
          <p:nvPr/>
        </p:nvSpPr>
        <p:spPr>
          <a:xfrm>
            <a:off x="3427476" y="3442716"/>
            <a:ext cx="155448" cy="155448"/>
          </a:xfrm>
          <a:prstGeom prst="ellipse">
            <a:avLst/>
          </a:prstGeom>
          <a:solidFill>
            <a:srgbClr val="FFFFFF"/>
          </a:solidFill>
          <a:ln w="12700">
            <a:solidFill>
              <a:srgbClr val="8FA3B8"/>
            </a:solidFill>
            <a:prstDash val="solid"/>
          </a:ln>
        </p:spPr>
      </p:sp>
      <p:sp>
        <p:nvSpPr>
          <p:cNvPr id="73" name="Shape 71"/>
          <p:cNvSpPr/>
          <p:nvPr/>
        </p:nvSpPr>
        <p:spPr>
          <a:xfrm>
            <a:off x="4118356" y="3442716"/>
            <a:ext cx="155448" cy="155448"/>
          </a:xfrm>
          <a:prstGeom prst="ellipse">
            <a:avLst/>
          </a:prstGeom>
          <a:solidFill>
            <a:srgbClr val="FFFFFF"/>
          </a:solidFill>
          <a:ln w="12700">
            <a:solidFill>
              <a:srgbClr val="8FA3B8"/>
            </a:solidFill>
            <a:prstDash val="solid"/>
          </a:ln>
        </p:spPr>
      </p:sp>
      <p:sp>
        <p:nvSpPr>
          <p:cNvPr id="74" name="Shape 72"/>
          <p:cNvSpPr/>
          <p:nvPr/>
        </p:nvSpPr>
        <p:spPr>
          <a:xfrm>
            <a:off x="4809236" y="3442716"/>
            <a:ext cx="155448" cy="155448"/>
          </a:xfrm>
          <a:prstGeom prst="ellipse">
            <a:avLst/>
          </a:prstGeom>
          <a:solidFill>
            <a:srgbClr val="FFFFFF"/>
          </a:solidFill>
          <a:ln w="12700">
            <a:solidFill>
              <a:srgbClr val="8FA3B8"/>
            </a:solidFill>
            <a:prstDash val="solid"/>
          </a:ln>
        </p:spPr>
      </p:sp>
      <p:sp>
        <p:nvSpPr>
          <p:cNvPr id="75" name="Shape 73"/>
          <p:cNvSpPr/>
          <p:nvPr/>
        </p:nvSpPr>
        <p:spPr>
          <a:xfrm>
            <a:off x="5500116" y="3442716"/>
            <a:ext cx="155448" cy="155448"/>
          </a:xfrm>
          <a:prstGeom prst="ellipse">
            <a:avLst/>
          </a:prstGeom>
          <a:solidFill>
            <a:srgbClr val="FFFFFF"/>
          </a:solidFill>
          <a:ln w="12700">
            <a:solidFill>
              <a:srgbClr val="8FA3B8"/>
            </a:solidFill>
            <a:prstDash val="solid"/>
          </a:ln>
        </p:spPr>
      </p:sp>
      <p:sp>
        <p:nvSpPr>
          <p:cNvPr id="76" name="Shape 74"/>
          <p:cNvSpPr/>
          <p:nvPr/>
        </p:nvSpPr>
        <p:spPr>
          <a:xfrm>
            <a:off x="6190996" y="3442716"/>
            <a:ext cx="155448" cy="155448"/>
          </a:xfrm>
          <a:prstGeom prst="ellipse">
            <a:avLst/>
          </a:prstGeom>
          <a:solidFill>
            <a:srgbClr val="FFFFFF"/>
          </a:solidFill>
          <a:ln w="12700">
            <a:solidFill>
              <a:srgbClr val="8FA3B8"/>
            </a:solidFill>
            <a:prstDash val="solid"/>
          </a:ln>
        </p:spPr>
      </p:sp>
      <p:sp>
        <p:nvSpPr>
          <p:cNvPr id="77" name="Shape 75"/>
          <p:cNvSpPr/>
          <p:nvPr/>
        </p:nvSpPr>
        <p:spPr>
          <a:xfrm>
            <a:off x="6881876" y="3442716"/>
            <a:ext cx="155448" cy="155448"/>
          </a:xfrm>
          <a:prstGeom prst="ellipse">
            <a:avLst/>
          </a:prstGeom>
          <a:solidFill>
            <a:srgbClr val="FFFFFF"/>
          </a:solidFill>
          <a:ln w="12700">
            <a:solidFill>
              <a:srgbClr val="8FA3B8"/>
            </a:solidFill>
            <a:prstDash val="solid"/>
          </a:ln>
        </p:spPr>
      </p:sp>
      <p:sp>
        <p:nvSpPr>
          <p:cNvPr id="78" name="Shape 76"/>
          <p:cNvSpPr/>
          <p:nvPr/>
        </p:nvSpPr>
        <p:spPr>
          <a:xfrm>
            <a:off x="7572756" y="3442716"/>
            <a:ext cx="155448" cy="155448"/>
          </a:xfrm>
          <a:prstGeom prst="ellipse">
            <a:avLst/>
          </a:prstGeom>
          <a:solidFill>
            <a:srgbClr val="2A9D8F"/>
          </a:solidFill>
          <a:ln w="12700">
            <a:solidFill>
              <a:srgbClr val="2A9D8F"/>
            </a:solidFill>
            <a:prstDash val="solid"/>
          </a:ln>
        </p:spPr>
      </p:sp>
      <p:sp>
        <p:nvSpPr>
          <p:cNvPr id="79" name="Shape 77"/>
          <p:cNvSpPr/>
          <p:nvPr/>
        </p:nvSpPr>
        <p:spPr>
          <a:xfrm>
            <a:off x="8263636" y="3442716"/>
            <a:ext cx="155448" cy="155448"/>
          </a:xfrm>
          <a:prstGeom prst="ellipse">
            <a:avLst/>
          </a:prstGeom>
          <a:solidFill>
            <a:srgbClr val="F2A900"/>
          </a:solidFill>
          <a:ln w="12700">
            <a:solidFill>
              <a:srgbClr val="F2A900"/>
            </a:solidFill>
            <a:prstDash val="solid"/>
          </a:ln>
        </p:spPr>
      </p:sp>
      <p:sp>
        <p:nvSpPr>
          <p:cNvPr id="80" name="Shape 78"/>
          <p:cNvSpPr/>
          <p:nvPr/>
        </p:nvSpPr>
        <p:spPr>
          <a:xfrm>
            <a:off x="457200" y="3703320"/>
            <a:ext cx="8229600" cy="365760"/>
          </a:xfrm>
          <a:prstGeom prst="rect">
            <a:avLst/>
          </a:prstGeom>
          <a:solidFill>
            <a:srgbClr val="FFF4D6"/>
          </a:solidFill>
          <a:ln w="12700">
            <a:solidFill>
              <a:srgbClr val="FFF4D6"/>
            </a:solidFill>
            <a:prstDash val="solid"/>
          </a:ln>
        </p:spPr>
      </p:sp>
      <p:sp>
        <p:nvSpPr>
          <p:cNvPr id="81" name="Text 79"/>
          <p:cNvSpPr txBox="1"/>
          <p:nvPr/>
        </p:nvSpPr>
        <p:spPr>
          <a:xfrm>
            <a:off x="548640" y="3703320"/>
            <a:ext cx="1920240" cy="365760"/>
          </a:xfrm>
          <a:prstGeom prst="rect">
            <a:avLst/>
          </a:prstGeom>
          <a:noFill/>
          <a:ln/>
        </p:spPr>
        <p:txBody>
          <a:bodyPr wrap="square" lIns="0" tIns="0" rIns="0" bIns="0" rtlCol="0" anchor="ctr"/>
          <a:lstStyle/>
          <a:p>
            <a:pPr indent="0" marL="0">
              <a:buNone/>
            </a:pPr>
            <a:r>
              <a:rPr lang="en-US" sz="1100" b="1" dirty="0">
                <a:solidFill>
                  <a:srgbClr val="B07A00"/>
                </a:solidFill>
              </a:rPr>
              <a:t>Our project</a:t>
            </a:r>
            <a:endParaRPr lang="en-US" sz="1100" dirty="0"/>
          </a:p>
        </p:txBody>
      </p:sp>
      <p:sp>
        <p:nvSpPr>
          <p:cNvPr id="82" name="Shape 80"/>
          <p:cNvSpPr/>
          <p:nvPr/>
        </p:nvSpPr>
        <p:spPr>
          <a:xfrm>
            <a:off x="2736596" y="3808476"/>
            <a:ext cx="155448" cy="155448"/>
          </a:xfrm>
          <a:prstGeom prst="ellipse">
            <a:avLst/>
          </a:prstGeom>
          <a:solidFill>
            <a:srgbClr val="2A9D8F"/>
          </a:solidFill>
          <a:ln w="12700">
            <a:solidFill>
              <a:srgbClr val="2A9D8F"/>
            </a:solidFill>
            <a:prstDash val="solid"/>
          </a:ln>
        </p:spPr>
      </p:sp>
      <p:sp>
        <p:nvSpPr>
          <p:cNvPr id="83" name="Shape 81"/>
          <p:cNvSpPr/>
          <p:nvPr/>
        </p:nvSpPr>
        <p:spPr>
          <a:xfrm>
            <a:off x="3427476" y="3808476"/>
            <a:ext cx="155448" cy="155448"/>
          </a:xfrm>
          <a:prstGeom prst="ellipse">
            <a:avLst/>
          </a:prstGeom>
          <a:solidFill>
            <a:srgbClr val="2A9D8F"/>
          </a:solidFill>
          <a:ln w="12700">
            <a:solidFill>
              <a:srgbClr val="2A9D8F"/>
            </a:solidFill>
            <a:prstDash val="solid"/>
          </a:ln>
        </p:spPr>
      </p:sp>
      <p:sp>
        <p:nvSpPr>
          <p:cNvPr id="84" name="Shape 82"/>
          <p:cNvSpPr/>
          <p:nvPr/>
        </p:nvSpPr>
        <p:spPr>
          <a:xfrm>
            <a:off x="4118356" y="3808476"/>
            <a:ext cx="155448" cy="155448"/>
          </a:xfrm>
          <a:prstGeom prst="ellipse">
            <a:avLst/>
          </a:prstGeom>
          <a:solidFill>
            <a:srgbClr val="2A9D8F"/>
          </a:solidFill>
          <a:ln w="12700">
            <a:solidFill>
              <a:srgbClr val="2A9D8F"/>
            </a:solidFill>
            <a:prstDash val="solid"/>
          </a:ln>
        </p:spPr>
      </p:sp>
      <p:sp>
        <p:nvSpPr>
          <p:cNvPr id="85" name="Shape 83"/>
          <p:cNvSpPr/>
          <p:nvPr/>
        </p:nvSpPr>
        <p:spPr>
          <a:xfrm>
            <a:off x="4809236" y="3808476"/>
            <a:ext cx="155448" cy="155448"/>
          </a:xfrm>
          <a:prstGeom prst="ellipse">
            <a:avLst/>
          </a:prstGeom>
          <a:solidFill>
            <a:srgbClr val="2A9D8F"/>
          </a:solidFill>
          <a:ln w="12700">
            <a:solidFill>
              <a:srgbClr val="2A9D8F"/>
            </a:solidFill>
            <a:prstDash val="solid"/>
          </a:ln>
        </p:spPr>
      </p:sp>
      <p:sp>
        <p:nvSpPr>
          <p:cNvPr id="86" name="Shape 84"/>
          <p:cNvSpPr/>
          <p:nvPr/>
        </p:nvSpPr>
        <p:spPr>
          <a:xfrm>
            <a:off x="5500116" y="3808476"/>
            <a:ext cx="155448" cy="155448"/>
          </a:xfrm>
          <a:prstGeom prst="ellipse">
            <a:avLst/>
          </a:prstGeom>
          <a:solidFill>
            <a:srgbClr val="2A9D8F"/>
          </a:solidFill>
          <a:ln w="12700">
            <a:solidFill>
              <a:srgbClr val="2A9D8F"/>
            </a:solidFill>
            <a:prstDash val="solid"/>
          </a:ln>
        </p:spPr>
      </p:sp>
      <p:sp>
        <p:nvSpPr>
          <p:cNvPr id="87" name="Shape 85"/>
          <p:cNvSpPr/>
          <p:nvPr/>
        </p:nvSpPr>
        <p:spPr>
          <a:xfrm>
            <a:off x="6190996" y="3808476"/>
            <a:ext cx="155448" cy="155448"/>
          </a:xfrm>
          <a:prstGeom prst="ellipse">
            <a:avLst/>
          </a:prstGeom>
          <a:solidFill>
            <a:srgbClr val="2A9D8F"/>
          </a:solidFill>
          <a:ln w="12700">
            <a:solidFill>
              <a:srgbClr val="2A9D8F"/>
            </a:solidFill>
            <a:prstDash val="solid"/>
          </a:ln>
        </p:spPr>
      </p:sp>
      <p:sp>
        <p:nvSpPr>
          <p:cNvPr id="88" name="Shape 86"/>
          <p:cNvSpPr/>
          <p:nvPr/>
        </p:nvSpPr>
        <p:spPr>
          <a:xfrm>
            <a:off x="6881876" y="3808476"/>
            <a:ext cx="155448" cy="155448"/>
          </a:xfrm>
          <a:prstGeom prst="ellipse">
            <a:avLst/>
          </a:prstGeom>
          <a:solidFill>
            <a:srgbClr val="2A9D8F"/>
          </a:solidFill>
          <a:ln w="12700">
            <a:solidFill>
              <a:srgbClr val="2A9D8F"/>
            </a:solidFill>
            <a:prstDash val="solid"/>
          </a:ln>
        </p:spPr>
      </p:sp>
      <p:sp>
        <p:nvSpPr>
          <p:cNvPr id="89" name="Shape 87"/>
          <p:cNvSpPr/>
          <p:nvPr/>
        </p:nvSpPr>
        <p:spPr>
          <a:xfrm>
            <a:off x="7572756" y="3808476"/>
            <a:ext cx="155448" cy="155448"/>
          </a:xfrm>
          <a:prstGeom prst="ellipse">
            <a:avLst/>
          </a:prstGeom>
          <a:solidFill>
            <a:srgbClr val="2A9D8F"/>
          </a:solidFill>
          <a:ln w="12700">
            <a:solidFill>
              <a:srgbClr val="2A9D8F"/>
            </a:solidFill>
            <a:prstDash val="solid"/>
          </a:ln>
        </p:spPr>
      </p:sp>
      <p:sp>
        <p:nvSpPr>
          <p:cNvPr id="90" name="Shape 88"/>
          <p:cNvSpPr/>
          <p:nvPr/>
        </p:nvSpPr>
        <p:spPr>
          <a:xfrm>
            <a:off x="8263636" y="3808476"/>
            <a:ext cx="155448" cy="155448"/>
          </a:xfrm>
          <a:prstGeom prst="ellipse">
            <a:avLst/>
          </a:prstGeom>
          <a:solidFill>
            <a:srgbClr val="2A9D8F"/>
          </a:solidFill>
          <a:ln w="12700">
            <a:solidFill>
              <a:srgbClr val="2A9D8F"/>
            </a:solidFill>
            <a:prstDash val="solid"/>
          </a:ln>
        </p:spPr>
      </p:sp>
      <p:sp>
        <p:nvSpPr>
          <p:cNvPr id="91" name="Shape 89"/>
          <p:cNvSpPr/>
          <p:nvPr/>
        </p:nvSpPr>
        <p:spPr>
          <a:xfrm>
            <a:off x="457200" y="4288536"/>
            <a:ext cx="146304" cy="146304"/>
          </a:xfrm>
          <a:prstGeom prst="ellipse">
            <a:avLst/>
          </a:prstGeom>
          <a:solidFill>
            <a:srgbClr val="2A9D8F"/>
          </a:solidFill>
          <a:ln w="12700">
            <a:solidFill>
              <a:srgbClr val="2A9D8F"/>
            </a:solidFill>
            <a:prstDash val="solid"/>
          </a:ln>
        </p:spPr>
      </p:sp>
      <p:sp>
        <p:nvSpPr>
          <p:cNvPr id="92" name="Text 90"/>
          <p:cNvSpPr txBox="1"/>
          <p:nvPr/>
        </p:nvSpPr>
        <p:spPr>
          <a:xfrm>
            <a:off x="676656" y="4224528"/>
            <a:ext cx="914400" cy="274320"/>
          </a:xfrm>
          <a:prstGeom prst="rect">
            <a:avLst/>
          </a:prstGeom>
          <a:noFill/>
          <a:ln/>
        </p:spPr>
        <p:txBody>
          <a:bodyPr wrap="square" lIns="0" tIns="0" rIns="0" bIns="0" rtlCol="0" anchor="ctr"/>
          <a:lstStyle/>
          <a:p>
            <a:pPr indent="0" marL="0">
              <a:buNone/>
            </a:pPr>
            <a:r>
              <a:rPr lang="en-US" sz="1000" dirty="0">
                <a:solidFill>
                  <a:srgbClr val="4A5B70"/>
                </a:solidFill>
              </a:rPr>
              <a:t>Covered</a:t>
            </a:r>
            <a:endParaRPr lang="en-US" sz="1000" dirty="0"/>
          </a:p>
        </p:txBody>
      </p:sp>
      <p:sp>
        <p:nvSpPr>
          <p:cNvPr id="93" name="Shape 91"/>
          <p:cNvSpPr/>
          <p:nvPr/>
        </p:nvSpPr>
        <p:spPr>
          <a:xfrm>
            <a:off x="1645920" y="4288536"/>
            <a:ext cx="146304" cy="146304"/>
          </a:xfrm>
          <a:prstGeom prst="ellipse">
            <a:avLst/>
          </a:prstGeom>
          <a:solidFill>
            <a:srgbClr val="F2A900"/>
          </a:solidFill>
          <a:ln w="12700">
            <a:solidFill>
              <a:srgbClr val="F2A900"/>
            </a:solidFill>
            <a:prstDash val="solid"/>
          </a:ln>
        </p:spPr>
      </p:sp>
      <p:sp>
        <p:nvSpPr>
          <p:cNvPr id="94" name="Text 92"/>
          <p:cNvSpPr txBox="1"/>
          <p:nvPr/>
        </p:nvSpPr>
        <p:spPr>
          <a:xfrm>
            <a:off x="1865376" y="4224528"/>
            <a:ext cx="914400" cy="274320"/>
          </a:xfrm>
          <a:prstGeom prst="rect">
            <a:avLst/>
          </a:prstGeom>
          <a:noFill/>
          <a:ln/>
        </p:spPr>
        <p:txBody>
          <a:bodyPr wrap="square" lIns="0" tIns="0" rIns="0" bIns="0" rtlCol="0" anchor="ctr"/>
          <a:lstStyle/>
          <a:p>
            <a:pPr indent="0" marL="0">
              <a:buNone/>
            </a:pPr>
            <a:r>
              <a:rPr lang="en-US" sz="1000" dirty="0">
                <a:solidFill>
                  <a:srgbClr val="4A5B70"/>
                </a:solidFill>
              </a:rPr>
              <a:t>Partly</a:t>
            </a:r>
            <a:endParaRPr lang="en-US" sz="1000" dirty="0"/>
          </a:p>
        </p:txBody>
      </p:sp>
      <p:sp>
        <p:nvSpPr>
          <p:cNvPr id="95" name="Shape 93"/>
          <p:cNvSpPr/>
          <p:nvPr/>
        </p:nvSpPr>
        <p:spPr>
          <a:xfrm>
            <a:off x="2834640" y="4288536"/>
            <a:ext cx="146304" cy="146304"/>
          </a:xfrm>
          <a:prstGeom prst="ellipse">
            <a:avLst/>
          </a:prstGeom>
          <a:solidFill>
            <a:srgbClr val="FFFFFF"/>
          </a:solidFill>
          <a:ln w="12700">
            <a:solidFill>
              <a:srgbClr val="8FA3B8"/>
            </a:solidFill>
            <a:prstDash val="solid"/>
          </a:ln>
        </p:spPr>
      </p:sp>
      <p:sp>
        <p:nvSpPr>
          <p:cNvPr id="96" name="Text 94"/>
          <p:cNvSpPr txBox="1"/>
          <p:nvPr/>
        </p:nvSpPr>
        <p:spPr>
          <a:xfrm>
            <a:off x="3054096" y="4224528"/>
            <a:ext cx="914400" cy="274320"/>
          </a:xfrm>
          <a:prstGeom prst="rect">
            <a:avLst/>
          </a:prstGeom>
          <a:noFill/>
          <a:ln/>
        </p:spPr>
        <p:txBody>
          <a:bodyPr wrap="square" lIns="0" tIns="0" rIns="0" bIns="0" rtlCol="0" anchor="ctr"/>
          <a:lstStyle/>
          <a:p>
            <a:pPr indent="0" marL="0">
              <a:buNone/>
            </a:pPr>
            <a:r>
              <a:rPr lang="en-US" sz="1000" dirty="0">
                <a:solidFill>
                  <a:srgbClr val="4A5B70"/>
                </a:solidFill>
              </a:rPr>
              <a:t>Not covered</a:t>
            </a:r>
            <a:endParaRPr lang="en-US" sz="1000" dirty="0"/>
          </a:p>
        </p:txBody>
      </p:sp>
      <p:sp>
        <p:nvSpPr>
          <p:cNvPr id="97" name="Text 95"/>
          <p:cNvSpPr txBox="1"/>
          <p:nvPr/>
        </p:nvSpPr>
        <p:spPr>
          <a:xfrm>
            <a:off x="4023360" y="4224528"/>
            <a:ext cx="4663440" cy="274320"/>
          </a:xfrm>
          <a:prstGeom prst="rect">
            <a:avLst/>
          </a:prstGeom>
          <a:noFill/>
          <a:ln/>
        </p:spPr>
        <p:txBody>
          <a:bodyPr wrap="square" lIns="0" tIns="0" rIns="0" bIns="0" rtlCol="0" anchor="ctr"/>
          <a:lstStyle/>
          <a:p>
            <a:pPr algn="r" indent="0" marL="0">
              <a:buNone/>
            </a:pPr>
            <a:r>
              <a:rPr lang="en-US" sz="1100" dirty="0">
                <a:solidFill>
                  <a:srgbClr val="1B2A41"/>
                </a:solidFill>
              </a:rPr>
              <a:t>Only our project covers </a:t>
            </a:r>
            <a:pPr algn="r" indent="0" marL="0">
              <a:buNone/>
            </a:pPr>
            <a:r>
              <a:rPr lang="en-US" sz="1100" b="1" dirty="0">
                <a:solidFill>
                  <a:srgbClr val="1B2A41"/>
                </a:solidFill>
                <a:highlight>
                  <a:srgbClr val="FFE08A"/>
                </a:highlight>
              </a:rPr>
              <a:t>synthetic training, cost and report faithfulness</a:t>
            </a:r>
            <a:pPr algn="r" indent="0" marL="0">
              <a:buNone/>
            </a:pPr>
            <a:r>
              <a:rPr lang="en-US" sz="1100" dirty="0">
                <a:solidFill>
                  <a:srgbClr val="1B2A41"/>
                </a:solidFill>
              </a:rPr>
              <a:t> together.</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adge"/>
          <p:cNvSpPr/>
          <p:nvPr/>
        </p:nvSpPr>
        <p:spPr>
          <a:xfrm>
            <a:off x="457200" y="320040"/>
            <a:ext cx="457200" cy="457200"/>
          </a:xfrm>
          <a:prstGeom prst="ellipse">
            <a:avLst/>
          </a:prstGeom>
          <a:solidFill>
            <a:srgbClr val="F2A900"/>
          </a:solidFill>
          <a:ln w="12700">
            <a:solidFill>
              <a:srgbClr val="F2A900"/>
            </a:solidFill>
            <a:prstDash val="solid"/>
          </a:ln>
        </p:spPr>
      </p:sp>
      <p:sp>
        <p:nvSpPr>
          <p:cNvPr id="3" name="Text 1"/>
          <p:cNvSpPr txBox="1"/>
          <p:nvPr/>
        </p:nvSpPr>
        <p:spPr>
          <a:xfrm>
            <a:off x="457200" y="32004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4" name="Text 1"/>
          <p:cNvSpPr/>
          <p:nvPr>
            <p:ph idx="101" type="title" hasCustomPrompt="1"/>
          </p:nvPr>
        </p:nvSpPr>
        <p:spPr>
          <a:xfrm>
            <a:off x="1097280" y="292608"/>
            <a:ext cx="7589520" cy="548640"/>
          </a:xfrm>
          <a:prstGeom prst="rect">
            <a:avLst/>
          </a:prstGeom>
          <a:noFill/>
          <a:ln/>
        </p:spPr>
        <p:txBody>
          <a:bodyPr wrap="square" lIns="0" tIns="0" rIns="0" bIns="0" rtlCol="0" anchor="ctr"/>
          <a:lstStyle/>
          <a:p>
            <a:pPr algn="l" indent="0" marL="0">
              <a:buNone/>
            </a:pPr>
            <a:r>
              <a:rPr lang="en-US" sz="2600" b="1" dirty="0">
                <a:solidFill>
                  <a:schemeClr val="tx1"/>
                </a:solidFill>
              </a:rPr>
              <a:t>Literature Pack — Comparison Table</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914400"/>
        </p:xfrm>
        <a:graphic>
          <a:graphicData uri="http://schemas.openxmlformats.org/drawingml/2006/table">
            <a:tbl>
              <a:tblPr/>
              <a:tblGrid>
                <a:gridCol w="1783080"/>
                <a:gridCol w="2331720"/>
                <a:gridCol w="1188720"/>
                <a:gridCol w="1188720"/>
                <a:gridCol w="1737360"/>
              </a:tblGrid>
              <a:tr h="329184">
                <a:tc>
                  <a:txBody>
                    <a:bodyPr/>
                    <a:lstStyle/>
                    <a:p>
                      <a:pPr indent="0" marL="0">
                        <a:buNone/>
                      </a:pPr>
                      <a:r>
                        <a:rPr lang="en-US" sz="1050" b="1" dirty="0">
                          <a:solidFill>
                            <a:srgbClr val="FFFFFF"/>
                          </a:solidFill>
                        </a:rPr>
                        <a:t>Work</a:t>
                      </a:r>
                      <a:endParaRPr lang="en-US" sz="105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B2A41"/>
                    </a:solidFill>
                  </a:tcPr>
                </a:tc>
                <a:tc>
                  <a:txBody>
                    <a:bodyPr/>
                    <a:lstStyle/>
                    <a:p>
                      <a:pPr indent="0" marL="0">
                        <a:buNone/>
                      </a:pPr>
                      <a:r>
                        <a:rPr lang="en-US" sz="1050" b="1" dirty="0">
                          <a:solidFill>
                            <a:srgbClr val="FFFFFF"/>
                          </a:solidFill>
                        </a:rPr>
                        <a:t>Approach</a:t>
                      </a:r>
                      <a:endParaRPr lang="en-US" sz="105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B2A41"/>
                    </a:solidFill>
                  </a:tcPr>
                </a:tc>
                <a:tc>
                  <a:txBody>
                    <a:bodyPr/>
                    <a:lstStyle/>
                    <a:p>
                      <a:pPr indent="0" marL="0">
                        <a:buNone/>
                      </a:pPr>
                      <a:r>
                        <a:rPr lang="en-US" sz="1050" b="1" dirty="0">
                          <a:solidFill>
                            <a:srgbClr val="FFFFFF"/>
                          </a:solidFill>
                        </a:rPr>
                        <a:t>Training</a:t>
                      </a:r>
                      <a:endParaRPr lang="en-US" sz="105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B2A41"/>
                    </a:solidFill>
                  </a:tcPr>
                </a:tc>
                <a:tc>
                  <a:txBody>
                    <a:bodyPr/>
                    <a:lstStyle/>
                    <a:p>
                      <a:pPr indent="0" marL="0">
                        <a:buNone/>
                      </a:pPr>
                      <a:r>
                        <a:rPr lang="en-US" sz="1050" b="1" dirty="0">
                          <a:solidFill>
                            <a:srgbClr val="FFFFFF"/>
                          </a:solidFill>
                        </a:rPr>
                        <a:t>Result</a:t>
                      </a:r>
                      <a:endParaRPr lang="en-US" sz="105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B2A41"/>
                    </a:solidFill>
                  </a:tcPr>
                </a:tc>
                <a:tc>
                  <a:txBody>
                    <a:bodyPr/>
                    <a:lstStyle/>
                    <a:p>
                      <a:pPr indent="0" marL="0">
                        <a:buNone/>
                      </a:pPr>
                      <a:r>
                        <a:rPr lang="en-US" sz="1050" b="1" dirty="0">
                          <a:solidFill>
                            <a:srgbClr val="FFFFFF"/>
                          </a:solidFill>
                        </a:rPr>
                        <a:t>Main limitation</a:t>
                      </a:r>
                      <a:endParaRPr lang="en-US" sz="105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B2A41"/>
                    </a:solidFill>
                  </a:tcPr>
                </a:tc>
              </a:tr>
              <a:tr h="512064">
                <a:tc>
                  <a:txBody>
                    <a:bodyPr/>
                    <a:lstStyle/>
                    <a:p>
                      <a:pPr indent="0" marL="0">
                        <a:buNone/>
                      </a:pPr>
                      <a:r>
                        <a:rPr lang="en-US" sz="1050" b="1" dirty="0">
                          <a:solidFill>
                            <a:srgbClr val="1B2A41"/>
                          </a:solidFill>
                        </a:rPr>
                        <a:t>ACCIDENT Benchmark</a:t>
                      </a:r>
                      <a:endParaRPr lang="en-US" sz="1000" dirty="0"/>
                    </a:p>
                    <a:p>
                      <a:pPr indent="0" marL="0">
                        <a:buNone/>
                      </a:pPr>
                      <a:r>
                        <a:rPr lang="en-US" sz="850" i="1" dirty="0">
                          <a:solidFill>
                            <a:srgbClr val="4A5B70"/>
                          </a:solidFill>
                        </a:rPr>
                        <a:t>Picek et al. 2026</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00" dirty="0">
                          <a:solidFill>
                            <a:srgbClr val="1B2A41"/>
                          </a:solidFill>
                        </a:rPr>
                        <a:t>Baseline suite: optical flow, YOLO11x + ByteTrack, VLMs</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00" dirty="0">
                          <a:solidFill>
                            <a:srgbClr val="4A5B70"/>
                          </a:solidFill>
                        </a:rPr>
                        <a:t>Linear probes on synthetic</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00" b="1" dirty="0">
                          <a:solidFill>
                            <a:srgbClr val="1F7A6F"/>
                          </a:solidFill>
                        </a:rPr>
                        <a:t>ACCS 0.41</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00" dirty="0">
                          <a:solidFill>
                            <a:srgbClr val="B5482E"/>
                          </a:solidFill>
                        </a:rPr>
                        <a:t>Far below human level (~0.96)</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r>
              <a:tr h="512064">
                <a:tc>
                  <a:txBody>
                    <a:bodyPr/>
                    <a:lstStyle/>
                    <a:p>
                      <a:pPr indent="0" marL="0">
                        <a:buNone/>
                      </a:pPr>
                      <a:r>
                        <a:rPr lang="en-US" sz="1050" b="1" dirty="0">
                          <a:solidFill>
                            <a:srgbClr val="1B2A41"/>
                          </a:solidFill>
                        </a:rPr>
                        <a:t>Multi-Stage VLM</a:t>
                      </a:r>
                      <a:endParaRPr lang="en-US" sz="1000" dirty="0"/>
                    </a:p>
                    <a:p>
                      <a:pPr indent="0" marL="0">
                        <a:buNone/>
                      </a:pPr>
                      <a:r>
                        <a:rPr lang="en-US" sz="850" i="1" dirty="0">
                          <a:solidFill>
                            <a:srgbClr val="4A5B70"/>
                          </a:solidFill>
                        </a:rPr>
                        <a:t>Tatematsu &amp; Takahashi 2026</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1B2A41"/>
                          </a:solidFill>
                        </a:rPr>
                        <a:t>3 VLM stages, Qwen3-VL 32B + 235B ensemble</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4A5B70"/>
                          </a:solidFill>
                        </a:rPr>
                        <a:t>None (zero-shot)</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b="1" dirty="0">
                          <a:solidFill>
                            <a:srgbClr val="1F7A6F"/>
                          </a:solidFill>
                        </a:rPr>
                        <a:t>ACCS 0.57 · 1st</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B5482E"/>
                          </a:solidFill>
                        </a:rPr>
                        <a:t>≈ 93 GPU-hours for 2,027 clips</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r>
              <a:tr h="512064">
                <a:tc>
                  <a:txBody>
                    <a:bodyPr/>
                    <a:lstStyle/>
                    <a:p>
                      <a:pPr indent="0" marL="0">
                        <a:buNone/>
                      </a:pPr>
                      <a:r>
                        <a:rPr lang="en-US" sz="1050" b="1" dirty="0">
                          <a:solidFill>
                            <a:srgbClr val="1B2A41"/>
                          </a:solidFill>
                        </a:rPr>
                        <a:t>Coarse-to-Fine VLM</a:t>
                      </a:r>
                      <a:endParaRPr lang="en-US" sz="1000" dirty="0"/>
                    </a:p>
                    <a:p>
                      <a:pPr indent="0" marL="0">
                        <a:buNone/>
                      </a:pPr>
                      <a:r>
                        <a:rPr lang="en-US" sz="850" i="1" dirty="0">
                          <a:solidFill>
                            <a:srgbClr val="4A5B70"/>
                          </a:solidFill>
                        </a:rPr>
                        <a:t>Saha et al. 2026</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00" dirty="0">
                          <a:solidFill>
                            <a:srgbClr val="1B2A41"/>
                          </a:solidFill>
                        </a:rPr>
                        <a:t>Two-pass VLM + YOLO11x + BoT-SORT tracking</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00" dirty="0">
                          <a:solidFill>
                            <a:srgbClr val="4A5B70"/>
                          </a:solidFill>
                        </a:rPr>
                        <a:t>None (zero-shot)</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00" b="1" dirty="0">
                          <a:solidFill>
                            <a:srgbClr val="1F7A6F"/>
                          </a:solidFill>
                        </a:rPr>
                        <a:t>ACCS 0.50</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00" dirty="0">
                          <a:solidFill>
                            <a:srgbClr val="B5482E"/>
                          </a:solidFill>
                        </a:rPr>
                        <a:t>Night &amp; compression; single-vehicle → T-bone</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r>
              <a:tr h="512064">
                <a:tc>
                  <a:txBody>
                    <a:bodyPr/>
                    <a:lstStyle/>
                    <a:p>
                      <a:pPr indent="0" marL="0">
                        <a:buNone/>
                      </a:pPr>
                      <a:r>
                        <a:rPr lang="en-US" sz="1050" b="1" dirty="0">
                          <a:solidFill>
                            <a:srgbClr val="1B2A41"/>
                          </a:solidFill>
                        </a:rPr>
                        <a:t>Modular Zero-Shot</a:t>
                      </a:r>
                      <a:endParaRPr lang="en-US" sz="1000" dirty="0"/>
                    </a:p>
                    <a:p>
                      <a:pPr indent="0" marL="0">
                        <a:buNone/>
                      </a:pPr>
                      <a:r>
                        <a:rPr lang="en-US" sz="850" i="1" dirty="0">
                          <a:solidFill>
                            <a:srgbClr val="4A5B70"/>
                          </a:solidFill>
                        </a:rPr>
                        <a:t>Thakur &amp; Talele 2026</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1B2A41"/>
                          </a:solidFill>
                        </a:rPr>
                        <a:t>Frame difference + optical flow + CLIP prompts</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4A5B70"/>
                          </a:solidFill>
                        </a:rPr>
                        <a:t>None (zero-shot)</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b="1" dirty="0">
                          <a:solidFill>
                            <a:srgbClr val="1F7A6F"/>
                          </a:solidFill>
                        </a:rPr>
                        <a:t>0.25 (public LB)</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B5482E"/>
                          </a:solidFill>
                        </a:rPr>
                        <a:t>CLIP confused by CCTV viewpoints</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r>
              <a:tr h="512064">
                <a:tc>
                  <a:txBody>
                    <a:bodyPr/>
                    <a:lstStyle/>
                    <a:p>
                      <a:pPr indent="0" marL="0">
                        <a:buNone/>
                      </a:pPr>
                      <a:r>
                        <a:rPr lang="en-US" sz="1050" b="1" dirty="0">
                          <a:solidFill>
                            <a:srgbClr val="1B2A41"/>
                          </a:solidFill>
                        </a:rPr>
                        <a:t>TAD Benchmark</a:t>
                      </a:r>
                      <a:endParaRPr lang="en-US" sz="1000" dirty="0"/>
                    </a:p>
                    <a:p>
                      <a:pPr indent="0" marL="0">
                        <a:buNone/>
                      </a:pPr>
                      <a:r>
                        <a:rPr lang="en-US" sz="850" i="1" dirty="0">
                          <a:solidFill>
                            <a:srgbClr val="4A5B70"/>
                          </a:solidFill>
                        </a:rPr>
                        <a:t>Xu et al. · IEEE Access</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00" dirty="0">
                          <a:solidFill>
                            <a:srgbClr val="1B2A41"/>
                          </a:solidFill>
                        </a:rPr>
                        <a:t>ResNet50, VideoSwin, YOLOv8 baselines</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00" dirty="0">
                          <a:solidFill>
                            <a:srgbClr val="4A5B70"/>
                          </a:solidFill>
                        </a:rPr>
                        <a:t>Supervised on real</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00" b="1" dirty="0">
                          <a:solidFill>
                            <a:srgbClr val="1F7A6F"/>
                          </a:solidFill>
                        </a:rPr>
                        <a:t>Video model: best F1</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00" dirty="0">
                          <a:solidFill>
                            <a:srgbClr val="B5482E"/>
                          </a:solidFill>
                        </a:rPr>
                        <a:t>Misses small, distant targets</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r>
              <a:tr h="512064">
                <a:tc>
                  <a:txBody>
                    <a:bodyPr/>
                    <a:lstStyle/>
                    <a:p>
                      <a:pPr indent="0" marL="0">
                        <a:buNone/>
                      </a:pPr>
                      <a:r>
                        <a:rPr lang="en-US" sz="1050" b="1" dirty="0">
                          <a:solidFill>
                            <a:srgbClr val="1B2A41"/>
                          </a:solidFill>
                        </a:rPr>
                        <a:t>Virtual Traffic Police</a:t>
                      </a:r>
                      <a:endParaRPr lang="en-US" sz="1000" dirty="0"/>
                    </a:p>
                    <a:p>
                      <a:pPr indent="0" marL="0">
                        <a:buNone/>
                      </a:pPr>
                      <a:r>
                        <a:rPr lang="en-US" sz="850" i="1" dirty="0">
                          <a:solidFill>
                            <a:srgbClr val="4A5B70"/>
                          </a:solidFill>
                        </a:rPr>
                        <a:t>Wei et al. 2026</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1B2A41"/>
                          </a:solidFill>
                        </a:rPr>
                        <a:t>LLM + RAG + verifier adjusts signal control</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4A5B70"/>
                          </a:solidFill>
                        </a:rPr>
                        <a:t>No training (RAG)</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b="1" dirty="0">
                          <a:solidFill>
                            <a:srgbClr val="1F7A6F"/>
                          </a:solidFill>
                        </a:rPr>
                        <a:t>Delay 305 → 232 s</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B5482E"/>
                          </a:solidFill>
                        </a:rPr>
                        <a:t>Simulation only; incident assumed known</a:t>
                      </a:r>
                      <a:endParaRPr lang="en-US" sz="1000" dirty="0"/>
                    </a:p>
                  </a:txBody>
                  <a:tcPr marL="73152" marR="73152" marT="27432" marB="27432"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adge"/>
          <p:cNvSpPr/>
          <p:nvPr/>
        </p:nvSpPr>
        <p:spPr>
          <a:xfrm>
            <a:off x="457200" y="320040"/>
            <a:ext cx="457200" cy="457200"/>
          </a:xfrm>
          <a:prstGeom prst="ellipse">
            <a:avLst/>
          </a:prstGeom>
          <a:solidFill>
            <a:srgbClr val="F2A900"/>
          </a:solidFill>
          <a:ln w="12700">
            <a:solidFill>
              <a:srgbClr val="F2A900"/>
            </a:solidFill>
            <a:prstDash val="solid"/>
          </a:ln>
        </p:spPr>
      </p:sp>
      <p:sp>
        <p:nvSpPr>
          <p:cNvPr id="3" name="Text 1"/>
          <p:cNvSpPr txBox="1"/>
          <p:nvPr/>
        </p:nvSpPr>
        <p:spPr>
          <a:xfrm>
            <a:off x="457200" y="32004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4" name="Text 1"/>
          <p:cNvSpPr/>
          <p:nvPr>
            <p:ph idx="101" type="title" hasCustomPrompt="1"/>
          </p:nvPr>
        </p:nvSpPr>
        <p:spPr>
          <a:xfrm>
            <a:off x="1097280" y="292608"/>
            <a:ext cx="7589520" cy="548640"/>
          </a:xfrm>
          <a:prstGeom prst="rect">
            <a:avLst/>
          </a:prstGeom>
          <a:noFill/>
          <a:ln/>
        </p:spPr>
        <p:txBody>
          <a:bodyPr wrap="square" lIns="0" tIns="0" rIns="0" bIns="0" rtlCol="0" anchor="ctr"/>
          <a:lstStyle/>
          <a:p>
            <a:pPr algn="l" indent="0" marL="0">
              <a:buNone/>
            </a:pPr>
            <a:r>
              <a:rPr lang="en-US" sz="2600" b="1" dirty="0">
                <a:solidFill>
                  <a:schemeClr val="tx1"/>
                </a:solidFill>
              </a:rPr>
              <a:t>Literature Pack — Related Work &amp; Gap</a:t>
            </a:r>
            <a:endParaRPr lang="en-US" sz="2600" dirty="0"/>
          </a:p>
        </p:txBody>
      </p:sp>
      <p:sp>
        <p:nvSpPr>
          <p:cNvPr id="5" name="Shape 3"/>
          <p:cNvSpPr/>
          <p:nvPr/>
        </p:nvSpPr>
        <p:spPr>
          <a:xfrm>
            <a:off x="457200" y="1051560"/>
            <a:ext cx="457200" cy="457200"/>
          </a:xfrm>
          <a:prstGeom prst="ellipse">
            <a:avLst/>
          </a:prstGeom>
          <a:solidFill>
            <a:srgbClr val="1B2A41"/>
          </a:solidFill>
          <a:ln w="12700">
            <a:solidFill>
              <a:srgbClr val="1B2A41"/>
            </a:solidFill>
            <a:prstDash val="solid"/>
          </a:ln>
        </p:spPr>
      </p:sp>
      <p:pic>
        <p:nvPicPr>
          <p:cNvPr id="6" name="Image 0" descr="preencoded.png">    </p:cNvPr>
          <p:cNvPicPr>
            <a:picLocks noChangeAspect="1"/>
          </p:cNvPicPr>
          <p:nvPr/>
        </p:nvPicPr>
        <p:blipFill>
          <a:blip r:embed="rId1"/>
          <a:stretch>
            <a:fillRect/>
          </a:stretch>
        </p:blipFill>
        <p:spPr>
          <a:xfrm>
            <a:off x="571500" y="1165860"/>
            <a:ext cx="228600" cy="228600"/>
          </a:xfrm>
          <a:prstGeom prst="rect">
            <a:avLst/>
          </a:prstGeom>
        </p:spPr>
      </p:pic>
      <p:sp>
        <p:nvSpPr>
          <p:cNvPr id="7" name="Text 4"/>
          <p:cNvSpPr txBox="1"/>
          <p:nvPr/>
        </p:nvSpPr>
        <p:spPr>
          <a:xfrm>
            <a:off x="1097280" y="1005840"/>
            <a:ext cx="4023360" cy="292608"/>
          </a:xfrm>
          <a:prstGeom prst="rect">
            <a:avLst/>
          </a:prstGeom>
          <a:noFill/>
          <a:ln/>
        </p:spPr>
        <p:txBody>
          <a:bodyPr wrap="square" lIns="0" tIns="0" rIns="0" bIns="0" rtlCol="0" anchor="ctr"/>
          <a:lstStyle/>
          <a:p>
            <a:pPr indent="0" marL="0">
              <a:buNone/>
            </a:pPr>
            <a:r>
              <a:rPr lang="en-US" sz="1300" b="1" dirty="0">
                <a:solidFill>
                  <a:srgbClr val="1B2A41"/>
                </a:solidFill>
              </a:rPr>
              <a:t>Benchmarks &amp; datasets</a:t>
            </a:r>
            <a:endParaRPr lang="en-US" sz="1300" dirty="0"/>
          </a:p>
        </p:txBody>
      </p:sp>
      <p:sp>
        <p:nvSpPr>
          <p:cNvPr id="8" name="Text 5"/>
          <p:cNvSpPr txBox="1"/>
          <p:nvPr/>
        </p:nvSpPr>
        <p:spPr>
          <a:xfrm>
            <a:off x="1097280" y="1316736"/>
            <a:ext cx="4023360" cy="777240"/>
          </a:xfrm>
          <a:prstGeom prst="rect">
            <a:avLst/>
          </a:prstGeom>
          <a:noFill/>
          <a:ln/>
        </p:spPr>
        <p:txBody>
          <a:bodyPr wrap="square" lIns="0" tIns="0" rIns="0" bIns="0" rtlCol="0" anchor="t"/>
          <a:lstStyle/>
          <a:p>
            <a:pPr indent="0" marL="0">
              <a:buNone/>
            </a:pPr>
            <a:r>
              <a:rPr lang="en-US" sz="1050" dirty="0">
                <a:solidFill>
                  <a:srgbClr val="4A5B70"/>
                </a:solidFill>
              </a:rPr>
              <a:t>ACCIDENT unifies when / where / what on real CCTV and adds CARLA synthetic clips for training. TAD and TADS give supervised surveillance baselines; DoTA is large but dashcam-based.</a:t>
            </a:r>
            <a:endParaRPr lang="en-US" sz="1050" dirty="0"/>
          </a:p>
        </p:txBody>
      </p:sp>
      <p:sp>
        <p:nvSpPr>
          <p:cNvPr id="9" name="Shape 6"/>
          <p:cNvSpPr/>
          <p:nvPr/>
        </p:nvSpPr>
        <p:spPr>
          <a:xfrm>
            <a:off x="457200" y="2240280"/>
            <a:ext cx="457200" cy="457200"/>
          </a:xfrm>
          <a:prstGeom prst="ellipse">
            <a:avLst/>
          </a:prstGeom>
          <a:solidFill>
            <a:srgbClr val="2A9D8F"/>
          </a:solidFill>
          <a:ln w="12700">
            <a:solidFill>
              <a:srgbClr val="2A9D8F"/>
            </a:solidFill>
            <a:prstDash val="solid"/>
          </a:ln>
        </p:spPr>
      </p:sp>
      <p:pic>
        <p:nvPicPr>
          <p:cNvPr id="10" name="Image 1" descr="preencoded.png">    </p:cNvPr>
          <p:cNvPicPr>
            <a:picLocks noChangeAspect="1"/>
          </p:cNvPicPr>
          <p:nvPr/>
        </p:nvPicPr>
        <p:blipFill>
          <a:blip r:embed="rId2"/>
          <a:stretch>
            <a:fillRect/>
          </a:stretch>
        </p:blipFill>
        <p:spPr>
          <a:xfrm>
            <a:off x="571500" y="2354580"/>
            <a:ext cx="228600" cy="228600"/>
          </a:xfrm>
          <a:prstGeom prst="rect">
            <a:avLst/>
          </a:prstGeom>
        </p:spPr>
      </p:pic>
      <p:sp>
        <p:nvSpPr>
          <p:cNvPr id="11" name="Text 7"/>
          <p:cNvSpPr txBox="1"/>
          <p:nvPr/>
        </p:nvSpPr>
        <p:spPr>
          <a:xfrm>
            <a:off x="1097280" y="2194560"/>
            <a:ext cx="4023360" cy="292608"/>
          </a:xfrm>
          <a:prstGeom prst="rect">
            <a:avLst/>
          </a:prstGeom>
          <a:noFill/>
          <a:ln/>
        </p:spPr>
        <p:txBody>
          <a:bodyPr wrap="square" lIns="0" tIns="0" rIns="0" bIns="0" rtlCol="0" anchor="ctr"/>
          <a:lstStyle/>
          <a:p>
            <a:pPr indent="0" marL="0">
              <a:buNone/>
            </a:pPr>
            <a:r>
              <a:rPr lang="en-US" sz="1300" b="1" dirty="0">
                <a:solidFill>
                  <a:srgbClr val="1B2A41"/>
                </a:solidFill>
              </a:rPr>
              <a:t>Zero-shot VLM pipelines</a:t>
            </a:r>
            <a:endParaRPr lang="en-US" sz="1300" dirty="0"/>
          </a:p>
        </p:txBody>
      </p:sp>
      <p:sp>
        <p:nvSpPr>
          <p:cNvPr id="12" name="Text 8"/>
          <p:cNvSpPr txBox="1"/>
          <p:nvPr/>
        </p:nvSpPr>
        <p:spPr>
          <a:xfrm>
            <a:off x="1097280" y="2505456"/>
            <a:ext cx="4023360" cy="777240"/>
          </a:xfrm>
          <a:prstGeom prst="rect">
            <a:avLst/>
          </a:prstGeom>
          <a:noFill/>
          <a:ln/>
        </p:spPr>
        <p:txBody>
          <a:bodyPr wrap="square" lIns="0" tIns="0" rIns="0" bIns="0" rtlCol="0" anchor="t"/>
          <a:lstStyle/>
          <a:p>
            <a:pPr indent="0" marL="0">
              <a:buNone/>
            </a:pPr>
            <a:r>
              <a:rPr lang="en-US" sz="1050" dirty="0">
                <a:solidFill>
                  <a:srgbClr val="4A5B70"/>
                </a:solidFill>
              </a:rPr>
              <a:t>Challenge winners chain large VLM calls (ACCS 0.57) or add YOLO tracking to a frozen VLM (0.50). A modular CLIP pipeline is cheaper but much weaker (0.25).</a:t>
            </a:r>
            <a:endParaRPr lang="en-US" sz="1050" dirty="0"/>
          </a:p>
        </p:txBody>
      </p:sp>
      <p:sp>
        <p:nvSpPr>
          <p:cNvPr id="13" name="Shape 9"/>
          <p:cNvSpPr/>
          <p:nvPr/>
        </p:nvSpPr>
        <p:spPr>
          <a:xfrm>
            <a:off x="457200" y="3429000"/>
            <a:ext cx="457200" cy="457200"/>
          </a:xfrm>
          <a:prstGeom prst="ellipse">
            <a:avLst/>
          </a:prstGeom>
          <a:solidFill>
            <a:srgbClr val="E76F51"/>
          </a:solidFill>
          <a:ln w="12700">
            <a:solidFill>
              <a:srgbClr val="E76F51"/>
            </a:solidFill>
            <a:prstDash val="solid"/>
          </a:ln>
        </p:spPr>
      </p:sp>
      <p:pic>
        <p:nvPicPr>
          <p:cNvPr id="14" name="Image 2" descr="preencoded.png">    </p:cNvPr>
          <p:cNvPicPr>
            <a:picLocks noChangeAspect="1"/>
          </p:cNvPicPr>
          <p:nvPr/>
        </p:nvPicPr>
        <p:blipFill>
          <a:blip r:embed="rId3"/>
          <a:stretch>
            <a:fillRect/>
          </a:stretch>
        </p:blipFill>
        <p:spPr>
          <a:xfrm>
            <a:off x="571500" y="3543300"/>
            <a:ext cx="228600" cy="228600"/>
          </a:xfrm>
          <a:prstGeom prst="rect">
            <a:avLst/>
          </a:prstGeom>
        </p:spPr>
      </p:pic>
      <p:sp>
        <p:nvSpPr>
          <p:cNvPr id="15" name="Text 10"/>
          <p:cNvSpPr txBox="1"/>
          <p:nvPr/>
        </p:nvSpPr>
        <p:spPr>
          <a:xfrm>
            <a:off x="1097280" y="3383280"/>
            <a:ext cx="4023360" cy="292608"/>
          </a:xfrm>
          <a:prstGeom prst="rect">
            <a:avLst/>
          </a:prstGeom>
          <a:noFill/>
          <a:ln/>
        </p:spPr>
        <p:txBody>
          <a:bodyPr wrap="square" lIns="0" tIns="0" rIns="0" bIns="0" rtlCol="0" anchor="ctr"/>
          <a:lstStyle/>
          <a:p>
            <a:pPr indent="0" marL="0">
              <a:buNone/>
            </a:pPr>
            <a:r>
              <a:rPr lang="en-US" sz="1300" b="1" dirty="0">
                <a:solidFill>
                  <a:srgbClr val="1B2A41"/>
                </a:solidFill>
              </a:rPr>
              <a:t>LLM agents for incidents</a:t>
            </a:r>
            <a:endParaRPr lang="en-US" sz="1300" dirty="0"/>
          </a:p>
        </p:txBody>
      </p:sp>
      <p:sp>
        <p:nvSpPr>
          <p:cNvPr id="16" name="Text 11"/>
          <p:cNvSpPr txBox="1"/>
          <p:nvPr/>
        </p:nvSpPr>
        <p:spPr>
          <a:xfrm>
            <a:off x="1097280" y="3694176"/>
            <a:ext cx="4023360" cy="777240"/>
          </a:xfrm>
          <a:prstGeom prst="rect">
            <a:avLst/>
          </a:prstGeom>
          <a:noFill/>
          <a:ln/>
        </p:spPr>
        <p:txBody>
          <a:bodyPr wrap="square" lIns="0" tIns="0" rIns="0" bIns="0" rtlCol="0" anchor="t"/>
          <a:lstStyle/>
          <a:p>
            <a:pPr indent="0" marL="0">
              <a:buNone/>
            </a:pPr>
            <a:r>
              <a:rPr lang="en-US" sz="1050" dirty="0">
                <a:solidFill>
                  <a:srgbClr val="4A5B70"/>
                </a:solidFill>
              </a:rPr>
              <a:t>Virtual Traffic Police combines an LLM, RAG and a verifier to handle incidents in signal control, but it assumes the incident is already known.</a:t>
            </a:r>
            <a:endParaRPr lang="en-US" sz="1050" dirty="0"/>
          </a:p>
        </p:txBody>
      </p:sp>
      <p:sp>
        <p:nvSpPr>
          <p:cNvPr id="17" name="Shape 12"/>
          <p:cNvSpPr/>
          <p:nvPr/>
        </p:nvSpPr>
        <p:spPr>
          <a:xfrm>
            <a:off x="5440680" y="1005840"/>
            <a:ext cx="3246120" cy="3520440"/>
          </a:xfrm>
          <a:prstGeom prst="roundRect">
            <a:avLst>
              <a:gd name="adj" fmla="val 2254"/>
            </a:avLst>
          </a:prstGeom>
          <a:solidFill>
            <a:srgbClr val="FFF4D6"/>
          </a:solidFill>
          <a:ln w="12700">
            <a:solidFill>
              <a:srgbClr val="FFF4D6"/>
            </a:solidFill>
            <a:prstDash val="solid"/>
          </a:ln>
        </p:spPr>
      </p:sp>
      <p:sp>
        <p:nvSpPr>
          <p:cNvPr id="18" name="Text 13"/>
          <p:cNvSpPr txBox="1"/>
          <p:nvPr/>
        </p:nvSpPr>
        <p:spPr>
          <a:xfrm>
            <a:off x="5623560" y="1115568"/>
            <a:ext cx="2926080" cy="310896"/>
          </a:xfrm>
          <a:prstGeom prst="rect">
            <a:avLst/>
          </a:prstGeom>
          <a:noFill/>
          <a:ln/>
        </p:spPr>
        <p:txBody>
          <a:bodyPr wrap="square" lIns="0" tIns="0" rIns="0" bIns="0" rtlCol="0" anchor="ctr"/>
          <a:lstStyle/>
          <a:p>
            <a:pPr indent="0" marL="0">
              <a:buNone/>
            </a:pPr>
            <a:r>
              <a:rPr lang="en-US" sz="1400" b="1" dirty="0">
                <a:solidFill>
                  <a:srgbClr val="1B2A41"/>
                </a:solidFill>
              </a:rPr>
              <a:t>Research gap</a:t>
            </a:r>
            <a:endParaRPr lang="en-US" sz="1400" dirty="0"/>
          </a:p>
        </p:txBody>
      </p:sp>
      <p:sp>
        <p:nvSpPr>
          <p:cNvPr id="19" name="Text 14"/>
          <p:cNvSpPr txBox="1"/>
          <p:nvPr/>
        </p:nvSpPr>
        <p:spPr>
          <a:xfrm>
            <a:off x="5623560" y="1508760"/>
            <a:ext cx="2926080" cy="2926080"/>
          </a:xfrm>
          <a:prstGeom prst="rect">
            <a:avLst/>
          </a:prstGeom>
          <a:noFill/>
          <a:ln/>
        </p:spPr>
        <p:txBody>
          <a:bodyPr wrap="square" lIns="0" tIns="0" rIns="0" bIns="0" rtlCol="0" anchor="t"/>
          <a:lstStyle/>
          <a:p>
            <a:pPr indent="0" marL="0">
              <a:buNone/>
            </a:pPr>
            <a:r>
              <a:rPr lang="en-US" sz="1250" dirty="0">
                <a:solidFill>
                  <a:srgbClr val="1B2A41"/>
                </a:solidFill>
              </a:rPr>
              <a:t>Current ACCIDENT solutions are training-free and rely on 32B–235B VLMs that cost tens of GPU-hours, and they stop at predictions. </a:t>
            </a:r>
            <a:pPr indent="0" marL="0">
              <a:buNone/>
            </a:pPr>
            <a:r>
              <a:rPr lang="en-US" sz="1250" b="1" dirty="0">
                <a:solidFill>
                  <a:srgbClr val="1B2A41"/>
                </a:solidFill>
              </a:rPr>
              <a:t>No work measures</a:t>
            </a:r>
            <a:pPr indent="0" marL="0">
              <a:buNone/>
            </a:pPr>
            <a:r>
              <a:rPr lang="en-US" sz="1250" dirty="0">
                <a:solidFill>
                  <a:srgbClr val="1B2A41"/>
                </a:solidFill>
              </a:rPr>
              <a:t> how a cheap model trained only on synthetic clips transfers to real CCTV, how much VLM compute a trained screen saves in a cascade, or whether LLM reports built on the detections are faithful. </a:t>
            </a:r>
            <a:pPr indent="0" marL="0">
              <a:buNone/>
            </a:pPr>
            <a:r>
              <a:rPr lang="en-US" sz="1250" b="1" dirty="0">
                <a:solidFill>
                  <a:srgbClr val="1B2A41"/>
                </a:solidFill>
                <a:highlight>
                  <a:srgbClr val="FFE08A"/>
                </a:highlight>
              </a:rPr>
              <a:t>Our project addresses these three gaps.</a:t>
            </a:r>
            <a:endParaRPr lang="en-US" sz="12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adge"/>
          <p:cNvSpPr/>
          <p:nvPr/>
        </p:nvSpPr>
        <p:spPr>
          <a:xfrm>
            <a:off x="457200" y="320040"/>
            <a:ext cx="457200" cy="457200"/>
          </a:xfrm>
          <a:prstGeom prst="ellipse">
            <a:avLst/>
          </a:prstGeom>
          <a:solidFill>
            <a:srgbClr val="F2A900"/>
          </a:solidFill>
          <a:ln w="12700">
            <a:solidFill>
              <a:srgbClr val="F2A900"/>
            </a:solidFill>
            <a:prstDash val="solid"/>
          </a:ln>
        </p:spPr>
      </p:sp>
      <p:sp>
        <p:nvSpPr>
          <p:cNvPr id="3" name="Text 1"/>
          <p:cNvSpPr txBox="1"/>
          <p:nvPr/>
        </p:nvSpPr>
        <p:spPr>
          <a:xfrm>
            <a:off x="457200" y="32004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4" name="Text 1"/>
          <p:cNvSpPr/>
          <p:nvPr>
            <p:ph idx="101" type="title" hasCustomPrompt="1"/>
          </p:nvPr>
        </p:nvSpPr>
        <p:spPr>
          <a:xfrm>
            <a:off x="1097280" y="292608"/>
            <a:ext cx="7589520" cy="548640"/>
          </a:xfrm>
          <a:prstGeom prst="rect">
            <a:avLst/>
          </a:prstGeom>
          <a:noFill/>
          <a:ln/>
        </p:spPr>
        <p:txBody>
          <a:bodyPr wrap="square" lIns="0" tIns="0" rIns="0" bIns="0" rtlCol="0" anchor="ctr"/>
          <a:lstStyle/>
          <a:p>
            <a:pPr algn="l" indent="0" marL="0">
              <a:buNone/>
            </a:pPr>
            <a:r>
              <a:rPr lang="en-US" sz="2600" b="1" dirty="0">
                <a:solidFill>
                  <a:schemeClr val="tx1"/>
                </a:solidFill>
              </a:rPr>
              <a:t>Dataset — ACCIDENT Benchmark</a:t>
            </a:r>
            <a:endParaRPr lang="en-US" sz="2600" dirty="0"/>
          </a:p>
        </p:txBody>
      </p:sp>
      <p:sp>
        <p:nvSpPr>
          <p:cNvPr id="5" name="Shape 3"/>
          <p:cNvSpPr/>
          <p:nvPr/>
        </p:nvSpPr>
        <p:spPr>
          <a:xfrm>
            <a:off x="457200" y="987552"/>
            <a:ext cx="1920240" cy="868680"/>
          </a:xfrm>
          <a:prstGeom prst="roundRect">
            <a:avLst>
              <a:gd name="adj" fmla="val 8421"/>
            </a:avLst>
          </a:prstGeom>
          <a:solidFill>
            <a:srgbClr val="F2F5F9"/>
          </a:solidFill>
          <a:ln w="12700">
            <a:solidFill>
              <a:srgbClr val="F2F5F9"/>
            </a:solidFill>
            <a:prstDash val="solid"/>
          </a:ln>
        </p:spPr>
      </p:sp>
      <p:sp>
        <p:nvSpPr>
          <p:cNvPr id="6" name="Text 4"/>
          <p:cNvSpPr txBox="1"/>
          <p:nvPr/>
        </p:nvSpPr>
        <p:spPr>
          <a:xfrm>
            <a:off x="457200" y="1033272"/>
            <a:ext cx="1920240" cy="438912"/>
          </a:xfrm>
          <a:prstGeom prst="rect">
            <a:avLst/>
          </a:prstGeom>
          <a:noFill/>
          <a:ln/>
        </p:spPr>
        <p:txBody>
          <a:bodyPr wrap="square" lIns="0" tIns="0" rIns="0" bIns="0" rtlCol="0" anchor="ctr"/>
          <a:lstStyle/>
          <a:p>
            <a:pPr algn="ctr" indent="0" marL="0">
              <a:buNone/>
            </a:pPr>
            <a:r>
              <a:rPr lang="en-US" sz="2200" b="1" dirty="0">
                <a:solidFill>
                  <a:srgbClr val="2A9D8F"/>
                </a:solidFill>
              </a:rPr>
              <a:t>2,211</a:t>
            </a:r>
            <a:endParaRPr lang="en-US" sz="2200" dirty="0"/>
          </a:p>
        </p:txBody>
      </p:sp>
      <p:sp>
        <p:nvSpPr>
          <p:cNvPr id="7" name="Text 5"/>
          <p:cNvSpPr txBox="1"/>
          <p:nvPr/>
        </p:nvSpPr>
        <p:spPr>
          <a:xfrm>
            <a:off x="548640" y="1463040"/>
            <a:ext cx="1737360" cy="329184"/>
          </a:xfrm>
          <a:prstGeom prst="rect">
            <a:avLst/>
          </a:prstGeom>
          <a:noFill/>
          <a:ln/>
        </p:spPr>
        <p:txBody>
          <a:bodyPr wrap="square" lIns="0" tIns="0" rIns="0" bIns="0" rtlCol="0" anchor="ctr"/>
          <a:lstStyle/>
          <a:p>
            <a:pPr algn="ctr" indent="0" marL="0">
              <a:buNone/>
            </a:pPr>
            <a:r>
              <a:rPr lang="en-US" sz="1000" dirty="0">
                <a:solidFill>
                  <a:srgbClr val="4A5B70"/>
                </a:solidFill>
              </a:rPr>
              <a:t>Synthetic (CARLA) · train</a:t>
            </a:r>
            <a:endParaRPr lang="en-US" sz="1000" dirty="0"/>
          </a:p>
        </p:txBody>
      </p:sp>
      <p:sp>
        <p:nvSpPr>
          <p:cNvPr id="8" name="Shape 6"/>
          <p:cNvSpPr/>
          <p:nvPr/>
        </p:nvSpPr>
        <p:spPr>
          <a:xfrm>
            <a:off x="2560320" y="987552"/>
            <a:ext cx="1920240" cy="868680"/>
          </a:xfrm>
          <a:prstGeom prst="roundRect">
            <a:avLst>
              <a:gd name="adj" fmla="val 8421"/>
            </a:avLst>
          </a:prstGeom>
          <a:solidFill>
            <a:srgbClr val="F2F5F9"/>
          </a:solidFill>
          <a:ln w="12700">
            <a:solidFill>
              <a:srgbClr val="F2F5F9"/>
            </a:solidFill>
            <a:prstDash val="solid"/>
          </a:ln>
        </p:spPr>
      </p:sp>
      <p:sp>
        <p:nvSpPr>
          <p:cNvPr id="9" name="Text 7"/>
          <p:cNvSpPr txBox="1"/>
          <p:nvPr/>
        </p:nvSpPr>
        <p:spPr>
          <a:xfrm>
            <a:off x="2560320" y="1033272"/>
            <a:ext cx="1920240" cy="438912"/>
          </a:xfrm>
          <a:prstGeom prst="rect">
            <a:avLst/>
          </a:prstGeom>
          <a:noFill/>
          <a:ln/>
        </p:spPr>
        <p:txBody>
          <a:bodyPr wrap="square" lIns="0" tIns="0" rIns="0" bIns="0" rtlCol="0" anchor="ctr"/>
          <a:lstStyle/>
          <a:p>
            <a:pPr algn="ctr" indent="0" marL="0">
              <a:buNone/>
            </a:pPr>
            <a:r>
              <a:rPr lang="en-US" sz="2200" b="1" dirty="0">
                <a:solidFill>
                  <a:srgbClr val="2A9D8F"/>
                </a:solidFill>
              </a:rPr>
              <a:t>2,027</a:t>
            </a:r>
            <a:endParaRPr lang="en-US" sz="2200" dirty="0"/>
          </a:p>
        </p:txBody>
      </p:sp>
      <p:sp>
        <p:nvSpPr>
          <p:cNvPr id="10" name="Text 8"/>
          <p:cNvSpPr txBox="1"/>
          <p:nvPr/>
        </p:nvSpPr>
        <p:spPr>
          <a:xfrm>
            <a:off x="2651760" y="1463040"/>
            <a:ext cx="1737360" cy="329184"/>
          </a:xfrm>
          <a:prstGeom prst="rect">
            <a:avLst/>
          </a:prstGeom>
          <a:noFill/>
          <a:ln/>
        </p:spPr>
        <p:txBody>
          <a:bodyPr wrap="square" lIns="0" tIns="0" rIns="0" bIns="0" rtlCol="0" anchor="ctr"/>
          <a:lstStyle/>
          <a:p>
            <a:pPr algn="ctr" indent="0" marL="0">
              <a:buNone/>
            </a:pPr>
            <a:r>
              <a:rPr lang="en-US" sz="1000" dirty="0">
                <a:solidFill>
                  <a:srgbClr val="4A5B70"/>
                </a:solidFill>
              </a:rPr>
              <a:t>Real CCTV clips · test only</a:t>
            </a:r>
            <a:endParaRPr lang="en-US" sz="1000" dirty="0"/>
          </a:p>
        </p:txBody>
      </p:sp>
      <p:sp>
        <p:nvSpPr>
          <p:cNvPr id="11" name="Shape 9"/>
          <p:cNvSpPr/>
          <p:nvPr/>
        </p:nvSpPr>
        <p:spPr>
          <a:xfrm>
            <a:off x="4663440" y="987552"/>
            <a:ext cx="1920240" cy="868680"/>
          </a:xfrm>
          <a:prstGeom prst="roundRect">
            <a:avLst>
              <a:gd name="adj" fmla="val 8421"/>
            </a:avLst>
          </a:prstGeom>
          <a:solidFill>
            <a:srgbClr val="F2F5F9"/>
          </a:solidFill>
          <a:ln w="12700">
            <a:solidFill>
              <a:srgbClr val="F2F5F9"/>
            </a:solidFill>
            <a:prstDash val="solid"/>
          </a:ln>
        </p:spPr>
      </p:sp>
      <p:sp>
        <p:nvSpPr>
          <p:cNvPr id="12" name="Text 10"/>
          <p:cNvSpPr txBox="1"/>
          <p:nvPr/>
        </p:nvSpPr>
        <p:spPr>
          <a:xfrm>
            <a:off x="4663440" y="1033272"/>
            <a:ext cx="1920240" cy="438912"/>
          </a:xfrm>
          <a:prstGeom prst="rect">
            <a:avLst/>
          </a:prstGeom>
          <a:noFill/>
          <a:ln/>
        </p:spPr>
        <p:txBody>
          <a:bodyPr wrap="square" lIns="0" tIns="0" rIns="0" bIns="0" rtlCol="0" anchor="ctr"/>
          <a:lstStyle/>
          <a:p>
            <a:pPr algn="ctr" indent="0" marL="0">
              <a:buNone/>
            </a:pPr>
            <a:r>
              <a:rPr lang="en-US" sz="2200" b="1" dirty="0">
                <a:solidFill>
                  <a:srgbClr val="2A9D8F"/>
                </a:solidFill>
              </a:rPr>
              <a:t>5</a:t>
            </a:r>
            <a:endParaRPr lang="en-US" sz="2200" dirty="0"/>
          </a:p>
        </p:txBody>
      </p:sp>
      <p:sp>
        <p:nvSpPr>
          <p:cNvPr id="13" name="Text 11"/>
          <p:cNvSpPr txBox="1"/>
          <p:nvPr/>
        </p:nvSpPr>
        <p:spPr>
          <a:xfrm>
            <a:off x="4754880" y="1463040"/>
            <a:ext cx="1737360" cy="329184"/>
          </a:xfrm>
          <a:prstGeom prst="rect">
            <a:avLst/>
          </a:prstGeom>
          <a:noFill/>
          <a:ln/>
        </p:spPr>
        <p:txBody>
          <a:bodyPr wrap="square" lIns="0" tIns="0" rIns="0" bIns="0" rtlCol="0" anchor="ctr"/>
          <a:lstStyle/>
          <a:p>
            <a:pPr algn="ctr" indent="0" marL="0">
              <a:buNone/>
            </a:pPr>
            <a:r>
              <a:rPr lang="en-US" sz="1000" dirty="0">
                <a:solidFill>
                  <a:srgbClr val="4A5B70"/>
                </a:solidFill>
              </a:rPr>
              <a:t>Collision types</a:t>
            </a:r>
            <a:endParaRPr lang="en-US" sz="1000" dirty="0"/>
          </a:p>
        </p:txBody>
      </p:sp>
      <p:sp>
        <p:nvSpPr>
          <p:cNvPr id="14" name="Shape 12"/>
          <p:cNvSpPr/>
          <p:nvPr/>
        </p:nvSpPr>
        <p:spPr>
          <a:xfrm>
            <a:off x="6766560" y="987552"/>
            <a:ext cx="1920240" cy="868680"/>
          </a:xfrm>
          <a:prstGeom prst="roundRect">
            <a:avLst>
              <a:gd name="adj" fmla="val 8421"/>
            </a:avLst>
          </a:prstGeom>
          <a:solidFill>
            <a:srgbClr val="F2F5F9"/>
          </a:solidFill>
          <a:ln w="12700">
            <a:solidFill>
              <a:srgbClr val="F2F5F9"/>
            </a:solidFill>
            <a:prstDash val="solid"/>
          </a:ln>
        </p:spPr>
      </p:sp>
      <p:sp>
        <p:nvSpPr>
          <p:cNvPr id="15" name="Text 13"/>
          <p:cNvSpPr txBox="1"/>
          <p:nvPr/>
        </p:nvSpPr>
        <p:spPr>
          <a:xfrm>
            <a:off x="6766560" y="1033272"/>
            <a:ext cx="1920240" cy="438912"/>
          </a:xfrm>
          <a:prstGeom prst="rect">
            <a:avLst/>
          </a:prstGeom>
          <a:noFill/>
          <a:ln/>
        </p:spPr>
        <p:txBody>
          <a:bodyPr wrap="square" lIns="0" tIns="0" rIns="0" bIns="0" rtlCol="0" anchor="ctr"/>
          <a:lstStyle/>
          <a:p>
            <a:pPr algn="ctr" indent="0" marL="0">
              <a:buNone/>
            </a:pPr>
            <a:r>
              <a:rPr lang="en-US" sz="2200" b="1" dirty="0">
                <a:solidFill>
                  <a:srgbClr val="2A9D8F"/>
                </a:solidFill>
              </a:rPr>
              <a:t>3 tasks</a:t>
            </a:r>
            <a:endParaRPr lang="en-US" sz="2200" dirty="0"/>
          </a:p>
        </p:txBody>
      </p:sp>
      <p:sp>
        <p:nvSpPr>
          <p:cNvPr id="16" name="Text 14"/>
          <p:cNvSpPr txBox="1"/>
          <p:nvPr/>
        </p:nvSpPr>
        <p:spPr>
          <a:xfrm>
            <a:off x="6858000" y="1463040"/>
            <a:ext cx="1737360" cy="329184"/>
          </a:xfrm>
          <a:prstGeom prst="rect">
            <a:avLst/>
          </a:prstGeom>
          <a:noFill/>
          <a:ln/>
        </p:spPr>
        <p:txBody>
          <a:bodyPr wrap="square" lIns="0" tIns="0" rIns="0" bIns="0" rtlCol="0" anchor="ctr"/>
          <a:lstStyle/>
          <a:p>
            <a:pPr algn="ctr" indent="0" marL="0">
              <a:buNone/>
            </a:pPr>
            <a:r>
              <a:rPr lang="en-US" sz="1000" dirty="0">
                <a:solidFill>
                  <a:srgbClr val="4A5B70"/>
                </a:solidFill>
              </a:rPr>
              <a:t>When · where · what</a:t>
            </a:r>
            <a:endParaRPr lang="en-US" sz="1000" dirty="0"/>
          </a:p>
        </p:txBody>
      </p:sp>
      <p:sp>
        <p:nvSpPr>
          <p:cNvPr id="17" name="Text 15"/>
          <p:cNvSpPr txBox="1"/>
          <p:nvPr/>
        </p:nvSpPr>
        <p:spPr>
          <a:xfrm>
            <a:off x="457200" y="2057400"/>
            <a:ext cx="3840480" cy="274320"/>
          </a:xfrm>
          <a:prstGeom prst="rect">
            <a:avLst/>
          </a:prstGeom>
          <a:noFill/>
          <a:ln/>
        </p:spPr>
        <p:txBody>
          <a:bodyPr wrap="square" lIns="0" tIns="0" rIns="0" bIns="0" rtlCol="0" anchor="ctr"/>
          <a:lstStyle/>
          <a:p>
            <a:pPr indent="0" marL="0">
              <a:buNone/>
            </a:pPr>
            <a:r>
              <a:rPr lang="en-US" sz="1300" b="1" dirty="0">
                <a:solidFill>
                  <a:srgbClr val="1B2A41"/>
                </a:solidFill>
              </a:rPr>
              <a:t>Labels per real clip</a:t>
            </a:r>
            <a:endParaRPr lang="en-US" sz="1300" dirty="0"/>
          </a:p>
        </p:txBody>
      </p:sp>
      <p:sp>
        <p:nvSpPr>
          <p:cNvPr id="18" name="Shape 16"/>
          <p:cNvSpPr/>
          <p:nvPr/>
        </p:nvSpPr>
        <p:spPr>
          <a:xfrm>
            <a:off x="457200" y="2423160"/>
            <a:ext cx="1783080" cy="329184"/>
          </a:xfrm>
          <a:prstGeom prst="roundRect">
            <a:avLst>
              <a:gd name="adj" fmla="val 50000"/>
            </a:avLst>
          </a:prstGeom>
          <a:solidFill>
            <a:srgbClr val="F2F5F9"/>
          </a:solidFill>
          <a:ln w="12700">
            <a:solidFill>
              <a:srgbClr val="DDE4EC"/>
            </a:solidFill>
            <a:prstDash val="solid"/>
          </a:ln>
        </p:spPr>
      </p:sp>
      <p:sp>
        <p:nvSpPr>
          <p:cNvPr id="19" name="Text 17"/>
          <p:cNvSpPr txBox="1"/>
          <p:nvPr/>
        </p:nvSpPr>
        <p:spPr>
          <a:xfrm>
            <a:off x="457200" y="2423160"/>
            <a:ext cx="1783080" cy="329184"/>
          </a:xfrm>
          <a:prstGeom prst="rect">
            <a:avLst/>
          </a:prstGeom>
          <a:noFill/>
          <a:ln/>
        </p:spPr>
        <p:txBody>
          <a:bodyPr wrap="square" lIns="0" tIns="0" rIns="0" bIns="0" rtlCol="0" anchor="ctr"/>
          <a:lstStyle/>
          <a:p>
            <a:pPr algn="ctr" indent="0" marL="0">
              <a:buNone/>
            </a:pPr>
            <a:r>
              <a:rPr lang="en-US" sz="1050" dirty="0">
                <a:solidFill>
                  <a:srgbClr val="1B2A41"/>
                </a:solidFill>
                <a:latin typeface="Courier New" pitchFamily="34" charset="0"/>
                <a:ea typeface="Courier New" pitchFamily="34" charset="-122"/>
                <a:cs typeface="Courier New" pitchFamily="34" charset="-120"/>
              </a:rPr>
              <a:t>accident_time</a:t>
            </a:r>
            <a:endParaRPr lang="en-US" sz="1050" dirty="0"/>
          </a:p>
        </p:txBody>
      </p:sp>
      <p:sp>
        <p:nvSpPr>
          <p:cNvPr id="20" name="Shape 18"/>
          <p:cNvSpPr/>
          <p:nvPr/>
        </p:nvSpPr>
        <p:spPr>
          <a:xfrm>
            <a:off x="2377440" y="2423160"/>
            <a:ext cx="1783080" cy="329184"/>
          </a:xfrm>
          <a:prstGeom prst="roundRect">
            <a:avLst>
              <a:gd name="adj" fmla="val 50000"/>
            </a:avLst>
          </a:prstGeom>
          <a:solidFill>
            <a:srgbClr val="F2F5F9"/>
          </a:solidFill>
          <a:ln w="12700">
            <a:solidFill>
              <a:srgbClr val="DDE4EC"/>
            </a:solidFill>
            <a:prstDash val="solid"/>
          </a:ln>
        </p:spPr>
      </p:sp>
      <p:sp>
        <p:nvSpPr>
          <p:cNvPr id="21" name="Text 19"/>
          <p:cNvSpPr txBox="1"/>
          <p:nvPr/>
        </p:nvSpPr>
        <p:spPr>
          <a:xfrm>
            <a:off x="2377440" y="2423160"/>
            <a:ext cx="1783080" cy="329184"/>
          </a:xfrm>
          <a:prstGeom prst="rect">
            <a:avLst/>
          </a:prstGeom>
          <a:noFill/>
          <a:ln/>
        </p:spPr>
        <p:txBody>
          <a:bodyPr wrap="square" lIns="0" tIns="0" rIns="0" bIns="0" rtlCol="0" anchor="ctr"/>
          <a:lstStyle/>
          <a:p>
            <a:pPr algn="ctr" indent="0" marL="0">
              <a:buNone/>
            </a:pPr>
            <a:r>
              <a:rPr lang="en-US" sz="1050" dirty="0">
                <a:solidFill>
                  <a:srgbClr val="1B2A41"/>
                </a:solidFill>
                <a:latin typeface="Courier New" pitchFamily="34" charset="0"/>
                <a:ea typeface="Courier New" pitchFamily="34" charset="-122"/>
                <a:cs typeface="Courier New" pitchFamily="34" charset="-120"/>
              </a:rPr>
              <a:t>accident_frame</a:t>
            </a:r>
            <a:endParaRPr lang="en-US" sz="1050" dirty="0"/>
          </a:p>
        </p:txBody>
      </p:sp>
      <p:sp>
        <p:nvSpPr>
          <p:cNvPr id="22" name="Shape 20"/>
          <p:cNvSpPr/>
          <p:nvPr/>
        </p:nvSpPr>
        <p:spPr>
          <a:xfrm>
            <a:off x="457200" y="2862072"/>
            <a:ext cx="1783080" cy="329184"/>
          </a:xfrm>
          <a:prstGeom prst="roundRect">
            <a:avLst>
              <a:gd name="adj" fmla="val 50000"/>
            </a:avLst>
          </a:prstGeom>
          <a:solidFill>
            <a:srgbClr val="F2F5F9"/>
          </a:solidFill>
          <a:ln w="12700">
            <a:solidFill>
              <a:srgbClr val="DDE4EC"/>
            </a:solidFill>
            <a:prstDash val="solid"/>
          </a:ln>
        </p:spPr>
      </p:sp>
      <p:sp>
        <p:nvSpPr>
          <p:cNvPr id="23" name="Text 21"/>
          <p:cNvSpPr txBox="1"/>
          <p:nvPr/>
        </p:nvSpPr>
        <p:spPr>
          <a:xfrm>
            <a:off x="457200" y="2862072"/>
            <a:ext cx="1783080" cy="329184"/>
          </a:xfrm>
          <a:prstGeom prst="rect">
            <a:avLst/>
          </a:prstGeom>
          <a:noFill/>
          <a:ln/>
        </p:spPr>
        <p:txBody>
          <a:bodyPr wrap="square" lIns="0" tIns="0" rIns="0" bIns="0" rtlCol="0" anchor="ctr"/>
          <a:lstStyle/>
          <a:p>
            <a:pPr algn="ctr" indent="0" marL="0">
              <a:buNone/>
            </a:pPr>
            <a:r>
              <a:rPr lang="en-US" sz="1050" dirty="0">
                <a:solidFill>
                  <a:srgbClr val="1B2A41"/>
                </a:solidFill>
                <a:latin typeface="Courier New" pitchFamily="34" charset="0"/>
                <a:ea typeface="Courier New" pitchFamily="34" charset="-122"/>
                <a:cs typeface="Courier New" pitchFamily="34" charset="-120"/>
              </a:rPr>
              <a:t>center_x / center_y</a:t>
            </a:r>
            <a:endParaRPr lang="en-US" sz="1050" dirty="0"/>
          </a:p>
        </p:txBody>
      </p:sp>
      <p:sp>
        <p:nvSpPr>
          <p:cNvPr id="24" name="Shape 22"/>
          <p:cNvSpPr/>
          <p:nvPr/>
        </p:nvSpPr>
        <p:spPr>
          <a:xfrm>
            <a:off x="2377440" y="2862072"/>
            <a:ext cx="1783080" cy="329184"/>
          </a:xfrm>
          <a:prstGeom prst="roundRect">
            <a:avLst>
              <a:gd name="adj" fmla="val 50000"/>
            </a:avLst>
          </a:prstGeom>
          <a:solidFill>
            <a:srgbClr val="F2F5F9"/>
          </a:solidFill>
          <a:ln w="12700">
            <a:solidFill>
              <a:srgbClr val="DDE4EC"/>
            </a:solidFill>
            <a:prstDash val="solid"/>
          </a:ln>
        </p:spPr>
      </p:sp>
      <p:sp>
        <p:nvSpPr>
          <p:cNvPr id="25" name="Text 23"/>
          <p:cNvSpPr txBox="1"/>
          <p:nvPr/>
        </p:nvSpPr>
        <p:spPr>
          <a:xfrm>
            <a:off x="2377440" y="2862072"/>
            <a:ext cx="1783080" cy="329184"/>
          </a:xfrm>
          <a:prstGeom prst="rect">
            <a:avLst/>
          </a:prstGeom>
          <a:noFill/>
          <a:ln/>
        </p:spPr>
        <p:txBody>
          <a:bodyPr wrap="square" lIns="0" tIns="0" rIns="0" bIns="0" rtlCol="0" anchor="ctr"/>
          <a:lstStyle/>
          <a:p>
            <a:pPr algn="ctr" indent="0" marL="0">
              <a:buNone/>
            </a:pPr>
            <a:r>
              <a:rPr lang="en-US" sz="1050" dirty="0">
                <a:solidFill>
                  <a:srgbClr val="1B2A41"/>
                </a:solidFill>
                <a:latin typeface="Courier New" pitchFamily="34" charset="0"/>
                <a:ea typeface="Courier New" pitchFamily="34" charset="-122"/>
                <a:cs typeface="Courier New" pitchFamily="34" charset="-120"/>
              </a:rPr>
              <a:t>bbox</a:t>
            </a:r>
            <a:endParaRPr lang="en-US" sz="1050" dirty="0"/>
          </a:p>
        </p:txBody>
      </p:sp>
      <p:sp>
        <p:nvSpPr>
          <p:cNvPr id="26" name="Shape 24"/>
          <p:cNvSpPr/>
          <p:nvPr/>
        </p:nvSpPr>
        <p:spPr>
          <a:xfrm>
            <a:off x="457200" y="3300984"/>
            <a:ext cx="1783080" cy="329184"/>
          </a:xfrm>
          <a:prstGeom prst="roundRect">
            <a:avLst>
              <a:gd name="adj" fmla="val 50000"/>
            </a:avLst>
          </a:prstGeom>
          <a:solidFill>
            <a:srgbClr val="F2F5F9"/>
          </a:solidFill>
          <a:ln w="12700">
            <a:solidFill>
              <a:srgbClr val="DDE4EC"/>
            </a:solidFill>
            <a:prstDash val="solid"/>
          </a:ln>
        </p:spPr>
      </p:sp>
      <p:sp>
        <p:nvSpPr>
          <p:cNvPr id="27" name="Text 25"/>
          <p:cNvSpPr txBox="1"/>
          <p:nvPr/>
        </p:nvSpPr>
        <p:spPr>
          <a:xfrm>
            <a:off x="457200" y="3300984"/>
            <a:ext cx="1783080" cy="329184"/>
          </a:xfrm>
          <a:prstGeom prst="rect">
            <a:avLst/>
          </a:prstGeom>
          <a:noFill/>
          <a:ln/>
        </p:spPr>
        <p:txBody>
          <a:bodyPr wrap="square" lIns="0" tIns="0" rIns="0" bIns="0" rtlCol="0" anchor="ctr"/>
          <a:lstStyle/>
          <a:p>
            <a:pPr algn="ctr" indent="0" marL="0">
              <a:buNone/>
            </a:pPr>
            <a:r>
              <a:rPr lang="en-US" sz="1050" dirty="0">
                <a:solidFill>
                  <a:srgbClr val="1B2A41"/>
                </a:solidFill>
                <a:latin typeface="Courier New" pitchFamily="34" charset="0"/>
                <a:ea typeface="Courier New" pitchFamily="34" charset="-122"/>
                <a:cs typeface="Courier New" pitchFamily="34" charset="-120"/>
              </a:rPr>
              <a:t>type</a:t>
            </a:r>
            <a:endParaRPr lang="en-US" sz="1050" dirty="0"/>
          </a:p>
        </p:txBody>
      </p:sp>
      <p:sp>
        <p:nvSpPr>
          <p:cNvPr id="28" name="Shape 26"/>
          <p:cNvSpPr/>
          <p:nvPr/>
        </p:nvSpPr>
        <p:spPr>
          <a:xfrm>
            <a:off x="2377440" y="3300984"/>
            <a:ext cx="1783080" cy="329184"/>
          </a:xfrm>
          <a:prstGeom prst="roundRect">
            <a:avLst>
              <a:gd name="adj" fmla="val 50000"/>
            </a:avLst>
          </a:prstGeom>
          <a:solidFill>
            <a:srgbClr val="F2F5F9"/>
          </a:solidFill>
          <a:ln w="12700">
            <a:solidFill>
              <a:srgbClr val="DDE4EC"/>
            </a:solidFill>
            <a:prstDash val="solid"/>
          </a:ln>
        </p:spPr>
      </p:sp>
      <p:sp>
        <p:nvSpPr>
          <p:cNvPr id="29" name="Text 27"/>
          <p:cNvSpPr txBox="1"/>
          <p:nvPr/>
        </p:nvSpPr>
        <p:spPr>
          <a:xfrm>
            <a:off x="2377440" y="3300984"/>
            <a:ext cx="1783080" cy="329184"/>
          </a:xfrm>
          <a:prstGeom prst="rect">
            <a:avLst/>
          </a:prstGeom>
          <a:noFill/>
          <a:ln/>
        </p:spPr>
        <p:txBody>
          <a:bodyPr wrap="square" lIns="0" tIns="0" rIns="0" bIns="0" rtlCol="0" anchor="ctr"/>
          <a:lstStyle/>
          <a:p>
            <a:pPr algn="ctr" indent="0" marL="0">
              <a:buNone/>
            </a:pPr>
            <a:r>
              <a:rPr lang="en-US" sz="1050" dirty="0">
                <a:solidFill>
                  <a:srgbClr val="1B2A41"/>
                </a:solidFill>
                <a:latin typeface="Courier New" pitchFamily="34" charset="0"/>
                <a:ea typeface="Courier New" pitchFamily="34" charset="-122"/>
                <a:cs typeface="Courier New" pitchFamily="34" charset="-120"/>
              </a:rPr>
              <a:t>split</a:t>
            </a:r>
            <a:endParaRPr lang="en-US" sz="1050" dirty="0"/>
          </a:p>
        </p:txBody>
      </p:sp>
      <p:sp>
        <p:nvSpPr>
          <p:cNvPr id="30" name="Text 28"/>
          <p:cNvSpPr txBox="1"/>
          <p:nvPr/>
        </p:nvSpPr>
        <p:spPr>
          <a:xfrm>
            <a:off x="457200" y="3794760"/>
            <a:ext cx="3749040" cy="548640"/>
          </a:xfrm>
          <a:prstGeom prst="rect">
            <a:avLst/>
          </a:prstGeom>
          <a:noFill/>
          <a:ln/>
        </p:spPr>
        <p:txBody>
          <a:bodyPr wrap="square" lIns="0" tIns="0" rIns="0" bIns="0" rtlCol="0" anchor="t"/>
          <a:lstStyle/>
          <a:p>
            <a:pPr indent="0" marL="0">
              <a:buNone/>
            </a:pPr>
            <a:r>
              <a:rPr lang="en-US" sz="1050" i="1" dirty="0">
                <a:solidFill>
                  <a:srgbClr val="4A5B70"/>
                </a:solidFill>
              </a:rPr>
              <a:t>Synthetic clips add boxes, masks and tracklets.</a:t>
            </a:r>
            <a:endParaRPr lang="en-US" sz="1050" dirty="0"/>
          </a:p>
          <a:p>
            <a:pPr indent="0" marL="0">
              <a:buNone/>
            </a:pPr>
            <a:r>
              <a:rPr lang="en-US" sz="1050" i="1" dirty="0">
                <a:solidFill>
                  <a:srgbClr val="4A5B70"/>
                </a:solidFill>
              </a:rPr>
              <a:t>Licence: CC BY-NC-SA 4.0 (research use).</a:t>
            </a:r>
            <a:endParaRPr lang="en-US" sz="1050" dirty="0"/>
          </a:p>
        </p:txBody>
      </p:sp>
      <p:sp>
        <p:nvSpPr>
          <p:cNvPr id="31" name="Text 29"/>
          <p:cNvSpPr txBox="1"/>
          <p:nvPr/>
        </p:nvSpPr>
        <p:spPr>
          <a:xfrm>
            <a:off x="4526280" y="2057400"/>
            <a:ext cx="4114800" cy="274320"/>
          </a:xfrm>
          <a:prstGeom prst="rect">
            <a:avLst/>
          </a:prstGeom>
          <a:noFill/>
          <a:ln/>
        </p:spPr>
        <p:txBody>
          <a:bodyPr wrap="square" lIns="0" tIns="0" rIns="0" bIns="0" rtlCol="0" anchor="ctr"/>
          <a:lstStyle/>
          <a:p>
            <a:pPr indent="0" marL="0">
              <a:buNone/>
            </a:pPr>
            <a:r>
              <a:rPr lang="en-US" sz="1300" b="1" dirty="0">
                <a:solidFill>
                  <a:srgbClr val="1B2A41"/>
                </a:solidFill>
              </a:rPr>
              <a:t>Why ACCIDENT?</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26280" y="2395728"/>
          <a:ext cx="4160520" cy="914400"/>
        </p:xfrm>
        <a:graphic>
          <a:graphicData uri="http://schemas.openxmlformats.org/drawingml/2006/table">
            <a:tbl>
              <a:tblPr/>
              <a:tblGrid>
                <a:gridCol w="1143000"/>
                <a:gridCol w="1005840"/>
                <a:gridCol w="1097280"/>
                <a:gridCol w="914400"/>
              </a:tblGrid>
              <a:tr h="329184">
                <a:tc>
                  <a:txBody>
                    <a:bodyPr/>
                    <a:lstStyle/>
                    <a:p>
                      <a:pPr indent="0" marL="0">
                        <a:buNone/>
                      </a:pPr>
                      <a:r>
                        <a:rPr lang="en-US" sz="1050" b="1" dirty="0">
                          <a:solidFill>
                            <a:srgbClr val="FFFFFF"/>
                          </a:solidFill>
                        </a:rPr>
                        <a:t>Dataset</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B2A41"/>
                    </a:solidFill>
                  </a:tcPr>
                </a:tc>
                <a:tc>
                  <a:txBody>
                    <a:bodyPr/>
                    <a:lstStyle/>
                    <a:p>
                      <a:pPr indent="0" marL="0">
                        <a:buNone/>
                      </a:pPr>
                      <a:r>
                        <a:rPr lang="en-US" sz="1050" b="1" dirty="0">
                          <a:solidFill>
                            <a:srgbClr val="FFFFFF"/>
                          </a:solidFill>
                        </a:rPr>
                        <a:t>View</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B2A41"/>
                    </a:solidFill>
                  </a:tcPr>
                </a:tc>
                <a:tc>
                  <a:txBody>
                    <a:bodyPr/>
                    <a:lstStyle/>
                    <a:p>
                      <a:pPr indent="0" marL="0">
                        <a:buNone/>
                      </a:pPr>
                      <a:r>
                        <a:rPr lang="en-US" sz="1050" b="1" dirty="0">
                          <a:solidFill>
                            <a:srgbClr val="FFFFFF"/>
                          </a:solidFill>
                        </a:rPr>
                        <a:t>Size</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B2A41"/>
                    </a:solidFill>
                  </a:tcPr>
                </a:tc>
                <a:tc>
                  <a:txBody>
                    <a:bodyPr/>
                    <a:lstStyle/>
                    <a:p>
                      <a:pPr indent="0" marL="0">
                        <a:buNone/>
                      </a:pPr>
                      <a:r>
                        <a:rPr lang="en-US" sz="1050" b="1" dirty="0">
                          <a:solidFill>
                            <a:srgbClr val="FFFFFF"/>
                          </a:solidFill>
                        </a:rPr>
                        <a:t>Fit</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B2A41"/>
                    </a:solidFill>
                  </a:tcPr>
                </a:tc>
              </a:tr>
              <a:tr h="329184">
                <a:tc>
                  <a:txBody>
                    <a:bodyPr/>
                    <a:lstStyle/>
                    <a:p>
                      <a:pPr indent="0" marL="0">
                        <a:buNone/>
                      </a:pPr>
                      <a:r>
                        <a:rPr lang="en-US" sz="1050" b="1" dirty="0">
                          <a:solidFill>
                            <a:srgbClr val="1B2A41"/>
                          </a:solidFill>
                        </a:rPr>
                        <a:t>ACCIDENT</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4D6"/>
                    </a:solidFill>
                  </a:tcPr>
                </a:tc>
                <a:tc>
                  <a:txBody>
                    <a:bodyPr/>
                    <a:lstStyle/>
                    <a:p>
                      <a:pPr indent="0" marL="0">
                        <a:buNone/>
                      </a:pPr>
                      <a:r>
                        <a:rPr lang="en-US" sz="1050" b="1" dirty="0">
                          <a:solidFill>
                            <a:srgbClr val="1B2A41"/>
                          </a:solidFill>
                        </a:rPr>
                        <a:t>Fixed CCTV</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4D6"/>
                    </a:solidFill>
                  </a:tcPr>
                </a:tc>
                <a:tc>
                  <a:txBody>
                    <a:bodyPr/>
                    <a:lstStyle/>
                    <a:p>
                      <a:pPr indent="0" marL="0">
                        <a:buNone/>
                      </a:pPr>
                      <a:r>
                        <a:rPr lang="en-US" sz="1050" b="1" dirty="0">
                          <a:solidFill>
                            <a:srgbClr val="1B2A41"/>
                          </a:solidFill>
                        </a:rPr>
                        <a:t>4,238 clips</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4D6"/>
                    </a:solidFill>
                  </a:tcPr>
                </a:tc>
                <a:tc>
                  <a:txBody>
                    <a:bodyPr/>
                    <a:lstStyle/>
                    <a:p>
                      <a:pPr indent="0" marL="0">
                        <a:buNone/>
                      </a:pPr>
                      <a:r>
                        <a:rPr lang="en-US" sz="1050" b="1" dirty="0">
                          <a:solidFill>
                            <a:srgbClr val="B07A00"/>
                          </a:solidFill>
                        </a:rPr>
                        <a:t>★ Chosen</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4D6"/>
                    </a:solidFill>
                  </a:tcPr>
                </a:tc>
              </a:tr>
              <a:tr h="329184">
                <a:tc>
                  <a:txBody>
                    <a:bodyPr/>
                    <a:lstStyle/>
                    <a:p>
                      <a:pPr indent="0" marL="0">
                        <a:buNone/>
                      </a:pPr>
                      <a:r>
                        <a:rPr lang="en-US" sz="1050" b="1" dirty="0">
                          <a:solidFill>
                            <a:srgbClr val="1B2A41"/>
                          </a:solidFill>
                        </a:rPr>
                        <a:t>TADS</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50" dirty="0">
                          <a:solidFill>
                            <a:srgbClr val="1B2A41"/>
                          </a:solidFill>
                        </a:rPr>
                        <a:t>Fixed CCTV</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50" dirty="0">
                          <a:solidFill>
                            <a:srgbClr val="1B2A41"/>
                          </a:solidFill>
                        </a:rPr>
                        <a:t>966 segments</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50" dirty="0">
                          <a:solidFill>
                            <a:srgbClr val="1B2A41"/>
                          </a:solidFill>
                        </a:rPr>
                        <a:t>Fallback</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r>
              <a:tr h="329184">
                <a:tc>
                  <a:txBody>
                    <a:bodyPr/>
                    <a:lstStyle/>
                    <a:p>
                      <a:pPr indent="0" marL="0">
                        <a:buNone/>
                      </a:pPr>
                      <a:r>
                        <a:rPr lang="en-US" sz="1050" b="1" dirty="0">
                          <a:solidFill>
                            <a:srgbClr val="1B2A41"/>
                          </a:solidFill>
                        </a:rPr>
                        <a:t>TU-DAT</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Roadside</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~280 videos</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Too small</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B2A41"/>
                          </a:solidFill>
                        </a:rPr>
                        <a:t>DoTA</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50" dirty="0">
                          <a:solidFill>
                            <a:srgbClr val="1B2A41"/>
                          </a:solidFill>
                        </a:rPr>
                        <a:t>Dashcam</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50" dirty="0">
                          <a:solidFill>
                            <a:srgbClr val="1B2A41"/>
                          </a:solidFill>
                        </a:rPr>
                        <a:t>4,677 videos</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c>
                  <a:txBody>
                    <a:bodyPr/>
                    <a:lstStyle/>
                    <a:p>
                      <a:pPr indent="0" marL="0">
                        <a:buNone/>
                      </a:pPr>
                      <a:r>
                        <a:rPr lang="en-US" sz="1050" dirty="0">
                          <a:solidFill>
                            <a:srgbClr val="1B2A41"/>
                          </a:solidFill>
                        </a:rPr>
                        <a:t>Wrong view</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2F5F9"/>
                    </a:solidFill>
                  </a:tcPr>
                </a:tc>
              </a:tr>
              <a:tr h="329184">
                <a:tc>
                  <a:txBody>
                    <a:bodyPr/>
                    <a:lstStyle/>
                    <a:p>
                      <a:pPr indent="0" marL="0">
                        <a:buNone/>
                      </a:pPr>
                      <a:r>
                        <a:rPr lang="en-US" sz="1050" b="1" dirty="0">
                          <a:solidFill>
                            <a:srgbClr val="1B2A41"/>
                          </a:solidFill>
                        </a:rPr>
                        <a:t>MIVIA-AID</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Fixed CCTV</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2,556 videos</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Private test</a:t>
                      </a:r>
                      <a:endParaRPr lang="en-US" sz="1050" dirty="0"/>
                    </a:p>
                  </a:txBody>
                  <a:tcPr marL="73152" marR="73152" marT="18288" marB="18288"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adge"/>
          <p:cNvSpPr/>
          <p:nvPr/>
        </p:nvSpPr>
        <p:spPr>
          <a:xfrm>
            <a:off x="457200" y="320040"/>
            <a:ext cx="457200" cy="457200"/>
          </a:xfrm>
          <a:prstGeom prst="ellipse">
            <a:avLst/>
          </a:prstGeom>
          <a:solidFill>
            <a:srgbClr val="F2A900"/>
          </a:solidFill>
          <a:ln w="12700">
            <a:solidFill>
              <a:srgbClr val="F2A900"/>
            </a:solidFill>
            <a:prstDash val="solid"/>
          </a:ln>
        </p:spPr>
      </p:sp>
      <p:sp>
        <p:nvSpPr>
          <p:cNvPr id="3" name="Text 1"/>
          <p:cNvSpPr txBox="1"/>
          <p:nvPr/>
        </p:nvSpPr>
        <p:spPr>
          <a:xfrm>
            <a:off x="457200" y="32004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4" name="Text 1"/>
          <p:cNvSpPr/>
          <p:nvPr>
            <p:ph idx="101" type="title" hasCustomPrompt="1"/>
          </p:nvPr>
        </p:nvSpPr>
        <p:spPr>
          <a:xfrm>
            <a:off x="1097280" y="292608"/>
            <a:ext cx="7589520" cy="548640"/>
          </a:xfrm>
          <a:prstGeom prst="rect">
            <a:avLst/>
          </a:prstGeom>
          <a:noFill/>
          <a:ln/>
        </p:spPr>
        <p:txBody>
          <a:bodyPr wrap="square" lIns="0" tIns="0" rIns="0" bIns="0" rtlCol="0" anchor="ctr"/>
          <a:lstStyle/>
          <a:p>
            <a:pPr algn="l" indent="0" marL="0">
              <a:buNone/>
            </a:pPr>
            <a:r>
              <a:rPr lang="en-US" sz="2600" b="1" dirty="0">
                <a:solidFill>
                  <a:schemeClr val="tx1"/>
                </a:solidFill>
              </a:rPr>
              <a:t>Dataset — EDA Notebook</a:t>
            </a:r>
            <a:endParaRPr lang="en-US" sz="2600" dirty="0"/>
          </a:p>
        </p:txBody>
      </p:sp>
      <p:graphicFrame>
        <p:nvGraphicFramePr>
          <p:cNvPr id="5" name="Chart 0" descr=""/>
          <p:cNvGraphicFramePr/>
          <p:nvPr/>
        </p:nvGraphicFramePr>
        <p:xfrm>
          <a:off x="365760" y="960120"/>
          <a:ext cx="4297680" cy="26974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457200" y="3767328"/>
            <a:ext cx="4114800" cy="777240"/>
          </a:xfrm>
          <a:prstGeom prst="roundRect">
            <a:avLst>
              <a:gd name="adj" fmla="val 9412"/>
            </a:avLst>
          </a:prstGeom>
          <a:solidFill>
            <a:srgbClr val="FFF4D6"/>
          </a:solidFill>
          <a:ln w="12700">
            <a:solidFill>
              <a:srgbClr val="FFF4D6"/>
            </a:solidFill>
            <a:prstDash val="solid"/>
          </a:ln>
        </p:spPr>
      </p:sp>
      <p:sp>
        <p:nvSpPr>
          <p:cNvPr id="7" name="Text 4"/>
          <p:cNvSpPr txBox="1"/>
          <p:nvPr/>
        </p:nvSpPr>
        <p:spPr>
          <a:xfrm>
            <a:off x="621792" y="3813048"/>
            <a:ext cx="3840480" cy="685800"/>
          </a:xfrm>
          <a:prstGeom prst="rect">
            <a:avLst/>
          </a:prstGeom>
          <a:noFill/>
          <a:ln/>
        </p:spPr>
        <p:txBody>
          <a:bodyPr wrap="square" lIns="0" tIns="0" rIns="0" bIns="0" rtlCol="0" anchor="ctr"/>
          <a:lstStyle/>
          <a:p>
            <a:pPr indent="0" marL="0">
              <a:buNone/>
            </a:pPr>
            <a:r>
              <a:rPr lang="en-US" sz="1100" b="1" dirty="0">
                <a:solidFill>
                  <a:srgbClr val="1B2A41"/>
                </a:solidFill>
              </a:rPr>
              <a:t>Imbalance: </a:t>
            </a:r>
            <a:pPr indent="0" marL="0">
              <a:buNone/>
            </a:pPr>
            <a:r>
              <a:rPr lang="en-US" sz="1100" b="1" dirty="0">
                <a:solidFill>
                  <a:srgbClr val="1B2A41"/>
                </a:solidFill>
                <a:highlight>
                  <a:srgbClr val="FFE08A"/>
                </a:highlight>
              </a:rPr>
              <a:t>single-vehicle 33.5% vs head-on 5.8%</a:t>
            </a:r>
            <a:pPr indent="0" marL="0">
              <a:buNone/>
            </a:pPr>
            <a:r>
              <a:rPr lang="en-US" sz="1100" dirty="0">
                <a:solidFill>
                  <a:srgbClr val="1B2A41"/>
                </a:solidFill>
              </a:rPr>
              <a:t> → weighted loss + per-class accuracy</a:t>
            </a:r>
            <a:endParaRPr lang="en-US" sz="1100" dirty="0"/>
          </a:p>
        </p:txBody>
      </p:sp>
      <p:sp>
        <p:nvSpPr>
          <p:cNvPr id="8" name="Shape 5"/>
          <p:cNvSpPr/>
          <p:nvPr/>
        </p:nvSpPr>
        <p:spPr>
          <a:xfrm>
            <a:off x="4846320" y="987552"/>
            <a:ext cx="3840480" cy="1783080"/>
          </a:xfrm>
          <a:prstGeom prst="roundRect">
            <a:avLst>
              <a:gd name="adj" fmla="val 4103"/>
            </a:avLst>
          </a:prstGeom>
          <a:solidFill>
            <a:srgbClr val="F2F5F9"/>
          </a:solidFill>
          <a:ln w="12700">
            <a:solidFill>
              <a:srgbClr val="F2F5F9"/>
            </a:solidFill>
            <a:prstDash val="solid"/>
          </a:ln>
        </p:spPr>
      </p:sp>
      <p:sp>
        <p:nvSpPr>
          <p:cNvPr id="9" name="Text 6"/>
          <p:cNvSpPr txBox="1"/>
          <p:nvPr/>
        </p:nvSpPr>
        <p:spPr>
          <a:xfrm>
            <a:off x="5029200" y="1051560"/>
            <a:ext cx="3474720" cy="292608"/>
          </a:xfrm>
          <a:prstGeom prst="rect">
            <a:avLst/>
          </a:prstGeom>
          <a:noFill/>
          <a:ln/>
        </p:spPr>
        <p:txBody>
          <a:bodyPr wrap="square" lIns="0" tIns="0" rIns="0" bIns="0" rtlCol="0" anchor="ctr"/>
          <a:lstStyle/>
          <a:p>
            <a:pPr indent="0" marL="0">
              <a:buNone/>
            </a:pPr>
            <a:r>
              <a:rPr lang="en-US" sz="1300" b="1" dirty="0">
                <a:solidFill>
                  <a:srgbClr val="1B2A41"/>
                </a:solidFill>
              </a:rPr>
              <a:t>Data quality checks</a:t>
            </a:r>
            <a:endParaRPr lang="en-US" sz="1300" dirty="0"/>
          </a:p>
        </p:txBody>
      </p:sp>
      <p:pic>
        <p:nvPicPr>
          <p:cNvPr id="10" name="Image 0" descr="preencoded.png">    </p:cNvPr>
          <p:cNvPicPr>
            <a:picLocks noChangeAspect="1"/>
          </p:cNvPicPr>
          <p:nvPr/>
        </p:nvPicPr>
        <p:blipFill>
          <a:blip r:embed="rId2"/>
          <a:stretch>
            <a:fillRect/>
          </a:stretch>
        </p:blipFill>
        <p:spPr>
          <a:xfrm>
            <a:off x="5029200" y="1435608"/>
            <a:ext cx="201168" cy="201168"/>
          </a:xfrm>
          <a:prstGeom prst="rect">
            <a:avLst/>
          </a:prstGeom>
        </p:spPr>
      </p:pic>
      <p:sp>
        <p:nvSpPr>
          <p:cNvPr id="11" name="Text 7"/>
          <p:cNvSpPr txBox="1"/>
          <p:nvPr/>
        </p:nvSpPr>
        <p:spPr>
          <a:xfrm>
            <a:off x="5321808" y="1389888"/>
            <a:ext cx="3291840" cy="292608"/>
          </a:xfrm>
          <a:prstGeom prst="rect">
            <a:avLst/>
          </a:prstGeom>
          <a:noFill/>
          <a:ln/>
        </p:spPr>
        <p:txBody>
          <a:bodyPr wrap="square" lIns="0" tIns="0" rIns="0" bIns="0" rtlCol="0" anchor="ctr"/>
          <a:lstStyle/>
          <a:p>
            <a:pPr indent="0" marL="0">
              <a:buNone/>
            </a:pPr>
            <a:r>
              <a:rPr lang="en-US" sz="1100" dirty="0">
                <a:solidFill>
                  <a:srgbClr val="1B2A41"/>
                </a:solidFill>
              </a:rPr>
              <a:t>All 2,027 real rows · no missing labels</a:t>
            </a:r>
            <a:endParaRPr lang="en-US" sz="1100" dirty="0"/>
          </a:p>
        </p:txBody>
      </p:sp>
      <p:pic>
        <p:nvPicPr>
          <p:cNvPr id="12" name="Image 1" descr="preencoded.png">    </p:cNvPr>
          <p:cNvPicPr>
            <a:picLocks noChangeAspect="1"/>
          </p:cNvPicPr>
          <p:nvPr/>
        </p:nvPicPr>
        <p:blipFill>
          <a:blip r:embed="rId3"/>
          <a:stretch>
            <a:fillRect/>
          </a:stretch>
        </p:blipFill>
        <p:spPr>
          <a:xfrm>
            <a:off x="5029200" y="1764792"/>
            <a:ext cx="201168" cy="201168"/>
          </a:xfrm>
          <a:prstGeom prst="rect">
            <a:avLst/>
          </a:prstGeom>
        </p:spPr>
      </p:pic>
      <p:sp>
        <p:nvSpPr>
          <p:cNvPr id="13" name="Text 8"/>
          <p:cNvSpPr txBox="1"/>
          <p:nvPr/>
        </p:nvSpPr>
        <p:spPr>
          <a:xfrm>
            <a:off x="5321808" y="1719072"/>
            <a:ext cx="3291840" cy="292608"/>
          </a:xfrm>
          <a:prstGeom prst="rect">
            <a:avLst/>
          </a:prstGeom>
          <a:noFill/>
          <a:ln/>
        </p:spPr>
        <p:txBody>
          <a:bodyPr wrap="square" lIns="0" tIns="0" rIns="0" bIns="0" rtlCol="0" anchor="ctr"/>
          <a:lstStyle/>
          <a:p>
            <a:pPr indent="0" marL="0">
              <a:buNone/>
            </a:pPr>
            <a:r>
              <a:rPr lang="en-US" sz="1100" dirty="0">
                <a:solidFill>
                  <a:srgbClr val="1B2A41"/>
                </a:solidFill>
              </a:rPr>
              <a:t>Licence confirmed: CC BY-NC-SA 4.0</a:t>
            </a:r>
            <a:endParaRPr lang="en-US" sz="1100" dirty="0"/>
          </a:p>
        </p:txBody>
      </p:sp>
      <p:pic>
        <p:nvPicPr>
          <p:cNvPr id="14" name="Image 2" descr="preencoded.png">    </p:cNvPr>
          <p:cNvPicPr>
            <a:picLocks noChangeAspect="1"/>
          </p:cNvPicPr>
          <p:nvPr/>
        </p:nvPicPr>
        <p:blipFill>
          <a:blip r:embed="rId4"/>
          <a:stretch>
            <a:fillRect/>
          </a:stretch>
        </p:blipFill>
        <p:spPr>
          <a:xfrm>
            <a:off x="5029200" y="2093976"/>
            <a:ext cx="201168" cy="201168"/>
          </a:xfrm>
          <a:prstGeom prst="rect">
            <a:avLst/>
          </a:prstGeom>
        </p:spPr>
      </p:pic>
      <p:sp>
        <p:nvSpPr>
          <p:cNvPr id="15" name="Text 9"/>
          <p:cNvSpPr txBox="1"/>
          <p:nvPr/>
        </p:nvSpPr>
        <p:spPr>
          <a:xfrm>
            <a:off x="5321808" y="2048256"/>
            <a:ext cx="3291840" cy="292608"/>
          </a:xfrm>
          <a:prstGeom prst="rect">
            <a:avLst/>
          </a:prstGeom>
          <a:noFill/>
          <a:ln/>
        </p:spPr>
        <p:txBody>
          <a:bodyPr wrap="square" lIns="0" tIns="0" rIns="0" bIns="0" rtlCol="0" anchor="ctr"/>
          <a:lstStyle/>
          <a:p>
            <a:pPr indent="0" marL="0">
              <a:buNone/>
            </a:pPr>
            <a:r>
              <a:rPr lang="en-US" sz="1100" dirty="0">
                <a:solidFill>
                  <a:srgbClr val="1B2A41"/>
                </a:solidFill>
              </a:rPr>
              <a:t>Real test subset frozen on 7 Oct</a:t>
            </a:r>
            <a:endParaRPr lang="en-US" sz="1100" dirty="0"/>
          </a:p>
        </p:txBody>
      </p:sp>
      <p:pic>
        <p:nvPicPr>
          <p:cNvPr id="16" name="Image 3" descr="preencoded.png">    </p:cNvPr>
          <p:cNvPicPr>
            <a:picLocks noChangeAspect="1"/>
          </p:cNvPicPr>
          <p:nvPr/>
        </p:nvPicPr>
        <p:blipFill>
          <a:blip r:embed="rId5"/>
          <a:stretch>
            <a:fillRect/>
          </a:stretch>
        </p:blipFill>
        <p:spPr>
          <a:xfrm>
            <a:off x="5029200" y="2423160"/>
            <a:ext cx="201168" cy="201168"/>
          </a:xfrm>
          <a:prstGeom prst="rect">
            <a:avLst/>
          </a:prstGeom>
        </p:spPr>
      </p:pic>
      <p:sp>
        <p:nvSpPr>
          <p:cNvPr id="17" name="Text 10"/>
          <p:cNvSpPr txBox="1"/>
          <p:nvPr/>
        </p:nvSpPr>
        <p:spPr>
          <a:xfrm>
            <a:off x="5321808" y="2377440"/>
            <a:ext cx="3291840" cy="292608"/>
          </a:xfrm>
          <a:prstGeom prst="rect">
            <a:avLst/>
          </a:prstGeom>
          <a:noFill/>
          <a:ln/>
        </p:spPr>
        <p:txBody>
          <a:bodyPr wrap="square" lIns="0" tIns="0" rIns="0" bIns="0" rtlCol="0" anchor="ctr"/>
          <a:lstStyle/>
          <a:p>
            <a:pPr indent="0" marL="0">
              <a:buNone/>
            </a:pPr>
            <a:r>
              <a:rPr lang="en-US" sz="1100" dirty="0">
                <a:solidFill>
                  <a:srgbClr val="1B2A41"/>
                </a:solidFill>
              </a:rPr>
              <a:t>One clip per source video · fixed seed</a:t>
            </a:r>
            <a:endParaRPr lang="en-US" sz="1100" dirty="0"/>
          </a:p>
        </p:txBody>
      </p:sp>
      <p:sp>
        <p:nvSpPr>
          <p:cNvPr id="18" name="Text 11"/>
          <p:cNvSpPr txBox="1"/>
          <p:nvPr/>
        </p:nvSpPr>
        <p:spPr>
          <a:xfrm>
            <a:off x="4846320" y="2907792"/>
            <a:ext cx="3840480" cy="274320"/>
          </a:xfrm>
          <a:prstGeom prst="rect">
            <a:avLst/>
          </a:prstGeom>
          <a:noFill/>
          <a:ln/>
        </p:spPr>
        <p:txBody>
          <a:bodyPr wrap="square" lIns="0" tIns="0" rIns="0" bIns="0" rtlCol="0" anchor="ctr"/>
          <a:lstStyle/>
          <a:p>
            <a:pPr indent="0" marL="0">
              <a:buNone/>
            </a:pPr>
            <a:r>
              <a:rPr lang="en-US" sz="1300" b="1" dirty="0">
                <a:solidFill>
                  <a:srgbClr val="1B2A41"/>
                </a:solidFill>
              </a:rPr>
              <a:t>Notebook sections</a:t>
            </a:r>
            <a:endParaRPr lang="en-US" sz="1300" dirty="0"/>
          </a:p>
        </p:txBody>
      </p:sp>
      <p:sp>
        <p:nvSpPr>
          <p:cNvPr id="19" name="Shape 12"/>
          <p:cNvSpPr/>
          <p:nvPr/>
        </p:nvSpPr>
        <p:spPr>
          <a:xfrm>
            <a:off x="4846320" y="3246120"/>
            <a:ext cx="1828800" cy="338328"/>
          </a:xfrm>
          <a:prstGeom prst="roundRect">
            <a:avLst>
              <a:gd name="adj" fmla="val 21622"/>
            </a:avLst>
          </a:prstGeom>
          <a:solidFill>
            <a:srgbClr val="FFFFFF"/>
          </a:solidFill>
          <a:ln w="12700">
            <a:solidFill>
              <a:srgbClr val="8FA3B8"/>
            </a:solidFill>
            <a:prstDash val="solid"/>
          </a:ln>
        </p:spPr>
      </p:sp>
      <p:sp>
        <p:nvSpPr>
          <p:cNvPr id="20" name="Shape 13"/>
          <p:cNvSpPr/>
          <p:nvPr/>
        </p:nvSpPr>
        <p:spPr>
          <a:xfrm>
            <a:off x="4910328" y="3300984"/>
            <a:ext cx="228600" cy="228600"/>
          </a:xfrm>
          <a:prstGeom prst="ellipse">
            <a:avLst/>
          </a:prstGeom>
          <a:solidFill>
            <a:srgbClr val="1B2A41"/>
          </a:solidFill>
          <a:ln w="12700">
            <a:solidFill>
              <a:srgbClr val="1B2A41"/>
            </a:solidFill>
            <a:prstDash val="solid"/>
          </a:ln>
        </p:spPr>
      </p:sp>
      <p:sp>
        <p:nvSpPr>
          <p:cNvPr id="21" name="Text 14"/>
          <p:cNvSpPr txBox="1"/>
          <p:nvPr/>
        </p:nvSpPr>
        <p:spPr>
          <a:xfrm>
            <a:off x="4910328" y="3300984"/>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22" name="Text 15"/>
          <p:cNvSpPr txBox="1"/>
          <p:nvPr/>
        </p:nvSpPr>
        <p:spPr>
          <a:xfrm>
            <a:off x="5212080" y="3246120"/>
            <a:ext cx="1417320" cy="338328"/>
          </a:xfrm>
          <a:prstGeom prst="rect">
            <a:avLst/>
          </a:prstGeom>
          <a:noFill/>
          <a:ln/>
        </p:spPr>
        <p:txBody>
          <a:bodyPr wrap="square" lIns="0" tIns="0" rIns="0" bIns="0" rtlCol="0" anchor="ctr"/>
          <a:lstStyle/>
          <a:p>
            <a:pPr indent="0" marL="0">
              <a:buNone/>
            </a:pPr>
            <a:r>
              <a:rPr lang="en-US" sz="1050" dirty="0">
                <a:solidFill>
                  <a:srgbClr val="1B2A41"/>
                </a:solidFill>
              </a:rPr>
              <a:t>Load metadata</a:t>
            </a:r>
            <a:endParaRPr lang="en-US" sz="1050" dirty="0"/>
          </a:p>
        </p:txBody>
      </p:sp>
      <p:sp>
        <p:nvSpPr>
          <p:cNvPr id="23" name="Shape 16"/>
          <p:cNvSpPr/>
          <p:nvPr/>
        </p:nvSpPr>
        <p:spPr>
          <a:xfrm>
            <a:off x="6784848" y="3246120"/>
            <a:ext cx="1828800" cy="338328"/>
          </a:xfrm>
          <a:prstGeom prst="roundRect">
            <a:avLst>
              <a:gd name="adj" fmla="val 21622"/>
            </a:avLst>
          </a:prstGeom>
          <a:solidFill>
            <a:srgbClr val="FFFFFF"/>
          </a:solidFill>
          <a:ln w="12700">
            <a:solidFill>
              <a:srgbClr val="8FA3B8"/>
            </a:solidFill>
            <a:prstDash val="solid"/>
          </a:ln>
        </p:spPr>
      </p:sp>
      <p:sp>
        <p:nvSpPr>
          <p:cNvPr id="24" name="Shape 17"/>
          <p:cNvSpPr/>
          <p:nvPr/>
        </p:nvSpPr>
        <p:spPr>
          <a:xfrm>
            <a:off x="6848856" y="3300984"/>
            <a:ext cx="228600" cy="228600"/>
          </a:xfrm>
          <a:prstGeom prst="ellipse">
            <a:avLst/>
          </a:prstGeom>
          <a:solidFill>
            <a:srgbClr val="1B2A41"/>
          </a:solidFill>
          <a:ln w="12700">
            <a:solidFill>
              <a:srgbClr val="1B2A41"/>
            </a:solidFill>
            <a:prstDash val="solid"/>
          </a:ln>
        </p:spPr>
      </p:sp>
      <p:sp>
        <p:nvSpPr>
          <p:cNvPr id="25" name="Text 18"/>
          <p:cNvSpPr txBox="1"/>
          <p:nvPr/>
        </p:nvSpPr>
        <p:spPr>
          <a:xfrm>
            <a:off x="6848856" y="3300984"/>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26" name="Text 19"/>
          <p:cNvSpPr txBox="1"/>
          <p:nvPr/>
        </p:nvSpPr>
        <p:spPr>
          <a:xfrm>
            <a:off x="7150608" y="3246120"/>
            <a:ext cx="1417320" cy="338328"/>
          </a:xfrm>
          <a:prstGeom prst="rect">
            <a:avLst/>
          </a:prstGeom>
          <a:noFill/>
          <a:ln/>
        </p:spPr>
        <p:txBody>
          <a:bodyPr wrap="square" lIns="0" tIns="0" rIns="0" bIns="0" rtlCol="0" anchor="ctr"/>
          <a:lstStyle/>
          <a:p>
            <a:pPr indent="0" marL="0">
              <a:buNone/>
            </a:pPr>
            <a:r>
              <a:rPr lang="en-US" sz="1050" dirty="0">
                <a:solidFill>
                  <a:srgbClr val="1B2A41"/>
                </a:solidFill>
              </a:rPr>
              <a:t>Missing values</a:t>
            </a:r>
            <a:endParaRPr lang="en-US" sz="1050" dirty="0"/>
          </a:p>
        </p:txBody>
      </p:sp>
      <p:sp>
        <p:nvSpPr>
          <p:cNvPr id="27" name="Shape 20"/>
          <p:cNvSpPr/>
          <p:nvPr/>
        </p:nvSpPr>
        <p:spPr>
          <a:xfrm>
            <a:off x="4846320" y="3675888"/>
            <a:ext cx="1828800" cy="338328"/>
          </a:xfrm>
          <a:prstGeom prst="roundRect">
            <a:avLst>
              <a:gd name="adj" fmla="val 21622"/>
            </a:avLst>
          </a:prstGeom>
          <a:solidFill>
            <a:srgbClr val="FFFFFF"/>
          </a:solidFill>
          <a:ln w="12700">
            <a:solidFill>
              <a:srgbClr val="8FA3B8"/>
            </a:solidFill>
            <a:prstDash val="solid"/>
          </a:ln>
        </p:spPr>
      </p:sp>
      <p:sp>
        <p:nvSpPr>
          <p:cNvPr id="28" name="Shape 21"/>
          <p:cNvSpPr/>
          <p:nvPr/>
        </p:nvSpPr>
        <p:spPr>
          <a:xfrm>
            <a:off x="4910328" y="3730752"/>
            <a:ext cx="228600" cy="228600"/>
          </a:xfrm>
          <a:prstGeom prst="ellipse">
            <a:avLst/>
          </a:prstGeom>
          <a:solidFill>
            <a:srgbClr val="1B2A41"/>
          </a:solidFill>
          <a:ln w="12700">
            <a:solidFill>
              <a:srgbClr val="1B2A41"/>
            </a:solidFill>
            <a:prstDash val="solid"/>
          </a:ln>
        </p:spPr>
      </p:sp>
      <p:sp>
        <p:nvSpPr>
          <p:cNvPr id="29" name="Text 22"/>
          <p:cNvSpPr txBox="1"/>
          <p:nvPr/>
        </p:nvSpPr>
        <p:spPr>
          <a:xfrm>
            <a:off x="4910328" y="3730752"/>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30" name="Text 23"/>
          <p:cNvSpPr txBox="1"/>
          <p:nvPr/>
        </p:nvSpPr>
        <p:spPr>
          <a:xfrm>
            <a:off x="5212080" y="3675888"/>
            <a:ext cx="1417320" cy="338328"/>
          </a:xfrm>
          <a:prstGeom prst="rect">
            <a:avLst/>
          </a:prstGeom>
          <a:noFill/>
          <a:ln/>
        </p:spPr>
        <p:txBody>
          <a:bodyPr wrap="square" lIns="0" tIns="0" rIns="0" bIns="0" rtlCol="0" anchor="ctr"/>
          <a:lstStyle/>
          <a:p>
            <a:pPr indent="0" marL="0">
              <a:buNone/>
            </a:pPr>
            <a:r>
              <a:rPr lang="en-US" sz="1050" dirty="0">
                <a:solidFill>
                  <a:srgbClr val="1B2A41"/>
                </a:solidFill>
              </a:rPr>
              <a:t>Class balance</a:t>
            </a:r>
            <a:endParaRPr lang="en-US" sz="1050" dirty="0"/>
          </a:p>
        </p:txBody>
      </p:sp>
      <p:sp>
        <p:nvSpPr>
          <p:cNvPr id="31" name="Shape 24"/>
          <p:cNvSpPr/>
          <p:nvPr/>
        </p:nvSpPr>
        <p:spPr>
          <a:xfrm>
            <a:off x="6784848" y="3675888"/>
            <a:ext cx="1828800" cy="338328"/>
          </a:xfrm>
          <a:prstGeom prst="roundRect">
            <a:avLst>
              <a:gd name="adj" fmla="val 21622"/>
            </a:avLst>
          </a:prstGeom>
          <a:solidFill>
            <a:srgbClr val="FFFFFF"/>
          </a:solidFill>
          <a:ln w="12700">
            <a:solidFill>
              <a:srgbClr val="8FA3B8"/>
            </a:solidFill>
            <a:prstDash val="solid"/>
          </a:ln>
        </p:spPr>
      </p:sp>
      <p:sp>
        <p:nvSpPr>
          <p:cNvPr id="32" name="Shape 25"/>
          <p:cNvSpPr/>
          <p:nvPr/>
        </p:nvSpPr>
        <p:spPr>
          <a:xfrm>
            <a:off x="6848856" y="3730752"/>
            <a:ext cx="228600" cy="228600"/>
          </a:xfrm>
          <a:prstGeom prst="ellipse">
            <a:avLst/>
          </a:prstGeom>
          <a:solidFill>
            <a:srgbClr val="1B2A41"/>
          </a:solidFill>
          <a:ln w="12700">
            <a:solidFill>
              <a:srgbClr val="1B2A41"/>
            </a:solidFill>
            <a:prstDash val="solid"/>
          </a:ln>
        </p:spPr>
      </p:sp>
      <p:sp>
        <p:nvSpPr>
          <p:cNvPr id="33" name="Text 26"/>
          <p:cNvSpPr txBox="1"/>
          <p:nvPr/>
        </p:nvSpPr>
        <p:spPr>
          <a:xfrm>
            <a:off x="6848856" y="3730752"/>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34" name="Text 27"/>
          <p:cNvSpPr txBox="1"/>
          <p:nvPr/>
        </p:nvSpPr>
        <p:spPr>
          <a:xfrm>
            <a:off x="7150608" y="3675888"/>
            <a:ext cx="1417320" cy="338328"/>
          </a:xfrm>
          <a:prstGeom prst="rect">
            <a:avLst/>
          </a:prstGeom>
          <a:noFill/>
          <a:ln/>
        </p:spPr>
        <p:txBody>
          <a:bodyPr wrap="square" lIns="0" tIns="0" rIns="0" bIns="0" rtlCol="0" anchor="ctr"/>
          <a:lstStyle/>
          <a:p>
            <a:pPr indent="0" marL="0">
              <a:buNone/>
            </a:pPr>
            <a:r>
              <a:rPr lang="en-US" sz="1050" dirty="0">
                <a:solidFill>
                  <a:srgbClr val="1B2A41"/>
                </a:solidFill>
              </a:rPr>
              <a:t>Time &amp; location</a:t>
            </a:r>
            <a:endParaRPr lang="en-US" sz="1050" dirty="0"/>
          </a:p>
        </p:txBody>
      </p:sp>
      <p:sp>
        <p:nvSpPr>
          <p:cNvPr id="35" name="Shape 28"/>
          <p:cNvSpPr/>
          <p:nvPr/>
        </p:nvSpPr>
        <p:spPr>
          <a:xfrm>
            <a:off x="4846320" y="4105656"/>
            <a:ext cx="1828800" cy="338328"/>
          </a:xfrm>
          <a:prstGeom prst="roundRect">
            <a:avLst>
              <a:gd name="adj" fmla="val 21622"/>
            </a:avLst>
          </a:prstGeom>
          <a:solidFill>
            <a:srgbClr val="FFFFFF"/>
          </a:solidFill>
          <a:ln w="12700">
            <a:solidFill>
              <a:srgbClr val="8FA3B8"/>
            </a:solidFill>
            <a:prstDash val="solid"/>
          </a:ln>
        </p:spPr>
      </p:sp>
      <p:sp>
        <p:nvSpPr>
          <p:cNvPr id="36" name="Shape 29"/>
          <p:cNvSpPr/>
          <p:nvPr/>
        </p:nvSpPr>
        <p:spPr>
          <a:xfrm>
            <a:off x="4910328" y="4160520"/>
            <a:ext cx="228600" cy="228600"/>
          </a:xfrm>
          <a:prstGeom prst="ellipse">
            <a:avLst/>
          </a:prstGeom>
          <a:solidFill>
            <a:srgbClr val="1B2A41"/>
          </a:solidFill>
          <a:ln w="12700">
            <a:solidFill>
              <a:srgbClr val="1B2A41"/>
            </a:solidFill>
            <a:prstDash val="solid"/>
          </a:ln>
        </p:spPr>
      </p:sp>
      <p:sp>
        <p:nvSpPr>
          <p:cNvPr id="37" name="Text 30"/>
          <p:cNvSpPr txBox="1"/>
          <p:nvPr/>
        </p:nvSpPr>
        <p:spPr>
          <a:xfrm>
            <a:off x="4910328" y="4160520"/>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38" name="Text 31"/>
          <p:cNvSpPr txBox="1"/>
          <p:nvPr/>
        </p:nvSpPr>
        <p:spPr>
          <a:xfrm>
            <a:off x="5212080" y="4105656"/>
            <a:ext cx="1417320" cy="338328"/>
          </a:xfrm>
          <a:prstGeom prst="rect">
            <a:avLst/>
          </a:prstGeom>
          <a:noFill/>
          <a:ln/>
        </p:spPr>
        <p:txBody>
          <a:bodyPr wrap="square" lIns="0" tIns="0" rIns="0" bIns="0" rtlCol="0" anchor="ctr"/>
          <a:lstStyle/>
          <a:p>
            <a:pPr indent="0" marL="0">
              <a:buNone/>
            </a:pPr>
            <a:r>
              <a:rPr lang="en-US" sz="1050" dirty="0">
                <a:solidFill>
                  <a:srgbClr val="1B2A41"/>
                </a:solidFill>
              </a:rPr>
              <a:t>Synthetic vs real</a:t>
            </a:r>
            <a:endParaRPr lang="en-US" sz="1050" dirty="0"/>
          </a:p>
        </p:txBody>
      </p:sp>
      <p:sp>
        <p:nvSpPr>
          <p:cNvPr id="39" name="Shape 32"/>
          <p:cNvSpPr/>
          <p:nvPr/>
        </p:nvSpPr>
        <p:spPr>
          <a:xfrm>
            <a:off x="6784848" y="4105656"/>
            <a:ext cx="1828800" cy="338328"/>
          </a:xfrm>
          <a:prstGeom prst="roundRect">
            <a:avLst>
              <a:gd name="adj" fmla="val 21622"/>
            </a:avLst>
          </a:prstGeom>
          <a:solidFill>
            <a:srgbClr val="FFFFFF"/>
          </a:solidFill>
          <a:ln w="12700">
            <a:solidFill>
              <a:srgbClr val="8FA3B8"/>
            </a:solidFill>
            <a:prstDash val="solid"/>
          </a:ln>
        </p:spPr>
      </p:sp>
      <p:sp>
        <p:nvSpPr>
          <p:cNvPr id="40" name="Shape 33"/>
          <p:cNvSpPr/>
          <p:nvPr/>
        </p:nvSpPr>
        <p:spPr>
          <a:xfrm>
            <a:off x="6848856" y="4160520"/>
            <a:ext cx="228600" cy="228600"/>
          </a:xfrm>
          <a:prstGeom prst="ellipse">
            <a:avLst/>
          </a:prstGeom>
          <a:solidFill>
            <a:srgbClr val="1B2A41"/>
          </a:solidFill>
          <a:ln w="12700">
            <a:solidFill>
              <a:srgbClr val="1B2A41"/>
            </a:solidFill>
            <a:prstDash val="solid"/>
          </a:ln>
        </p:spPr>
      </p:sp>
      <p:sp>
        <p:nvSpPr>
          <p:cNvPr id="41" name="Text 34"/>
          <p:cNvSpPr txBox="1"/>
          <p:nvPr/>
        </p:nvSpPr>
        <p:spPr>
          <a:xfrm>
            <a:off x="6848856" y="4160520"/>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rPr>
              <a:t>6</a:t>
            </a:r>
            <a:endParaRPr lang="en-US" sz="900" dirty="0"/>
          </a:p>
        </p:txBody>
      </p:sp>
      <p:sp>
        <p:nvSpPr>
          <p:cNvPr id="42" name="Text 35"/>
          <p:cNvSpPr txBox="1"/>
          <p:nvPr/>
        </p:nvSpPr>
        <p:spPr>
          <a:xfrm>
            <a:off x="7150608" y="4105656"/>
            <a:ext cx="1417320" cy="338328"/>
          </a:xfrm>
          <a:prstGeom prst="rect">
            <a:avLst/>
          </a:prstGeom>
          <a:noFill/>
          <a:ln/>
        </p:spPr>
        <p:txBody>
          <a:bodyPr wrap="square" lIns="0" tIns="0" rIns="0" bIns="0" rtlCol="0" anchor="ctr"/>
          <a:lstStyle/>
          <a:p>
            <a:pPr indent="0" marL="0">
              <a:buNone/>
            </a:pPr>
            <a:r>
              <a:rPr lang="en-US" sz="1050" dirty="0">
                <a:solidFill>
                  <a:srgbClr val="1B2A41"/>
                </a:solidFill>
              </a:rPr>
              <a:t>Frozen test set</a:t>
            </a:r>
            <a:endParaRPr lang="en-US" sz="10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0040"/>
            <a:ext cx="457200" cy="457200"/>
          </a:xfrm>
          <a:prstGeom prst="ellipse">
            <a:avLst/>
          </a:prstGeom>
          <a:solidFill>
            <a:srgbClr val="F2A900"/>
          </a:solidFill>
          <a:ln w="12700">
            <a:solidFill>
              <a:srgbClr val="F2A900"/>
            </a:solidFill>
            <a:prstDash val="solid"/>
          </a:ln>
        </p:spPr>
      </p:sp>
      <p:pic>
        <p:nvPicPr>
          <p:cNvPr id="3" name="Image 0" descr="preencoded.png">    </p:cNvPr>
          <p:cNvPicPr>
            <a:picLocks noChangeAspect="1"/>
          </p:cNvPicPr>
          <p:nvPr/>
        </p:nvPicPr>
        <p:blipFill>
          <a:blip r:embed="rId1"/>
          <a:stretch>
            <a:fillRect/>
          </a:stretch>
        </p:blipFill>
        <p:spPr>
          <a:xfrm>
            <a:off x="566928" y="429768"/>
            <a:ext cx="237744" cy="237744"/>
          </a:xfrm>
          <a:prstGeom prst="rect">
            <a:avLst/>
          </a:prstGeom>
        </p:spPr>
      </p:pic>
      <p:sp>
        <p:nvSpPr>
          <p:cNvPr id="4" name="Text 1"/>
          <p:cNvSpPr/>
          <p:nvPr>
            <p:ph idx="101" type="title" hasCustomPrompt="1"/>
          </p:nvPr>
        </p:nvSpPr>
        <p:spPr>
          <a:xfrm>
            <a:off x="1097280" y="292608"/>
            <a:ext cx="7589520" cy="548640"/>
          </a:xfrm>
          <a:prstGeom prst="rect">
            <a:avLst/>
          </a:prstGeom>
          <a:noFill/>
          <a:ln/>
        </p:spPr>
        <p:txBody>
          <a:bodyPr wrap="square" lIns="0" tIns="0" rIns="0" bIns="0" rtlCol="0" anchor="ctr"/>
          <a:lstStyle/>
          <a:p>
            <a:pPr algn="l" indent="0" marL="0">
              <a:buNone/>
            </a:pPr>
            <a:r>
              <a:rPr lang="en-US" sz="2600" b="1" dirty="0">
                <a:solidFill>
                  <a:schemeClr val="tx1"/>
                </a:solidFill>
              </a:rPr>
              <a:t>Work Plan — 14 Weeks</a:t>
            </a:r>
            <a:endParaRPr lang="en-US" sz="2600" dirty="0"/>
          </a:p>
        </p:txBody>
      </p:sp>
      <p:sp>
        <p:nvSpPr>
          <p:cNvPr id="5" name="Text 2"/>
          <p:cNvSpPr txBox="1"/>
          <p:nvPr/>
        </p:nvSpPr>
        <p:spPr>
          <a:xfrm>
            <a:off x="2743200" y="1005840"/>
            <a:ext cx="424543" cy="256032"/>
          </a:xfrm>
          <a:prstGeom prst="rect">
            <a:avLst/>
          </a:prstGeom>
          <a:noFill/>
          <a:ln/>
        </p:spPr>
        <p:txBody>
          <a:bodyPr wrap="square" lIns="0" tIns="0" rIns="0" bIns="0" rtlCol="0" anchor="ctr"/>
          <a:lstStyle/>
          <a:p>
            <a:pPr algn="ctr" indent="0" marL="0">
              <a:buNone/>
            </a:pPr>
            <a:r>
              <a:rPr lang="en-US" sz="900" b="1" dirty="0">
                <a:solidFill>
                  <a:srgbClr val="4A5B70"/>
                </a:solidFill>
              </a:rPr>
              <a:t>W1</a:t>
            </a:r>
            <a:endParaRPr lang="en-US" sz="900" dirty="0"/>
          </a:p>
        </p:txBody>
      </p:sp>
      <p:sp>
        <p:nvSpPr>
          <p:cNvPr id="6" name="Text 3"/>
          <p:cNvSpPr txBox="1"/>
          <p:nvPr/>
        </p:nvSpPr>
        <p:spPr>
          <a:xfrm>
            <a:off x="3167743" y="1005840"/>
            <a:ext cx="424543" cy="256032"/>
          </a:xfrm>
          <a:prstGeom prst="rect">
            <a:avLst/>
          </a:prstGeom>
          <a:noFill/>
          <a:ln/>
        </p:spPr>
        <p:txBody>
          <a:bodyPr wrap="square" lIns="0" tIns="0" rIns="0" bIns="0" rtlCol="0" anchor="ctr"/>
          <a:lstStyle/>
          <a:p>
            <a:pPr algn="ctr" indent="0" marL="0">
              <a:buNone/>
            </a:pPr>
            <a:r>
              <a:rPr lang="en-US" sz="900" b="1" dirty="0">
                <a:solidFill>
                  <a:srgbClr val="4A5B70"/>
                </a:solidFill>
              </a:rPr>
              <a:t>W2</a:t>
            </a:r>
            <a:endParaRPr lang="en-US" sz="900" dirty="0"/>
          </a:p>
        </p:txBody>
      </p:sp>
      <p:sp>
        <p:nvSpPr>
          <p:cNvPr id="7" name="Text 4"/>
          <p:cNvSpPr txBox="1"/>
          <p:nvPr/>
        </p:nvSpPr>
        <p:spPr>
          <a:xfrm>
            <a:off x="3592286" y="1005840"/>
            <a:ext cx="424543" cy="256032"/>
          </a:xfrm>
          <a:prstGeom prst="rect">
            <a:avLst/>
          </a:prstGeom>
          <a:noFill/>
          <a:ln/>
        </p:spPr>
        <p:txBody>
          <a:bodyPr wrap="square" lIns="0" tIns="0" rIns="0" bIns="0" rtlCol="0" anchor="ctr"/>
          <a:lstStyle/>
          <a:p>
            <a:pPr algn="ctr" indent="0" marL="0">
              <a:buNone/>
            </a:pPr>
            <a:r>
              <a:rPr lang="en-US" sz="900" b="1" dirty="0">
                <a:solidFill>
                  <a:srgbClr val="4A5B70"/>
                </a:solidFill>
              </a:rPr>
              <a:t>W3</a:t>
            </a:r>
            <a:endParaRPr lang="en-US" sz="900" dirty="0"/>
          </a:p>
        </p:txBody>
      </p:sp>
      <p:sp>
        <p:nvSpPr>
          <p:cNvPr id="8" name="Text 5"/>
          <p:cNvSpPr txBox="1"/>
          <p:nvPr/>
        </p:nvSpPr>
        <p:spPr>
          <a:xfrm>
            <a:off x="4016829" y="1005840"/>
            <a:ext cx="424543" cy="256032"/>
          </a:xfrm>
          <a:prstGeom prst="rect">
            <a:avLst/>
          </a:prstGeom>
          <a:noFill/>
          <a:ln/>
        </p:spPr>
        <p:txBody>
          <a:bodyPr wrap="square" lIns="0" tIns="0" rIns="0" bIns="0" rtlCol="0" anchor="ctr"/>
          <a:lstStyle/>
          <a:p>
            <a:pPr algn="ctr" indent="0" marL="0">
              <a:buNone/>
            </a:pPr>
            <a:r>
              <a:rPr lang="en-US" sz="900" b="1" dirty="0">
                <a:solidFill>
                  <a:srgbClr val="4A5B70"/>
                </a:solidFill>
              </a:rPr>
              <a:t>W4</a:t>
            </a:r>
            <a:endParaRPr lang="en-US" sz="900" dirty="0"/>
          </a:p>
        </p:txBody>
      </p:sp>
      <p:sp>
        <p:nvSpPr>
          <p:cNvPr id="9" name="Text 6"/>
          <p:cNvSpPr txBox="1"/>
          <p:nvPr/>
        </p:nvSpPr>
        <p:spPr>
          <a:xfrm>
            <a:off x="4441371" y="1005840"/>
            <a:ext cx="424543" cy="256032"/>
          </a:xfrm>
          <a:prstGeom prst="rect">
            <a:avLst/>
          </a:prstGeom>
          <a:noFill/>
          <a:ln/>
        </p:spPr>
        <p:txBody>
          <a:bodyPr wrap="square" lIns="0" tIns="0" rIns="0" bIns="0" rtlCol="0" anchor="ctr"/>
          <a:lstStyle/>
          <a:p>
            <a:pPr algn="ctr" indent="0" marL="0">
              <a:buNone/>
            </a:pPr>
            <a:r>
              <a:rPr lang="en-US" sz="900" b="1" dirty="0">
                <a:solidFill>
                  <a:srgbClr val="4A5B70"/>
                </a:solidFill>
              </a:rPr>
              <a:t>W5</a:t>
            </a:r>
            <a:endParaRPr lang="en-US" sz="900" dirty="0"/>
          </a:p>
        </p:txBody>
      </p:sp>
      <p:sp>
        <p:nvSpPr>
          <p:cNvPr id="10" name="Text 7"/>
          <p:cNvSpPr txBox="1"/>
          <p:nvPr/>
        </p:nvSpPr>
        <p:spPr>
          <a:xfrm>
            <a:off x="4865914" y="1005840"/>
            <a:ext cx="424543" cy="256032"/>
          </a:xfrm>
          <a:prstGeom prst="rect">
            <a:avLst/>
          </a:prstGeom>
          <a:noFill/>
          <a:ln/>
        </p:spPr>
        <p:txBody>
          <a:bodyPr wrap="square" lIns="0" tIns="0" rIns="0" bIns="0" rtlCol="0" anchor="ctr"/>
          <a:lstStyle/>
          <a:p>
            <a:pPr algn="ctr" indent="0" marL="0">
              <a:buNone/>
            </a:pPr>
            <a:r>
              <a:rPr lang="en-US" sz="900" b="1" dirty="0">
                <a:solidFill>
                  <a:srgbClr val="4A5B70"/>
                </a:solidFill>
              </a:rPr>
              <a:t>W6</a:t>
            </a:r>
            <a:endParaRPr lang="en-US" sz="900" dirty="0"/>
          </a:p>
        </p:txBody>
      </p:sp>
      <p:sp>
        <p:nvSpPr>
          <p:cNvPr id="11" name="Text 8"/>
          <p:cNvSpPr txBox="1"/>
          <p:nvPr/>
        </p:nvSpPr>
        <p:spPr>
          <a:xfrm>
            <a:off x="5290457" y="1005840"/>
            <a:ext cx="424543" cy="256032"/>
          </a:xfrm>
          <a:prstGeom prst="rect">
            <a:avLst/>
          </a:prstGeom>
          <a:noFill/>
          <a:ln/>
        </p:spPr>
        <p:txBody>
          <a:bodyPr wrap="square" lIns="0" tIns="0" rIns="0" bIns="0" rtlCol="0" anchor="ctr"/>
          <a:lstStyle/>
          <a:p>
            <a:pPr algn="ctr" indent="0" marL="0">
              <a:buNone/>
            </a:pPr>
            <a:r>
              <a:rPr lang="en-US" sz="900" b="1" dirty="0">
                <a:solidFill>
                  <a:srgbClr val="4A5B70"/>
                </a:solidFill>
              </a:rPr>
              <a:t>W7</a:t>
            </a:r>
            <a:endParaRPr lang="en-US" sz="900" dirty="0"/>
          </a:p>
        </p:txBody>
      </p:sp>
      <p:sp>
        <p:nvSpPr>
          <p:cNvPr id="12" name="Text 9"/>
          <p:cNvSpPr txBox="1"/>
          <p:nvPr/>
        </p:nvSpPr>
        <p:spPr>
          <a:xfrm>
            <a:off x="5715000" y="1005840"/>
            <a:ext cx="424543" cy="256032"/>
          </a:xfrm>
          <a:prstGeom prst="rect">
            <a:avLst/>
          </a:prstGeom>
          <a:noFill/>
          <a:ln/>
        </p:spPr>
        <p:txBody>
          <a:bodyPr wrap="square" lIns="0" tIns="0" rIns="0" bIns="0" rtlCol="0" anchor="ctr"/>
          <a:lstStyle/>
          <a:p>
            <a:pPr algn="ctr" indent="0" marL="0">
              <a:buNone/>
            </a:pPr>
            <a:r>
              <a:rPr lang="en-US" sz="900" b="1" dirty="0">
                <a:solidFill>
                  <a:srgbClr val="4A5B70"/>
                </a:solidFill>
              </a:rPr>
              <a:t>W8</a:t>
            </a:r>
            <a:endParaRPr lang="en-US" sz="900" dirty="0"/>
          </a:p>
        </p:txBody>
      </p:sp>
      <p:sp>
        <p:nvSpPr>
          <p:cNvPr id="13" name="Text 10"/>
          <p:cNvSpPr txBox="1"/>
          <p:nvPr/>
        </p:nvSpPr>
        <p:spPr>
          <a:xfrm>
            <a:off x="6139543" y="1005840"/>
            <a:ext cx="424543" cy="256032"/>
          </a:xfrm>
          <a:prstGeom prst="rect">
            <a:avLst/>
          </a:prstGeom>
          <a:noFill/>
          <a:ln/>
        </p:spPr>
        <p:txBody>
          <a:bodyPr wrap="square" lIns="0" tIns="0" rIns="0" bIns="0" rtlCol="0" anchor="ctr"/>
          <a:lstStyle/>
          <a:p>
            <a:pPr algn="ctr" indent="0" marL="0">
              <a:buNone/>
            </a:pPr>
            <a:r>
              <a:rPr lang="en-US" sz="900" b="1" dirty="0">
                <a:solidFill>
                  <a:srgbClr val="4A5B70"/>
                </a:solidFill>
              </a:rPr>
              <a:t>W9</a:t>
            </a:r>
            <a:endParaRPr lang="en-US" sz="900" dirty="0"/>
          </a:p>
        </p:txBody>
      </p:sp>
      <p:sp>
        <p:nvSpPr>
          <p:cNvPr id="14" name="Text 11"/>
          <p:cNvSpPr txBox="1"/>
          <p:nvPr/>
        </p:nvSpPr>
        <p:spPr>
          <a:xfrm>
            <a:off x="6564086" y="1005840"/>
            <a:ext cx="424543" cy="256032"/>
          </a:xfrm>
          <a:prstGeom prst="rect">
            <a:avLst/>
          </a:prstGeom>
          <a:noFill/>
          <a:ln/>
        </p:spPr>
        <p:txBody>
          <a:bodyPr wrap="square" lIns="0" tIns="0" rIns="0" bIns="0" rtlCol="0" anchor="ctr"/>
          <a:lstStyle/>
          <a:p>
            <a:pPr algn="ctr" indent="0" marL="0">
              <a:buNone/>
            </a:pPr>
            <a:r>
              <a:rPr lang="en-US" sz="900" b="1" dirty="0">
                <a:solidFill>
                  <a:srgbClr val="4A5B70"/>
                </a:solidFill>
              </a:rPr>
              <a:t>W10</a:t>
            </a:r>
            <a:endParaRPr lang="en-US" sz="900" dirty="0"/>
          </a:p>
        </p:txBody>
      </p:sp>
      <p:sp>
        <p:nvSpPr>
          <p:cNvPr id="15" name="Text 12"/>
          <p:cNvSpPr txBox="1"/>
          <p:nvPr/>
        </p:nvSpPr>
        <p:spPr>
          <a:xfrm>
            <a:off x="6988629" y="1005840"/>
            <a:ext cx="424543" cy="256032"/>
          </a:xfrm>
          <a:prstGeom prst="rect">
            <a:avLst/>
          </a:prstGeom>
          <a:noFill/>
          <a:ln/>
        </p:spPr>
        <p:txBody>
          <a:bodyPr wrap="square" lIns="0" tIns="0" rIns="0" bIns="0" rtlCol="0" anchor="ctr"/>
          <a:lstStyle/>
          <a:p>
            <a:pPr algn="ctr" indent="0" marL="0">
              <a:buNone/>
            </a:pPr>
            <a:r>
              <a:rPr lang="en-US" sz="900" b="1" dirty="0">
                <a:solidFill>
                  <a:srgbClr val="4A5B70"/>
                </a:solidFill>
              </a:rPr>
              <a:t>W11</a:t>
            </a:r>
            <a:endParaRPr lang="en-US" sz="900" dirty="0"/>
          </a:p>
        </p:txBody>
      </p:sp>
      <p:sp>
        <p:nvSpPr>
          <p:cNvPr id="16" name="Text 13"/>
          <p:cNvSpPr txBox="1"/>
          <p:nvPr/>
        </p:nvSpPr>
        <p:spPr>
          <a:xfrm>
            <a:off x="7413171" y="1005840"/>
            <a:ext cx="424543" cy="256032"/>
          </a:xfrm>
          <a:prstGeom prst="rect">
            <a:avLst/>
          </a:prstGeom>
          <a:noFill/>
          <a:ln/>
        </p:spPr>
        <p:txBody>
          <a:bodyPr wrap="square" lIns="0" tIns="0" rIns="0" bIns="0" rtlCol="0" anchor="ctr"/>
          <a:lstStyle/>
          <a:p>
            <a:pPr algn="ctr" indent="0" marL="0">
              <a:buNone/>
            </a:pPr>
            <a:r>
              <a:rPr lang="en-US" sz="900" b="1" dirty="0">
                <a:solidFill>
                  <a:srgbClr val="4A5B70"/>
                </a:solidFill>
              </a:rPr>
              <a:t>W12</a:t>
            </a:r>
            <a:endParaRPr lang="en-US" sz="900" dirty="0"/>
          </a:p>
        </p:txBody>
      </p:sp>
      <p:sp>
        <p:nvSpPr>
          <p:cNvPr id="17" name="Text 14"/>
          <p:cNvSpPr txBox="1"/>
          <p:nvPr/>
        </p:nvSpPr>
        <p:spPr>
          <a:xfrm>
            <a:off x="7837714" y="1005840"/>
            <a:ext cx="424543" cy="256032"/>
          </a:xfrm>
          <a:prstGeom prst="rect">
            <a:avLst/>
          </a:prstGeom>
          <a:noFill/>
          <a:ln/>
        </p:spPr>
        <p:txBody>
          <a:bodyPr wrap="square" lIns="0" tIns="0" rIns="0" bIns="0" rtlCol="0" anchor="ctr"/>
          <a:lstStyle/>
          <a:p>
            <a:pPr algn="ctr" indent="0" marL="0">
              <a:buNone/>
            </a:pPr>
            <a:r>
              <a:rPr lang="en-US" sz="900" b="1" dirty="0">
                <a:solidFill>
                  <a:srgbClr val="4A5B70"/>
                </a:solidFill>
              </a:rPr>
              <a:t>W13</a:t>
            </a:r>
            <a:endParaRPr lang="en-US" sz="900" dirty="0"/>
          </a:p>
        </p:txBody>
      </p:sp>
      <p:sp>
        <p:nvSpPr>
          <p:cNvPr id="18" name="Text 15"/>
          <p:cNvSpPr txBox="1"/>
          <p:nvPr/>
        </p:nvSpPr>
        <p:spPr>
          <a:xfrm>
            <a:off x="8262257" y="1005840"/>
            <a:ext cx="424543" cy="256032"/>
          </a:xfrm>
          <a:prstGeom prst="rect">
            <a:avLst/>
          </a:prstGeom>
          <a:noFill/>
          <a:ln/>
        </p:spPr>
        <p:txBody>
          <a:bodyPr wrap="square" lIns="0" tIns="0" rIns="0" bIns="0" rtlCol="0" anchor="ctr"/>
          <a:lstStyle/>
          <a:p>
            <a:pPr algn="ctr" indent="0" marL="0">
              <a:buNone/>
            </a:pPr>
            <a:r>
              <a:rPr lang="en-US" sz="900" b="1" dirty="0">
                <a:solidFill>
                  <a:srgbClr val="4A5B70"/>
                </a:solidFill>
              </a:rPr>
              <a:t>W14</a:t>
            </a:r>
            <a:endParaRPr lang="en-US" sz="900" dirty="0"/>
          </a:p>
        </p:txBody>
      </p:sp>
      <p:sp>
        <p:nvSpPr>
          <p:cNvPr id="19" name="Shape 16"/>
          <p:cNvSpPr/>
          <p:nvPr/>
        </p:nvSpPr>
        <p:spPr>
          <a:xfrm>
            <a:off x="457200" y="1325880"/>
            <a:ext cx="8229600" cy="329184"/>
          </a:xfrm>
          <a:prstGeom prst="rect">
            <a:avLst/>
          </a:prstGeom>
          <a:solidFill>
            <a:srgbClr val="F2F5F9"/>
          </a:solidFill>
          <a:ln w="12700">
            <a:solidFill>
              <a:srgbClr val="F2F5F9"/>
            </a:solidFill>
            <a:prstDash val="solid"/>
          </a:ln>
        </p:spPr>
      </p:sp>
      <p:sp>
        <p:nvSpPr>
          <p:cNvPr id="20" name="Text 17"/>
          <p:cNvSpPr txBox="1"/>
          <p:nvPr/>
        </p:nvSpPr>
        <p:spPr>
          <a:xfrm>
            <a:off x="548640" y="1325880"/>
            <a:ext cx="2148840" cy="329184"/>
          </a:xfrm>
          <a:prstGeom prst="rect">
            <a:avLst/>
          </a:prstGeom>
          <a:noFill/>
          <a:ln/>
        </p:spPr>
        <p:txBody>
          <a:bodyPr wrap="square" lIns="0" tIns="0" rIns="0" bIns="0" rtlCol="0" anchor="ctr"/>
          <a:lstStyle/>
          <a:p>
            <a:pPr indent="0" marL="0">
              <a:buNone/>
            </a:pPr>
            <a:r>
              <a:rPr lang="en-US" sz="1100" b="1" dirty="0">
                <a:solidFill>
                  <a:srgbClr val="1B2A41"/>
                </a:solidFill>
              </a:rPr>
              <a:t>Setup &amp; data audit</a:t>
            </a:r>
            <a:endParaRPr lang="en-US" sz="1100" dirty="0"/>
          </a:p>
        </p:txBody>
      </p:sp>
      <p:sp>
        <p:nvSpPr>
          <p:cNvPr id="21" name="Shape 18"/>
          <p:cNvSpPr/>
          <p:nvPr/>
        </p:nvSpPr>
        <p:spPr>
          <a:xfrm>
            <a:off x="2779776" y="1399032"/>
            <a:ext cx="775934" cy="182880"/>
          </a:xfrm>
          <a:prstGeom prst="roundRect">
            <a:avLst>
              <a:gd name="adj" fmla="val 50000"/>
            </a:avLst>
          </a:prstGeom>
          <a:solidFill>
            <a:srgbClr val="2A9D8F"/>
          </a:solidFill>
          <a:ln w="12700">
            <a:solidFill>
              <a:srgbClr val="2A9D8F"/>
            </a:solidFill>
            <a:prstDash val="solid"/>
          </a:ln>
        </p:spPr>
      </p:sp>
      <p:sp>
        <p:nvSpPr>
          <p:cNvPr id="22" name="Text 19"/>
          <p:cNvSpPr txBox="1"/>
          <p:nvPr/>
        </p:nvSpPr>
        <p:spPr>
          <a:xfrm>
            <a:off x="548640" y="1655064"/>
            <a:ext cx="2148840" cy="329184"/>
          </a:xfrm>
          <a:prstGeom prst="rect">
            <a:avLst/>
          </a:prstGeom>
          <a:noFill/>
          <a:ln/>
        </p:spPr>
        <p:txBody>
          <a:bodyPr wrap="square" lIns="0" tIns="0" rIns="0" bIns="0" rtlCol="0" anchor="ctr"/>
          <a:lstStyle/>
          <a:p>
            <a:pPr indent="0" marL="0">
              <a:buNone/>
            </a:pPr>
            <a:r>
              <a:rPr lang="en-US" sz="1100" dirty="0">
                <a:solidFill>
                  <a:srgbClr val="1B2A41"/>
                </a:solidFill>
              </a:rPr>
              <a:t>Video classifier + ablations</a:t>
            </a:r>
            <a:endParaRPr lang="en-US" sz="1100" dirty="0"/>
          </a:p>
        </p:txBody>
      </p:sp>
      <p:sp>
        <p:nvSpPr>
          <p:cNvPr id="23" name="Shape 20"/>
          <p:cNvSpPr/>
          <p:nvPr/>
        </p:nvSpPr>
        <p:spPr>
          <a:xfrm>
            <a:off x="3628862" y="1728216"/>
            <a:ext cx="775934" cy="182880"/>
          </a:xfrm>
          <a:prstGeom prst="roundRect">
            <a:avLst>
              <a:gd name="adj" fmla="val 50000"/>
            </a:avLst>
          </a:prstGeom>
          <a:solidFill>
            <a:srgbClr val="1B2A41"/>
          </a:solidFill>
          <a:ln w="12700">
            <a:solidFill>
              <a:srgbClr val="1B2A41"/>
            </a:solidFill>
            <a:prstDash val="solid"/>
          </a:ln>
        </p:spPr>
      </p:sp>
      <p:sp>
        <p:nvSpPr>
          <p:cNvPr id="24" name="Shape 21"/>
          <p:cNvSpPr/>
          <p:nvPr/>
        </p:nvSpPr>
        <p:spPr>
          <a:xfrm>
            <a:off x="4459659" y="1728216"/>
            <a:ext cx="182880" cy="182880"/>
          </a:xfrm>
          <a:prstGeom prst="diamond">
            <a:avLst/>
          </a:prstGeom>
          <a:solidFill>
            <a:srgbClr val="F2A900"/>
          </a:solidFill>
          <a:ln w="12700">
            <a:solidFill>
              <a:srgbClr val="F2A900"/>
            </a:solidFill>
            <a:prstDash val="solid"/>
          </a:ln>
        </p:spPr>
      </p:sp>
      <p:sp>
        <p:nvSpPr>
          <p:cNvPr id="25" name="Text 22"/>
          <p:cNvSpPr txBox="1"/>
          <p:nvPr/>
        </p:nvSpPr>
        <p:spPr>
          <a:xfrm>
            <a:off x="4660827" y="1655064"/>
            <a:ext cx="411480" cy="329184"/>
          </a:xfrm>
          <a:prstGeom prst="rect">
            <a:avLst/>
          </a:prstGeom>
          <a:noFill/>
          <a:ln/>
        </p:spPr>
        <p:txBody>
          <a:bodyPr wrap="square" lIns="0" tIns="0" rIns="0" bIns="0" rtlCol="0" anchor="ctr"/>
          <a:lstStyle/>
          <a:p>
            <a:pPr indent="0" marL="0">
              <a:buNone/>
            </a:pPr>
            <a:r>
              <a:rPr lang="en-US" sz="900" b="1" dirty="0">
                <a:solidFill>
                  <a:srgbClr val="B07A00"/>
                </a:solidFill>
              </a:rPr>
              <a:t>CP1</a:t>
            </a:r>
            <a:endParaRPr lang="en-US" sz="900" dirty="0"/>
          </a:p>
        </p:txBody>
      </p:sp>
      <p:sp>
        <p:nvSpPr>
          <p:cNvPr id="26" name="Shape 23"/>
          <p:cNvSpPr/>
          <p:nvPr/>
        </p:nvSpPr>
        <p:spPr>
          <a:xfrm>
            <a:off x="457200" y="1984248"/>
            <a:ext cx="8229600" cy="329184"/>
          </a:xfrm>
          <a:prstGeom prst="rect">
            <a:avLst/>
          </a:prstGeom>
          <a:solidFill>
            <a:srgbClr val="F2F5F9"/>
          </a:solidFill>
          <a:ln w="12700">
            <a:solidFill>
              <a:srgbClr val="F2F5F9"/>
            </a:solidFill>
            <a:prstDash val="solid"/>
          </a:ln>
        </p:spPr>
      </p:sp>
      <p:sp>
        <p:nvSpPr>
          <p:cNvPr id="27" name="Text 24"/>
          <p:cNvSpPr txBox="1"/>
          <p:nvPr/>
        </p:nvSpPr>
        <p:spPr>
          <a:xfrm>
            <a:off x="548640" y="1984248"/>
            <a:ext cx="2148840" cy="329184"/>
          </a:xfrm>
          <a:prstGeom prst="rect">
            <a:avLst/>
          </a:prstGeom>
          <a:noFill/>
          <a:ln/>
        </p:spPr>
        <p:txBody>
          <a:bodyPr wrap="square" lIns="0" tIns="0" rIns="0" bIns="0" rtlCol="0" anchor="ctr"/>
          <a:lstStyle/>
          <a:p>
            <a:pPr indent="0" marL="0">
              <a:buNone/>
            </a:pPr>
            <a:r>
              <a:rPr lang="en-US" sz="1100" dirty="0">
                <a:solidFill>
                  <a:srgbClr val="1B2A41"/>
                </a:solidFill>
              </a:rPr>
              <a:t>Zero-shot VLM pipeline</a:t>
            </a:r>
            <a:endParaRPr lang="en-US" sz="1100" dirty="0"/>
          </a:p>
        </p:txBody>
      </p:sp>
      <p:sp>
        <p:nvSpPr>
          <p:cNvPr id="28" name="Shape 25"/>
          <p:cNvSpPr/>
          <p:nvPr/>
        </p:nvSpPr>
        <p:spPr>
          <a:xfrm>
            <a:off x="4477947" y="2057400"/>
            <a:ext cx="775934" cy="182880"/>
          </a:xfrm>
          <a:prstGeom prst="roundRect">
            <a:avLst>
              <a:gd name="adj" fmla="val 50000"/>
            </a:avLst>
          </a:prstGeom>
          <a:solidFill>
            <a:srgbClr val="1B2A41"/>
          </a:solidFill>
          <a:ln w="12700">
            <a:solidFill>
              <a:srgbClr val="1B2A41"/>
            </a:solidFill>
            <a:prstDash val="solid"/>
          </a:ln>
        </p:spPr>
      </p:sp>
      <p:sp>
        <p:nvSpPr>
          <p:cNvPr id="29" name="Text 26"/>
          <p:cNvSpPr txBox="1"/>
          <p:nvPr/>
        </p:nvSpPr>
        <p:spPr>
          <a:xfrm>
            <a:off x="548640" y="2313432"/>
            <a:ext cx="2148840" cy="329184"/>
          </a:xfrm>
          <a:prstGeom prst="rect">
            <a:avLst/>
          </a:prstGeom>
          <a:noFill/>
          <a:ln/>
        </p:spPr>
        <p:txBody>
          <a:bodyPr wrap="square" lIns="0" tIns="0" rIns="0" bIns="0" rtlCol="0" anchor="ctr"/>
          <a:lstStyle/>
          <a:p>
            <a:pPr indent="0" marL="0">
              <a:buNone/>
            </a:pPr>
            <a:r>
              <a:rPr lang="en-US" sz="1100" dirty="0">
                <a:solidFill>
                  <a:srgbClr val="1B2A41"/>
                </a:solidFill>
              </a:rPr>
              <a:t>Cascade + threshold sweep</a:t>
            </a:r>
            <a:endParaRPr lang="en-US" sz="1100" dirty="0"/>
          </a:p>
        </p:txBody>
      </p:sp>
      <p:sp>
        <p:nvSpPr>
          <p:cNvPr id="30" name="Shape 27"/>
          <p:cNvSpPr/>
          <p:nvPr/>
        </p:nvSpPr>
        <p:spPr>
          <a:xfrm>
            <a:off x="5327033" y="2386584"/>
            <a:ext cx="351391" cy="182880"/>
          </a:xfrm>
          <a:prstGeom prst="roundRect">
            <a:avLst>
              <a:gd name="adj" fmla="val 50000"/>
            </a:avLst>
          </a:prstGeom>
          <a:solidFill>
            <a:srgbClr val="1B2A41"/>
          </a:solidFill>
          <a:ln w="12700">
            <a:solidFill>
              <a:srgbClr val="1B2A41"/>
            </a:solidFill>
            <a:prstDash val="solid"/>
          </a:ln>
        </p:spPr>
      </p:sp>
      <p:sp>
        <p:nvSpPr>
          <p:cNvPr id="31" name="Shape 28"/>
          <p:cNvSpPr/>
          <p:nvPr/>
        </p:nvSpPr>
        <p:spPr>
          <a:xfrm>
            <a:off x="5733288" y="2386584"/>
            <a:ext cx="182880" cy="182880"/>
          </a:xfrm>
          <a:prstGeom prst="diamond">
            <a:avLst/>
          </a:prstGeom>
          <a:solidFill>
            <a:srgbClr val="F2A900"/>
          </a:solidFill>
          <a:ln w="12700">
            <a:solidFill>
              <a:srgbClr val="F2A900"/>
            </a:solidFill>
            <a:prstDash val="solid"/>
          </a:ln>
        </p:spPr>
      </p:sp>
      <p:sp>
        <p:nvSpPr>
          <p:cNvPr id="32" name="Text 29"/>
          <p:cNvSpPr txBox="1"/>
          <p:nvPr/>
        </p:nvSpPr>
        <p:spPr>
          <a:xfrm>
            <a:off x="5934456" y="2313432"/>
            <a:ext cx="411480" cy="329184"/>
          </a:xfrm>
          <a:prstGeom prst="rect">
            <a:avLst/>
          </a:prstGeom>
          <a:noFill/>
          <a:ln/>
        </p:spPr>
        <p:txBody>
          <a:bodyPr wrap="square" lIns="0" tIns="0" rIns="0" bIns="0" rtlCol="0" anchor="ctr"/>
          <a:lstStyle/>
          <a:p>
            <a:pPr indent="0" marL="0">
              <a:buNone/>
            </a:pPr>
            <a:r>
              <a:rPr lang="en-US" sz="900" b="1" dirty="0">
                <a:solidFill>
                  <a:srgbClr val="B07A00"/>
                </a:solidFill>
              </a:rPr>
              <a:t>CP2</a:t>
            </a:r>
            <a:endParaRPr lang="en-US" sz="900" dirty="0"/>
          </a:p>
        </p:txBody>
      </p:sp>
      <p:sp>
        <p:nvSpPr>
          <p:cNvPr id="33" name="Shape 30"/>
          <p:cNvSpPr/>
          <p:nvPr/>
        </p:nvSpPr>
        <p:spPr>
          <a:xfrm>
            <a:off x="457200" y="2642616"/>
            <a:ext cx="8229600" cy="329184"/>
          </a:xfrm>
          <a:prstGeom prst="rect">
            <a:avLst/>
          </a:prstGeom>
          <a:solidFill>
            <a:srgbClr val="F2F5F9"/>
          </a:solidFill>
          <a:ln w="12700">
            <a:solidFill>
              <a:srgbClr val="F2F5F9"/>
            </a:solidFill>
            <a:prstDash val="solid"/>
          </a:ln>
        </p:spPr>
      </p:sp>
      <p:sp>
        <p:nvSpPr>
          <p:cNvPr id="34" name="Text 31"/>
          <p:cNvSpPr txBox="1"/>
          <p:nvPr/>
        </p:nvSpPr>
        <p:spPr>
          <a:xfrm>
            <a:off x="548640" y="2642616"/>
            <a:ext cx="2148840" cy="329184"/>
          </a:xfrm>
          <a:prstGeom prst="rect">
            <a:avLst/>
          </a:prstGeom>
          <a:noFill/>
          <a:ln/>
        </p:spPr>
        <p:txBody>
          <a:bodyPr wrap="square" lIns="0" tIns="0" rIns="0" bIns="0" rtlCol="0" anchor="ctr"/>
          <a:lstStyle/>
          <a:p>
            <a:pPr indent="0" marL="0">
              <a:buNone/>
            </a:pPr>
            <a:r>
              <a:rPr lang="en-US" sz="1100" dirty="0">
                <a:solidFill>
                  <a:srgbClr val="1B2A41"/>
                </a:solidFill>
              </a:rPr>
              <a:t>QLoRA small VLM</a:t>
            </a:r>
            <a:endParaRPr lang="en-US" sz="1100" dirty="0"/>
          </a:p>
        </p:txBody>
      </p:sp>
      <p:sp>
        <p:nvSpPr>
          <p:cNvPr id="35" name="Shape 32"/>
          <p:cNvSpPr/>
          <p:nvPr/>
        </p:nvSpPr>
        <p:spPr>
          <a:xfrm>
            <a:off x="5751576" y="2715768"/>
            <a:ext cx="775934" cy="182880"/>
          </a:xfrm>
          <a:prstGeom prst="roundRect">
            <a:avLst>
              <a:gd name="adj" fmla="val 50000"/>
            </a:avLst>
          </a:prstGeom>
          <a:solidFill>
            <a:srgbClr val="1B2A41"/>
          </a:solidFill>
          <a:ln w="12700">
            <a:solidFill>
              <a:srgbClr val="1B2A41"/>
            </a:solidFill>
            <a:prstDash val="solid"/>
          </a:ln>
        </p:spPr>
      </p:sp>
      <p:sp>
        <p:nvSpPr>
          <p:cNvPr id="36" name="Shape 33"/>
          <p:cNvSpPr/>
          <p:nvPr/>
        </p:nvSpPr>
        <p:spPr>
          <a:xfrm>
            <a:off x="6582374" y="2715768"/>
            <a:ext cx="182880" cy="182880"/>
          </a:xfrm>
          <a:prstGeom prst="diamond">
            <a:avLst/>
          </a:prstGeom>
          <a:solidFill>
            <a:srgbClr val="F2A900"/>
          </a:solidFill>
          <a:ln w="12700">
            <a:solidFill>
              <a:srgbClr val="F2A900"/>
            </a:solidFill>
            <a:prstDash val="solid"/>
          </a:ln>
        </p:spPr>
      </p:sp>
      <p:sp>
        <p:nvSpPr>
          <p:cNvPr id="37" name="Text 34"/>
          <p:cNvSpPr txBox="1"/>
          <p:nvPr/>
        </p:nvSpPr>
        <p:spPr>
          <a:xfrm>
            <a:off x="6783542" y="2642616"/>
            <a:ext cx="411480" cy="329184"/>
          </a:xfrm>
          <a:prstGeom prst="rect">
            <a:avLst/>
          </a:prstGeom>
          <a:noFill/>
          <a:ln/>
        </p:spPr>
        <p:txBody>
          <a:bodyPr wrap="square" lIns="0" tIns="0" rIns="0" bIns="0" rtlCol="0" anchor="ctr"/>
          <a:lstStyle/>
          <a:p>
            <a:pPr indent="0" marL="0">
              <a:buNone/>
            </a:pPr>
            <a:r>
              <a:rPr lang="en-US" sz="900" b="1" dirty="0">
                <a:solidFill>
                  <a:srgbClr val="B07A00"/>
                </a:solidFill>
              </a:rPr>
              <a:t>CP3</a:t>
            </a:r>
            <a:endParaRPr lang="en-US" sz="900" dirty="0"/>
          </a:p>
        </p:txBody>
      </p:sp>
      <p:sp>
        <p:nvSpPr>
          <p:cNvPr id="38" name="Text 35"/>
          <p:cNvSpPr txBox="1"/>
          <p:nvPr/>
        </p:nvSpPr>
        <p:spPr>
          <a:xfrm>
            <a:off x="548640" y="2971800"/>
            <a:ext cx="2148840" cy="329184"/>
          </a:xfrm>
          <a:prstGeom prst="rect">
            <a:avLst/>
          </a:prstGeom>
          <a:noFill/>
          <a:ln/>
        </p:spPr>
        <p:txBody>
          <a:bodyPr wrap="square" lIns="0" tIns="0" rIns="0" bIns="0" rtlCol="0" anchor="ctr"/>
          <a:lstStyle/>
          <a:p>
            <a:pPr indent="0" marL="0">
              <a:buNone/>
            </a:pPr>
            <a:r>
              <a:rPr lang="en-US" sz="1100" dirty="0">
                <a:solidFill>
                  <a:srgbClr val="1B2A41"/>
                </a:solidFill>
              </a:rPr>
              <a:t>Backend + assistant</a:t>
            </a:r>
            <a:endParaRPr lang="en-US" sz="1100" dirty="0"/>
          </a:p>
        </p:txBody>
      </p:sp>
      <p:sp>
        <p:nvSpPr>
          <p:cNvPr id="39" name="Shape 36"/>
          <p:cNvSpPr/>
          <p:nvPr/>
        </p:nvSpPr>
        <p:spPr>
          <a:xfrm>
            <a:off x="6600662" y="3044952"/>
            <a:ext cx="775934" cy="182880"/>
          </a:xfrm>
          <a:prstGeom prst="roundRect">
            <a:avLst>
              <a:gd name="adj" fmla="val 50000"/>
            </a:avLst>
          </a:prstGeom>
          <a:solidFill>
            <a:srgbClr val="1B2A41"/>
          </a:solidFill>
          <a:ln w="12700">
            <a:solidFill>
              <a:srgbClr val="1B2A41"/>
            </a:solidFill>
            <a:prstDash val="solid"/>
          </a:ln>
        </p:spPr>
      </p:sp>
      <p:sp>
        <p:nvSpPr>
          <p:cNvPr id="40" name="Shape 37"/>
          <p:cNvSpPr/>
          <p:nvPr/>
        </p:nvSpPr>
        <p:spPr>
          <a:xfrm>
            <a:off x="457200" y="3300984"/>
            <a:ext cx="8229600" cy="329184"/>
          </a:xfrm>
          <a:prstGeom prst="rect">
            <a:avLst/>
          </a:prstGeom>
          <a:solidFill>
            <a:srgbClr val="F2F5F9"/>
          </a:solidFill>
          <a:ln w="12700">
            <a:solidFill>
              <a:srgbClr val="F2F5F9"/>
            </a:solidFill>
            <a:prstDash val="solid"/>
          </a:ln>
        </p:spPr>
      </p:sp>
      <p:sp>
        <p:nvSpPr>
          <p:cNvPr id="41" name="Text 38"/>
          <p:cNvSpPr txBox="1"/>
          <p:nvPr/>
        </p:nvSpPr>
        <p:spPr>
          <a:xfrm>
            <a:off x="548640" y="3300984"/>
            <a:ext cx="2148840" cy="329184"/>
          </a:xfrm>
          <a:prstGeom prst="rect">
            <a:avLst/>
          </a:prstGeom>
          <a:noFill/>
          <a:ln/>
        </p:spPr>
        <p:txBody>
          <a:bodyPr wrap="square" lIns="0" tIns="0" rIns="0" bIns="0" rtlCol="0" anchor="ctr"/>
          <a:lstStyle/>
          <a:p>
            <a:pPr indent="0" marL="0">
              <a:buNone/>
            </a:pPr>
            <a:r>
              <a:rPr lang="en-US" sz="1100" dirty="0">
                <a:solidFill>
                  <a:srgbClr val="1B2A41"/>
                </a:solidFill>
              </a:rPr>
              <a:t>RQ2 faithfulness evaluation</a:t>
            </a:r>
            <a:endParaRPr lang="en-US" sz="1100" dirty="0"/>
          </a:p>
        </p:txBody>
      </p:sp>
      <p:sp>
        <p:nvSpPr>
          <p:cNvPr id="42" name="Shape 39"/>
          <p:cNvSpPr/>
          <p:nvPr/>
        </p:nvSpPr>
        <p:spPr>
          <a:xfrm>
            <a:off x="7449747" y="3374136"/>
            <a:ext cx="351391" cy="182880"/>
          </a:xfrm>
          <a:prstGeom prst="roundRect">
            <a:avLst>
              <a:gd name="adj" fmla="val 50000"/>
            </a:avLst>
          </a:prstGeom>
          <a:solidFill>
            <a:srgbClr val="1B2A41"/>
          </a:solidFill>
          <a:ln w="12700">
            <a:solidFill>
              <a:srgbClr val="1B2A41"/>
            </a:solidFill>
            <a:prstDash val="solid"/>
          </a:ln>
        </p:spPr>
      </p:sp>
      <p:sp>
        <p:nvSpPr>
          <p:cNvPr id="43" name="Shape 40"/>
          <p:cNvSpPr/>
          <p:nvPr/>
        </p:nvSpPr>
        <p:spPr>
          <a:xfrm>
            <a:off x="7856002" y="3374136"/>
            <a:ext cx="182880" cy="182880"/>
          </a:xfrm>
          <a:prstGeom prst="diamond">
            <a:avLst/>
          </a:prstGeom>
          <a:solidFill>
            <a:srgbClr val="F2A900"/>
          </a:solidFill>
          <a:ln w="12700">
            <a:solidFill>
              <a:srgbClr val="F2A900"/>
            </a:solidFill>
            <a:prstDash val="solid"/>
          </a:ln>
        </p:spPr>
      </p:sp>
      <p:sp>
        <p:nvSpPr>
          <p:cNvPr id="44" name="Text 41"/>
          <p:cNvSpPr txBox="1"/>
          <p:nvPr/>
        </p:nvSpPr>
        <p:spPr>
          <a:xfrm>
            <a:off x="8057170" y="3300984"/>
            <a:ext cx="411480" cy="329184"/>
          </a:xfrm>
          <a:prstGeom prst="rect">
            <a:avLst/>
          </a:prstGeom>
          <a:noFill/>
          <a:ln/>
        </p:spPr>
        <p:txBody>
          <a:bodyPr wrap="square" lIns="0" tIns="0" rIns="0" bIns="0" rtlCol="0" anchor="ctr"/>
          <a:lstStyle/>
          <a:p>
            <a:pPr indent="0" marL="0">
              <a:buNone/>
            </a:pPr>
            <a:r>
              <a:rPr lang="en-US" sz="900" b="1" dirty="0">
                <a:solidFill>
                  <a:srgbClr val="B07A00"/>
                </a:solidFill>
              </a:rPr>
              <a:t>CP4</a:t>
            </a:r>
            <a:endParaRPr lang="en-US" sz="900" dirty="0"/>
          </a:p>
        </p:txBody>
      </p:sp>
      <p:sp>
        <p:nvSpPr>
          <p:cNvPr id="45" name="Text 42"/>
          <p:cNvSpPr txBox="1"/>
          <p:nvPr/>
        </p:nvSpPr>
        <p:spPr>
          <a:xfrm>
            <a:off x="548640" y="3630168"/>
            <a:ext cx="2148840" cy="329184"/>
          </a:xfrm>
          <a:prstGeom prst="rect">
            <a:avLst/>
          </a:prstGeom>
          <a:noFill/>
          <a:ln/>
        </p:spPr>
        <p:txBody>
          <a:bodyPr wrap="square" lIns="0" tIns="0" rIns="0" bIns="0" rtlCol="0" anchor="ctr"/>
          <a:lstStyle/>
          <a:p>
            <a:pPr indent="0" marL="0">
              <a:buNone/>
            </a:pPr>
            <a:r>
              <a:rPr lang="en-US" sz="1100" dirty="0">
                <a:solidFill>
                  <a:srgbClr val="1B2A41"/>
                </a:solidFill>
              </a:rPr>
              <a:t>Dashboard, Docker, tests</a:t>
            </a:r>
            <a:endParaRPr lang="en-US" sz="1100" dirty="0"/>
          </a:p>
        </p:txBody>
      </p:sp>
      <p:sp>
        <p:nvSpPr>
          <p:cNvPr id="46" name="Shape 43"/>
          <p:cNvSpPr/>
          <p:nvPr/>
        </p:nvSpPr>
        <p:spPr>
          <a:xfrm>
            <a:off x="7874290" y="3703320"/>
            <a:ext cx="351391" cy="182880"/>
          </a:xfrm>
          <a:prstGeom prst="roundRect">
            <a:avLst>
              <a:gd name="adj" fmla="val 50000"/>
            </a:avLst>
          </a:prstGeom>
          <a:solidFill>
            <a:srgbClr val="1B2A41"/>
          </a:solidFill>
          <a:ln w="12700">
            <a:solidFill>
              <a:srgbClr val="1B2A41"/>
            </a:solidFill>
            <a:prstDash val="solid"/>
          </a:ln>
        </p:spPr>
      </p:sp>
      <p:sp>
        <p:nvSpPr>
          <p:cNvPr id="47" name="Shape 44"/>
          <p:cNvSpPr/>
          <p:nvPr/>
        </p:nvSpPr>
        <p:spPr>
          <a:xfrm>
            <a:off x="457200" y="3959352"/>
            <a:ext cx="8229600" cy="329184"/>
          </a:xfrm>
          <a:prstGeom prst="rect">
            <a:avLst/>
          </a:prstGeom>
          <a:solidFill>
            <a:srgbClr val="F2F5F9"/>
          </a:solidFill>
          <a:ln w="12700">
            <a:solidFill>
              <a:srgbClr val="F2F5F9"/>
            </a:solidFill>
            <a:prstDash val="solid"/>
          </a:ln>
        </p:spPr>
      </p:sp>
      <p:sp>
        <p:nvSpPr>
          <p:cNvPr id="48" name="Text 45"/>
          <p:cNvSpPr txBox="1"/>
          <p:nvPr/>
        </p:nvSpPr>
        <p:spPr>
          <a:xfrm>
            <a:off x="548640" y="3959352"/>
            <a:ext cx="2148840" cy="329184"/>
          </a:xfrm>
          <a:prstGeom prst="rect">
            <a:avLst/>
          </a:prstGeom>
          <a:noFill/>
          <a:ln/>
        </p:spPr>
        <p:txBody>
          <a:bodyPr wrap="square" lIns="0" tIns="0" rIns="0" bIns="0" rtlCol="0" anchor="ctr"/>
          <a:lstStyle/>
          <a:p>
            <a:pPr indent="0" marL="0">
              <a:buNone/>
            </a:pPr>
            <a:r>
              <a:rPr lang="en-US" sz="1100" dirty="0">
                <a:solidFill>
                  <a:srgbClr val="1B2A41"/>
                </a:solidFill>
              </a:rPr>
              <a:t>Report &amp; defence</a:t>
            </a:r>
            <a:endParaRPr lang="en-US" sz="1100" dirty="0"/>
          </a:p>
        </p:txBody>
      </p:sp>
      <p:sp>
        <p:nvSpPr>
          <p:cNvPr id="49" name="Shape 46"/>
          <p:cNvSpPr/>
          <p:nvPr/>
        </p:nvSpPr>
        <p:spPr>
          <a:xfrm>
            <a:off x="8298833" y="4032504"/>
            <a:ext cx="351391" cy="182880"/>
          </a:xfrm>
          <a:prstGeom prst="roundRect">
            <a:avLst>
              <a:gd name="adj" fmla="val 50000"/>
            </a:avLst>
          </a:prstGeom>
          <a:solidFill>
            <a:srgbClr val="E76F51"/>
          </a:solidFill>
          <a:ln w="12700">
            <a:solidFill>
              <a:srgbClr val="E76F51"/>
            </a:solidFill>
            <a:prstDash val="solid"/>
          </a:ln>
        </p:spPr>
      </p:sp>
      <p:sp>
        <p:nvSpPr>
          <p:cNvPr id="50" name="Shape 47"/>
          <p:cNvSpPr/>
          <p:nvPr/>
        </p:nvSpPr>
        <p:spPr>
          <a:xfrm>
            <a:off x="2743200" y="4416552"/>
            <a:ext cx="320040" cy="164592"/>
          </a:xfrm>
          <a:prstGeom prst="roundRect">
            <a:avLst>
              <a:gd name="adj" fmla="val 33333"/>
            </a:avLst>
          </a:prstGeom>
          <a:solidFill>
            <a:srgbClr val="2A9D8F"/>
          </a:solidFill>
          <a:ln w="12700">
            <a:solidFill>
              <a:srgbClr val="2A9D8F"/>
            </a:solidFill>
            <a:prstDash val="solid"/>
          </a:ln>
        </p:spPr>
      </p:sp>
      <p:sp>
        <p:nvSpPr>
          <p:cNvPr id="51" name="Text 48"/>
          <p:cNvSpPr txBox="1"/>
          <p:nvPr/>
        </p:nvSpPr>
        <p:spPr>
          <a:xfrm>
            <a:off x="3127248" y="4361688"/>
            <a:ext cx="822960" cy="274320"/>
          </a:xfrm>
          <a:prstGeom prst="rect">
            <a:avLst/>
          </a:prstGeom>
          <a:noFill/>
          <a:ln/>
        </p:spPr>
        <p:txBody>
          <a:bodyPr wrap="square" lIns="0" tIns="0" rIns="0" bIns="0" rtlCol="0" anchor="ctr"/>
          <a:lstStyle/>
          <a:p>
            <a:pPr indent="0" marL="0">
              <a:buNone/>
            </a:pPr>
            <a:r>
              <a:rPr lang="en-US" sz="1000" dirty="0">
                <a:solidFill>
                  <a:srgbClr val="4A5B70"/>
                </a:solidFill>
              </a:rPr>
              <a:t>Done</a:t>
            </a:r>
            <a:endParaRPr lang="en-US" sz="1000" dirty="0"/>
          </a:p>
        </p:txBody>
      </p:sp>
      <p:sp>
        <p:nvSpPr>
          <p:cNvPr id="52" name="Shape 49"/>
          <p:cNvSpPr/>
          <p:nvPr/>
        </p:nvSpPr>
        <p:spPr>
          <a:xfrm>
            <a:off x="4023360" y="4416552"/>
            <a:ext cx="320040" cy="164592"/>
          </a:xfrm>
          <a:prstGeom prst="roundRect">
            <a:avLst>
              <a:gd name="adj" fmla="val 33333"/>
            </a:avLst>
          </a:prstGeom>
          <a:solidFill>
            <a:srgbClr val="1B2A41"/>
          </a:solidFill>
          <a:ln w="12700">
            <a:solidFill>
              <a:srgbClr val="1B2A41"/>
            </a:solidFill>
            <a:prstDash val="solid"/>
          </a:ln>
        </p:spPr>
      </p:sp>
      <p:sp>
        <p:nvSpPr>
          <p:cNvPr id="53" name="Text 50"/>
          <p:cNvSpPr txBox="1"/>
          <p:nvPr/>
        </p:nvSpPr>
        <p:spPr>
          <a:xfrm>
            <a:off x="4407408" y="4361688"/>
            <a:ext cx="822960" cy="274320"/>
          </a:xfrm>
          <a:prstGeom prst="rect">
            <a:avLst/>
          </a:prstGeom>
          <a:noFill/>
          <a:ln/>
        </p:spPr>
        <p:txBody>
          <a:bodyPr wrap="square" lIns="0" tIns="0" rIns="0" bIns="0" rtlCol="0" anchor="ctr"/>
          <a:lstStyle/>
          <a:p>
            <a:pPr indent="0" marL="0">
              <a:buNone/>
            </a:pPr>
            <a:r>
              <a:rPr lang="en-US" sz="1000" dirty="0">
                <a:solidFill>
                  <a:srgbClr val="4A5B70"/>
                </a:solidFill>
              </a:rPr>
              <a:t>Planned</a:t>
            </a:r>
            <a:endParaRPr lang="en-US" sz="1000" dirty="0"/>
          </a:p>
        </p:txBody>
      </p:sp>
      <p:sp>
        <p:nvSpPr>
          <p:cNvPr id="54" name="Shape 51"/>
          <p:cNvSpPr/>
          <p:nvPr/>
        </p:nvSpPr>
        <p:spPr>
          <a:xfrm>
            <a:off x="5303520" y="4416552"/>
            <a:ext cx="320040" cy="164592"/>
          </a:xfrm>
          <a:prstGeom prst="roundRect">
            <a:avLst>
              <a:gd name="adj" fmla="val 33333"/>
            </a:avLst>
          </a:prstGeom>
          <a:solidFill>
            <a:srgbClr val="E76F51"/>
          </a:solidFill>
          <a:ln w="12700">
            <a:solidFill>
              <a:srgbClr val="E76F51"/>
            </a:solidFill>
            <a:prstDash val="solid"/>
          </a:ln>
        </p:spPr>
      </p:sp>
      <p:sp>
        <p:nvSpPr>
          <p:cNvPr id="55" name="Text 52"/>
          <p:cNvSpPr txBox="1"/>
          <p:nvPr/>
        </p:nvSpPr>
        <p:spPr>
          <a:xfrm>
            <a:off x="5687568" y="4361688"/>
            <a:ext cx="822960" cy="274320"/>
          </a:xfrm>
          <a:prstGeom prst="rect">
            <a:avLst/>
          </a:prstGeom>
          <a:noFill/>
          <a:ln/>
        </p:spPr>
        <p:txBody>
          <a:bodyPr wrap="square" lIns="0" tIns="0" rIns="0" bIns="0" rtlCol="0" anchor="ctr"/>
          <a:lstStyle/>
          <a:p>
            <a:pPr indent="0" marL="0">
              <a:buNone/>
            </a:pPr>
            <a:r>
              <a:rPr lang="en-US" sz="1000" dirty="0">
                <a:solidFill>
                  <a:srgbClr val="4A5B70"/>
                </a:solidFill>
              </a:rPr>
              <a:t>Writing</a:t>
            </a:r>
            <a:endParaRPr lang="en-US" sz="1000" dirty="0"/>
          </a:p>
        </p:txBody>
      </p:sp>
      <p:sp>
        <p:nvSpPr>
          <p:cNvPr id="56" name="Shape 53"/>
          <p:cNvSpPr/>
          <p:nvPr/>
        </p:nvSpPr>
        <p:spPr>
          <a:xfrm>
            <a:off x="6583680" y="4407408"/>
            <a:ext cx="182880" cy="182880"/>
          </a:xfrm>
          <a:prstGeom prst="diamond">
            <a:avLst/>
          </a:prstGeom>
          <a:solidFill>
            <a:srgbClr val="F2A900"/>
          </a:solidFill>
          <a:ln w="12700">
            <a:solidFill>
              <a:srgbClr val="F2A900"/>
            </a:solidFill>
            <a:prstDash val="solid"/>
          </a:ln>
        </p:spPr>
      </p:sp>
      <p:sp>
        <p:nvSpPr>
          <p:cNvPr id="57" name="Text 54"/>
          <p:cNvSpPr txBox="1"/>
          <p:nvPr/>
        </p:nvSpPr>
        <p:spPr>
          <a:xfrm>
            <a:off x="6830568" y="4361688"/>
            <a:ext cx="1097280" cy="274320"/>
          </a:xfrm>
          <a:prstGeom prst="rect">
            <a:avLst/>
          </a:prstGeom>
          <a:noFill/>
          <a:ln/>
        </p:spPr>
        <p:txBody>
          <a:bodyPr wrap="square" lIns="0" tIns="0" rIns="0" bIns="0" rtlCol="0" anchor="ctr"/>
          <a:lstStyle/>
          <a:p>
            <a:pPr indent="0" marL="0">
              <a:buNone/>
            </a:pPr>
            <a:r>
              <a:rPr lang="en-US" sz="1000" dirty="0">
                <a:solidFill>
                  <a:srgbClr val="4A5B70"/>
                </a:solidFill>
              </a:rPr>
              <a:t>Checkpoint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411480"/>
            <a:ext cx="8229600" cy="548640"/>
          </a:xfrm>
          <a:prstGeom prst="rect">
            <a:avLst/>
          </a:prstGeom>
          <a:noFill/>
          <a:ln/>
        </p:spPr>
        <p:txBody>
          <a:bodyPr wrap="square" lIns="0" tIns="0" rIns="0" bIns="0" rtlCol="0" anchor="ctr"/>
          <a:lstStyle/>
          <a:p>
            <a:pPr indent="0" marL="0">
              <a:buNone/>
            </a:pPr>
            <a:r>
              <a:rPr lang="en-US" sz="2600" b="1" dirty="0">
                <a:solidFill>
                  <a:srgbClr val="FFFFFF"/>
                </a:solidFill>
              </a:rPr>
              <a:t>Seminar 1 — What We Covered</a:t>
            </a:r>
            <a:endParaRPr lang="en-US" sz="2600" dirty="0"/>
          </a:p>
        </p:txBody>
      </p:sp>
      <p:sp>
        <p:nvSpPr>
          <p:cNvPr id="3" name="Shape 1"/>
          <p:cNvSpPr/>
          <p:nvPr/>
        </p:nvSpPr>
        <p:spPr>
          <a:xfrm>
            <a:off x="457200" y="1188720"/>
            <a:ext cx="2606040" cy="2011680"/>
          </a:xfrm>
          <a:prstGeom prst="roundRect">
            <a:avLst>
              <a:gd name="adj" fmla="val 4545"/>
            </a:avLst>
          </a:prstGeom>
          <a:solidFill>
            <a:srgbClr val="263A57"/>
          </a:solidFill>
          <a:ln w="12700">
            <a:solidFill>
              <a:srgbClr val="263A57"/>
            </a:solidFill>
            <a:prstDash val="solid"/>
          </a:ln>
        </p:spPr>
      </p:sp>
      <p:sp>
        <p:nvSpPr>
          <p:cNvPr id="4" name="Shape 2"/>
          <p:cNvSpPr/>
          <p:nvPr/>
        </p:nvSpPr>
        <p:spPr>
          <a:xfrm>
            <a:off x="685800" y="1371600"/>
            <a:ext cx="502920" cy="502920"/>
          </a:xfrm>
          <a:prstGeom prst="ellipse">
            <a:avLst/>
          </a:prstGeom>
          <a:solidFill>
            <a:srgbClr val="F2A900"/>
          </a:solidFill>
          <a:ln w="12700">
            <a:solidFill>
              <a:srgbClr val="F2A900"/>
            </a:solidFill>
            <a:prstDash val="solid"/>
          </a:ln>
        </p:spPr>
      </p:sp>
      <p:pic>
        <p:nvPicPr>
          <p:cNvPr id="5" name="Image 0" descr="preencoded.png">    </p:cNvPr>
          <p:cNvPicPr>
            <a:picLocks noChangeAspect="1"/>
          </p:cNvPicPr>
          <p:nvPr/>
        </p:nvPicPr>
        <p:blipFill>
          <a:blip r:embed="rId1"/>
          <a:stretch>
            <a:fillRect/>
          </a:stretch>
        </p:blipFill>
        <p:spPr>
          <a:xfrm>
            <a:off x="811530" y="1497330"/>
            <a:ext cx="251460" cy="251460"/>
          </a:xfrm>
          <a:prstGeom prst="rect">
            <a:avLst/>
          </a:prstGeom>
        </p:spPr>
      </p:pic>
      <p:sp>
        <p:nvSpPr>
          <p:cNvPr id="6" name="Text 3"/>
          <p:cNvSpPr txBox="1"/>
          <p:nvPr/>
        </p:nvSpPr>
        <p:spPr>
          <a:xfrm>
            <a:off x="1371600" y="1463040"/>
            <a:ext cx="1463040" cy="320040"/>
          </a:xfrm>
          <a:prstGeom prst="rect">
            <a:avLst/>
          </a:prstGeom>
          <a:noFill/>
          <a:ln/>
        </p:spPr>
        <p:txBody>
          <a:bodyPr wrap="square" lIns="0" tIns="0" rIns="0" bIns="0" rtlCol="0" anchor="ctr"/>
          <a:lstStyle/>
          <a:p>
            <a:pPr indent="0" marL="0">
              <a:buNone/>
            </a:pPr>
            <a:r>
              <a:rPr lang="en-US" sz="1000" b="1" dirty="0">
                <a:solidFill>
                  <a:srgbClr val="8FA3B8"/>
                </a:solidFill>
              </a:rPr>
              <a:t>Slides 3–5</a:t>
            </a:r>
            <a:endParaRPr lang="en-US" sz="1000" dirty="0"/>
          </a:p>
        </p:txBody>
      </p:sp>
      <p:sp>
        <p:nvSpPr>
          <p:cNvPr id="7" name="Text 4"/>
          <p:cNvSpPr txBox="1"/>
          <p:nvPr/>
        </p:nvSpPr>
        <p:spPr>
          <a:xfrm>
            <a:off x="685800" y="1984248"/>
            <a:ext cx="2194560" cy="365760"/>
          </a:xfrm>
          <a:prstGeom prst="rect">
            <a:avLst/>
          </a:prstGeom>
          <a:noFill/>
          <a:ln/>
        </p:spPr>
        <p:txBody>
          <a:bodyPr wrap="square" lIns="0" tIns="0" rIns="0" bIns="0" rtlCol="0" anchor="ctr"/>
          <a:lstStyle/>
          <a:p>
            <a:pPr indent="0" marL="0">
              <a:buNone/>
            </a:pPr>
            <a:r>
              <a:rPr lang="en-US" sz="1500" b="1" dirty="0">
                <a:solidFill>
                  <a:srgbClr val="F2A900"/>
                </a:solidFill>
              </a:rPr>
              <a:t>Framing Pack</a:t>
            </a:r>
            <a:endParaRPr lang="en-US" sz="1500" dirty="0"/>
          </a:p>
        </p:txBody>
      </p:sp>
      <p:sp>
        <p:nvSpPr>
          <p:cNvPr id="8" name="Text 5"/>
          <p:cNvSpPr txBox="1"/>
          <p:nvPr/>
        </p:nvSpPr>
        <p:spPr>
          <a:xfrm>
            <a:off x="685800" y="2350008"/>
            <a:ext cx="2194560" cy="777240"/>
          </a:xfrm>
          <a:prstGeom prst="rect">
            <a:avLst/>
          </a:prstGeom>
          <a:noFill/>
          <a:ln/>
        </p:spPr>
        <p:txBody>
          <a:bodyPr wrap="square" lIns="0" tIns="0" rIns="0" bIns="0" rtlCol="0" anchor="t"/>
          <a:lstStyle/>
          <a:p>
            <a:pPr indent="0" marL="0">
              <a:buNone/>
            </a:pPr>
            <a:r>
              <a:rPr lang="en-US" sz="1100" dirty="0">
                <a:solidFill>
                  <a:srgbClr val="FFFFFF"/>
                </a:solidFill>
              </a:rPr>
              <a:t>Problem, RQs, approach, baseline model and success thresholds</a:t>
            </a:r>
            <a:endParaRPr lang="en-US" sz="1100" dirty="0"/>
          </a:p>
        </p:txBody>
      </p:sp>
      <p:sp>
        <p:nvSpPr>
          <p:cNvPr id="9" name="Shape 6"/>
          <p:cNvSpPr/>
          <p:nvPr/>
        </p:nvSpPr>
        <p:spPr>
          <a:xfrm>
            <a:off x="3246120" y="1188720"/>
            <a:ext cx="2606040" cy="2011680"/>
          </a:xfrm>
          <a:prstGeom prst="roundRect">
            <a:avLst>
              <a:gd name="adj" fmla="val 4545"/>
            </a:avLst>
          </a:prstGeom>
          <a:solidFill>
            <a:srgbClr val="263A57"/>
          </a:solidFill>
          <a:ln w="12700">
            <a:solidFill>
              <a:srgbClr val="263A57"/>
            </a:solidFill>
            <a:prstDash val="solid"/>
          </a:ln>
        </p:spPr>
      </p:sp>
      <p:sp>
        <p:nvSpPr>
          <p:cNvPr id="10" name="Shape 7"/>
          <p:cNvSpPr/>
          <p:nvPr/>
        </p:nvSpPr>
        <p:spPr>
          <a:xfrm>
            <a:off x="3474720" y="1371600"/>
            <a:ext cx="502920" cy="502920"/>
          </a:xfrm>
          <a:prstGeom prst="ellipse">
            <a:avLst/>
          </a:prstGeom>
          <a:solidFill>
            <a:srgbClr val="F2A900"/>
          </a:solidFill>
          <a:ln w="12700">
            <a:solidFill>
              <a:srgbClr val="F2A900"/>
            </a:solidFill>
            <a:prstDash val="solid"/>
          </a:ln>
        </p:spPr>
      </p:sp>
      <p:pic>
        <p:nvPicPr>
          <p:cNvPr id="11" name="Image 1" descr="preencoded.png">    </p:cNvPr>
          <p:cNvPicPr>
            <a:picLocks noChangeAspect="1"/>
          </p:cNvPicPr>
          <p:nvPr/>
        </p:nvPicPr>
        <p:blipFill>
          <a:blip r:embed="rId2"/>
          <a:stretch>
            <a:fillRect/>
          </a:stretch>
        </p:blipFill>
        <p:spPr>
          <a:xfrm>
            <a:off x="3600450" y="1497330"/>
            <a:ext cx="251460" cy="251460"/>
          </a:xfrm>
          <a:prstGeom prst="rect">
            <a:avLst/>
          </a:prstGeom>
        </p:spPr>
      </p:pic>
      <p:sp>
        <p:nvSpPr>
          <p:cNvPr id="12" name="Text 8"/>
          <p:cNvSpPr txBox="1"/>
          <p:nvPr/>
        </p:nvSpPr>
        <p:spPr>
          <a:xfrm>
            <a:off x="4160520" y="1463040"/>
            <a:ext cx="1463040" cy="320040"/>
          </a:xfrm>
          <a:prstGeom prst="rect">
            <a:avLst/>
          </a:prstGeom>
          <a:noFill/>
          <a:ln/>
        </p:spPr>
        <p:txBody>
          <a:bodyPr wrap="square" lIns="0" tIns="0" rIns="0" bIns="0" rtlCol="0" anchor="ctr"/>
          <a:lstStyle/>
          <a:p>
            <a:pPr indent="0" marL="0">
              <a:buNone/>
            </a:pPr>
            <a:r>
              <a:rPr lang="en-US" sz="1000" b="1" dirty="0">
                <a:solidFill>
                  <a:srgbClr val="8FA3B8"/>
                </a:solidFill>
              </a:rPr>
              <a:t>Slides 6–8</a:t>
            </a:r>
            <a:endParaRPr lang="en-US" sz="1000" dirty="0"/>
          </a:p>
        </p:txBody>
      </p:sp>
      <p:sp>
        <p:nvSpPr>
          <p:cNvPr id="13" name="Text 9"/>
          <p:cNvSpPr txBox="1"/>
          <p:nvPr/>
        </p:nvSpPr>
        <p:spPr>
          <a:xfrm>
            <a:off x="3474720" y="1984248"/>
            <a:ext cx="2194560" cy="365760"/>
          </a:xfrm>
          <a:prstGeom prst="rect">
            <a:avLst/>
          </a:prstGeom>
          <a:noFill/>
          <a:ln/>
        </p:spPr>
        <p:txBody>
          <a:bodyPr wrap="square" lIns="0" tIns="0" rIns="0" bIns="0" rtlCol="0" anchor="ctr"/>
          <a:lstStyle/>
          <a:p>
            <a:pPr indent="0" marL="0">
              <a:buNone/>
            </a:pPr>
            <a:r>
              <a:rPr lang="en-US" sz="1500" b="1" dirty="0">
                <a:solidFill>
                  <a:srgbClr val="F2A900"/>
                </a:solidFill>
              </a:rPr>
              <a:t>Literature Pack</a:t>
            </a:r>
            <a:endParaRPr lang="en-US" sz="1500" dirty="0"/>
          </a:p>
        </p:txBody>
      </p:sp>
      <p:sp>
        <p:nvSpPr>
          <p:cNvPr id="14" name="Text 10"/>
          <p:cNvSpPr txBox="1"/>
          <p:nvPr/>
        </p:nvSpPr>
        <p:spPr>
          <a:xfrm>
            <a:off x="3474720" y="2350008"/>
            <a:ext cx="2194560" cy="777240"/>
          </a:xfrm>
          <a:prstGeom prst="rect">
            <a:avLst/>
          </a:prstGeom>
          <a:noFill/>
          <a:ln/>
        </p:spPr>
        <p:txBody>
          <a:bodyPr wrap="square" lIns="0" tIns="0" rIns="0" bIns="0" rtlCol="0" anchor="t"/>
          <a:lstStyle/>
          <a:p>
            <a:pPr indent="0" marL="0">
              <a:buNone/>
            </a:pPr>
            <a:r>
              <a:rPr lang="en-US" sz="1100" dirty="0">
                <a:solidFill>
                  <a:srgbClr val="FFFFFF"/>
                </a:solidFill>
              </a:rPr>
              <a:t>Coverage matrix, comparison table, related work draft, research gap</a:t>
            </a:r>
            <a:endParaRPr lang="en-US" sz="1100" dirty="0"/>
          </a:p>
        </p:txBody>
      </p:sp>
      <p:sp>
        <p:nvSpPr>
          <p:cNvPr id="15" name="Shape 11"/>
          <p:cNvSpPr/>
          <p:nvPr/>
        </p:nvSpPr>
        <p:spPr>
          <a:xfrm>
            <a:off x="6035040" y="1188720"/>
            <a:ext cx="2606040" cy="2011680"/>
          </a:xfrm>
          <a:prstGeom prst="roundRect">
            <a:avLst>
              <a:gd name="adj" fmla="val 4545"/>
            </a:avLst>
          </a:prstGeom>
          <a:solidFill>
            <a:srgbClr val="263A57"/>
          </a:solidFill>
          <a:ln w="12700">
            <a:solidFill>
              <a:srgbClr val="263A57"/>
            </a:solidFill>
            <a:prstDash val="solid"/>
          </a:ln>
        </p:spPr>
      </p:sp>
      <p:sp>
        <p:nvSpPr>
          <p:cNvPr id="16" name="Shape 12"/>
          <p:cNvSpPr/>
          <p:nvPr/>
        </p:nvSpPr>
        <p:spPr>
          <a:xfrm>
            <a:off x="6263640" y="1371600"/>
            <a:ext cx="502920" cy="502920"/>
          </a:xfrm>
          <a:prstGeom prst="ellipse">
            <a:avLst/>
          </a:prstGeom>
          <a:solidFill>
            <a:srgbClr val="F2A900"/>
          </a:solidFill>
          <a:ln w="12700">
            <a:solidFill>
              <a:srgbClr val="F2A900"/>
            </a:solidFill>
            <a:prstDash val="solid"/>
          </a:ln>
        </p:spPr>
      </p:sp>
      <p:pic>
        <p:nvPicPr>
          <p:cNvPr id="17" name="Image 2" descr="preencoded.png">    </p:cNvPr>
          <p:cNvPicPr>
            <a:picLocks noChangeAspect="1"/>
          </p:cNvPicPr>
          <p:nvPr/>
        </p:nvPicPr>
        <p:blipFill>
          <a:blip r:embed="rId3"/>
          <a:stretch>
            <a:fillRect/>
          </a:stretch>
        </p:blipFill>
        <p:spPr>
          <a:xfrm>
            <a:off x="6389370" y="1497330"/>
            <a:ext cx="251460" cy="251460"/>
          </a:xfrm>
          <a:prstGeom prst="rect">
            <a:avLst/>
          </a:prstGeom>
        </p:spPr>
      </p:pic>
      <p:sp>
        <p:nvSpPr>
          <p:cNvPr id="18" name="Text 13"/>
          <p:cNvSpPr txBox="1"/>
          <p:nvPr/>
        </p:nvSpPr>
        <p:spPr>
          <a:xfrm>
            <a:off x="6949440" y="1463040"/>
            <a:ext cx="1463040" cy="320040"/>
          </a:xfrm>
          <a:prstGeom prst="rect">
            <a:avLst/>
          </a:prstGeom>
          <a:noFill/>
          <a:ln/>
        </p:spPr>
        <p:txBody>
          <a:bodyPr wrap="square" lIns="0" tIns="0" rIns="0" bIns="0" rtlCol="0" anchor="ctr"/>
          <a:lstStyle/>
          <a:p>
            <a:pPr indent="0" marL="0">
              <a:buNone/>
            </a:pPr>
            <a:r>
              <a:rPr lang="en-US" sz="1000" b="1" dirty="0">
                <a:solidFill>
                  <a:srgbClr val="8FA3B8"/>
                </a:solidFill>
              </a:rPr>
              <a:t>Slides 9–10</a:t>
            </a:r>
            <a:endParaRPr lang="en-US" sz="1000" dirty="0"/>
          </a:p>
        </p:txBody>
      </p:sp>
      <p:sp>
        <p:nvSpPr>
          <p:cNvPr id="19" name="Text 14"/>
          <p:cNvSpPr txBox="1"/>
          <p:nvPr/>
        </p:nvSpPr>
        <p:spPr>
          <a:xfrm>
            <a:off x="6263640" y="1984248"/>
            <a:ext cx="2194560" cy="365760"/>
          </a:xfrm>
          <a:prstGeom prst="rect">
            <a:avLst/>
          </a:prstGeom>
          <a:noFill/>
          <a:ln/>
        </p:spPr>
        <p:txBody>
          <a:bodyPr wrap="square" lIns="0" tIns="0" rIns="0" bIns="0" rtlCol="0" anchor="ctr"/>
          <a:lstStyle/>
          <a:p>
            <a:pPr indent="0" marL="0">
              <a:buNone/>
            </a:pPr>
            <a:r>
              <a:rPr lang="en-US" sz="1500" b="1" dirty="0">
                <a:solidFill>
                  <a:srgbClr val="F2A900"/>
                </a:solidFill>
              </a:rPr>
              <a:t>Dataset &amp; EDA</a:t>
            </a:r>
            <a:endParaRPr lang="en-US" sz="1500" dirty="0"/>
          </a:p>
        </p:txBody>
      </p:sp>
      <p:sp>
        <p:nvSpPr>
          <p:cNvPr id="20" name="Text 15"/>
          <p:cNvSpPr txBox="1"/>
          <p:nvPr/>
        </p:nvSpPr>
        <p:spPr>
          <a:xfrm>
            <a:off x="6263640" y="2350008"/>
            <a:ext cx="2194560" cy="777240"/>
          </a:xfrm>
          <a:prstGeom prst="rect">
            <a:avLst/>
          </a:prstGeom>
          <a:noFill/>
          <a:ln/>
        </p:spPr>
        <p:txBody>
          <a:bodyPr wrap="square" lIns="0" tIns="0" rIns="0" bIns="0" rtlCol="0" anchor="t"/>
          <a:lstStyle/>
          <a:p>
            <a:pPr indent="0" marL="0">
              <a:buNone/>
            </a:pPr>
            <a:r>
              <a:rPr lang="en-US" sz="1100" dirty="0">
                <a:solidFill>
                  <a:srgbClr val="FFFFFF"/>
                </a:solidFill>
              </a:rPr>
              <a:t>ACCIDENT description, quality checks and class balance</a:t>
            </a:r>
            <a:endParaRPr lang="en-US" sz="1100" dirty="0"/>
          </a:p>
        </p:txBody>
      </p:sp>
      <p:sp>
        <p:nvSpPr>
          <p:cNvPr id="21" name="Text 16"/>
          <p:cNvSpPr txBox="1"/>
          <p:nvPr/>
        </p:nvSpPr>
        <p:spPr>
          <a:xfrm>
            <a:off x="457200" y="3520440"/>
            <a:ext cx="8229600" cy="640080"/>
          </a:xfrm>
          <a:prstGeom prst="rect">
            <a:avLst/>
          </a:prstGeom>
          <a:noFill/>
          <a:ln/>
        </p:spPr>
        <p:txBody>
          <a:bodyPr wrap="square" lIns="0" tIns="0" rIns="0" bIns="0" rtlCol="0" anchor="ctr"/>
          <a:lstStyle/>
          <a:p>
            <a:pPr algn="ctr" indent="0" marL="0">
              <a:buNone/>
            </a:pPr>
            <a:r>
              <a:rPr lang="en-US" sz="3600" b="1" dirty="0">
                <a:solidFill>
                  <a:srgbClr val="F2A900"/>
                </a:solidFill>
              </a:rPr>
              <a:t>Thank you</a:t>
            </a:r>
            <a:endParaRPr lang="en-US" sz="3600" dirty="0"/>
          </a:p>
        </p:txBody>
      </p:sp>
      <p:sp>
        <p:nvSpPr>
          <p:cNvPr id="22" name="Text 17"/>
          <p:cNvSpPr txBox="1"/>
          <p:nvPr/>
        </p:nvSpPr>
        <p:spPr>
          <a:xfrm>
            <a:off x="457200" y="4160520"/>
            <a:ext cx="8229600" cy="320040"/>
          </a:xfrm>
          <a:prstGeom prst="rect">
            <a:avLst/>
          </a:prstGeom>
          <a:noFill/>
          <a:ln/>
        </p:spPr>
        <p:txBody>
          <a:bodyPr wrap="square" lIns="0" tIns="0" rIns="0" bIns="0" rtlCol="0" anchor="ctr"/>
          <a:lstStyle/>
          <a:p>
            <a:pPr algn="ctr" indent="0" marL="0">
              <a:buNone/>
            </a:pPr>
            <a:r>
              <a:rPr lang="en-US" sz="1400" i="1" dirty="0">
                <a:solidFill>
                  <a:srgbClr val="DDE4EC"/>
                </a:solidFill>
              </a:rPr>
              <a:t>Questions &amp; feedback are welcome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3B8"/>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ITS Calm">
  <a:themeElements>
    <a:clrScheme name="ITS Calm">
      <a:dk1>
        <a:srgbClr val="1B2A41"/>
      </a:dk1>
      <a:lt1>
        <a:srgbClr val="FFFFFF"/>
      </a:lt1>
      <a:dk2>
        <a:srgbClr val="4A5B70"/>
      </a:dk2>
      <a:lt2>
        <a:srgbClr val="F2F5F9"/>
      </a:lt2>
      <a:accent1>
        <a:srgbClr val="F2A900"/>
      </a:accent1>
      <a:accent2>
        <a:srgbClr val="2A9D8F"/>
      </a:accent2>
      <a:accent3>
        <a:srgbClr val="E76F51"/>
      </a:accent3>
      <a:accent4>
        <a:srgbClr val="1B2A41"/>
      </a:accent4>
      <a:accent5>
        <a:srgbClr val="8FA3B8"/>
      </a:accent5>
      <a:accent6>
        <a:srgbClr val="DDE4EC"/>
      </a:accent6>
      <a:hlink>
        <a:srgbClr val="2A9D8F"/>
      </a:hlink>
      <a:folHlink>
        <a:srgbClr val="4A5B70"/>
      </a:folHlink>
    </a:clrScheme>
    <a:fontScheme name="ITS Calm">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ITS — Intelligent Transportation System</dc:title>
  <dc:subject>PptxGenJS Presentation</dc:subject>
  <dc:creator>Khawla Al-Shaikh, Judy Dukmak</dc:creator>
  <cp:lastModifiedBy>Khawla Al-Shaikh, Judy Dukmak</cp:lastModifiedBy>
  <cp:revision>1</cp:revision>
  <dcterms:created xsi:type="dcterms:W3CDTF">2026-10-27T10:51:18Z</dcterms:created>
  <dcterms:modified xsi:type="dcterms:W3CDTF">2026-10-27T10:51:18Z</dcterms:modified>
</cp:coreProperties>
</file>